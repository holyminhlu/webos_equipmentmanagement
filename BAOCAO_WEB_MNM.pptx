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Garet Bold" charset="1" panose="00000000000000000000"/>
      <p:regular r:id="rId29"/>
    </p:embeddedFont>
    <p:embeddedFont>
      <p:font typeface="Garet" charset="1" panose="00000000000000000000"/>
      <p:regular r:id="rId30"/>
    </p:embeddedFont>
    <p:embeddedFont>
      <p:font typeface="Roboto Bold" charset="1" panose="02000000000000000000"/>
      <p:regular r:id="rId31"/>
    </p:embeddedFont>
    <p:embeddedFont>
      <p:font typeface="Roboto Italics" charset="1" panose="02000000000000000000"/>
      <p:regular r:id="rId32"/>
    </p:embeddedFont>
    <p:embeddedFont>
      <p:font typeface="Roboto Bold Italics" charset="1" panose="02000000000000000000"/>
      <p:regular r:id="rId33"/>
    </p:embeddedFont>
    <p:embeddedFont>
      <p:font typeface="Arimo Bold" charset="1" panose="020B0704020202020204"/>
      <p:regular r:id="rId34"/>
    </p:embeddedFont>
    <p:embeddedFont>
      <p:font typeface="Arimo" charset="1" panose="020B0604020202020204"/>
      <p:regular r:id="rId35"/>
    </p:embeddedFont>
    <p:embeddedFont>
      <p:font typeface="Open Sans 1" charset="1" panose="00000000000000000000"/>
      <p:regular r:id="rId36"/>
    </p:embeddedFont>
    <p:embeddedFont>
      <p:font typeface="Montserrat Bold" charset="1" panose="00000800000000000000"/>
      <p:regular r:id="rId37"/>
    </p:embeddedFont>
    <p:embeddedFont>
      <p:font typeface="Poppins" charset="1" panose="00000500000000000000"/>
      <p:regular r:id="rId38"/>
    </p:embeddedFont>
    <p:embeddedFont>
      <p:font typeface="Body Grotesque Bold" charset="1" panose="02000503040000020004"/>
      <p:regular r:id="rId39"/>
    </p:embeddedFont>
    <p:embeddedFont>
      <p:font typeface="Open Sans 1 Bold" charset="1" panose="00000000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12" Target="../media/image20.png" Type="http://schemas.openxmlformats.org/officeDocument/2006/relationships/image"/><Relationship Id="rId13" Target="../media/image21.png" Type="http://schemas.openxmlformats.org/officeDocument/2006/relationships/image"/><Relationship Id="rId14" Target="../media/image22.png" Type="http://schemas.openxmlformats.org/officeDocument/2006/relationships/image"/><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media/image3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3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7.png" Type="http://schemas.openxmlformats.org/officeDocument/2006/relationships/image"/><Relationship Id="rId4" Target="../media/image4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9.png" Type="http://schemas.openxmlformats.org/officeDocument/2006/relationships/image"/><Relationship Id="rId4" Target="../media/image50.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51.png" Type="http://schemas.openxmlformats.org/officeDocument/2006/relationships/image"/><Relationship Id="rId4" Target="../media/image5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7.png" Type="http://schemas.openxmlformats.org/officeDocument/2006/relationships/image"/><Relationship Id="rId4" Target="../media/image53.jpeg" Type="http://schemas.openxmlformats.org/officeDocument/2006/relationships/image"/><Relationship Id="rId5" Target="../media/image54.png" Type="http://schemas.openxmlformats.org/officeDocument/2006/relationships/image"/><Relationship Id="rId6" Target="../media/image51.png" Type="http://schemas.openxmlformats.org/officeDocument/2006/relationships/image"/><Relationship Id="rId7" Target="../media/image4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64.png" Type="http://schemas.openxmlformats.org/officeDocument/2006/relationships/image"/><Relationship Id="rId13" Target="../media/image65.svg" Type="http://schemas.openxmlformats.org/officeDocument/2006/relationships/image"/><Relationship Id="rId2" Target="../media/image10.png" Type="http://schemas.openxmlformats.org/officeDocument/2006/relationships/image"/><Relationship Id="rId3" Target="../media/image55.png" Type="http://schemas.openxmlformats.org/officeDocument/2006/relationships/image"/><Relationship Id="rId4" Target="../media/image56.svg" Type="http://schemas.openxmlformats.org/officeDocument/2006/relationships/image"/><Relationship Id="rId5" Target="../media/image57.png" Type="http://schemas.openxmlformats.org/officeDocument/2006/relationships/image"/><Relationship Id="rId6" Target="../media/image58.svg" Type="http://schemas.openxmlformats.org/officeDocument/2006/relationships/image"/><Relationship Id="rId7" Target="../media/image59.png" Type="http://schemas.openxmlformats.org/officeDocument/2006/relationships/image"/><Relationship Id="rId8" Target="../media/image60.svg" Type="http://schemas.openxmlformats.org/officeDocument/2006/relationships/image"/><Relationship Id="rId9" Target="../media/image6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30346" y="7781663"/>
            <a:ext cx="6925400" cy="2232354"/>
          </a:xfrm>
          <a:prstGeom prst="rect">
            <a:avLst/>
          </a:prstGeom>
        </p:spPr>
        <p:txBody>
          <a:bodyPr anchor="t" rtlCol="false" tIns="0" lIns="0" bIns="0" rIns="0">
            <a:spAutoFit/>
          </a:bodyPr>
          <a:lstStyle/>
          <a:p>
            <a:pPr algn="l">
              <a:lnSpc>
                <a:spcPts val="4640"/>
              </a:lnSpc>
            </a:pPr>
            <a:r>
              <a:rPr lang="en-US" sz="2936" spc="146" b="true">
                <a:solidFill>
                  <a:srgbClr val="000000"/>
                </a:solidFill>
                <a:latin typeface="Garet Bold"/>
                <a:ea typeface="Garet Bold"/>
                <a:cs typeface="Garet Bold"/>
                <a:sym typeface="Garet Bold"/>
              </a:rPr>
              <a:t>Thành viên thực hiện:</a:t>
            </a:r>
          </a:p>
          <a:p>
            <a:pPr algn="l">
              <a:lnSpc>
                <a:spcPts val="4485"/>
              </a:lnSpc>
            </a:pPr>
            <a:r>
              <a:rPr lang="en-US" sz="2839" spc="141">
                <a:solidFill>
                  <a:srgbClr val="000000"/>
                </a:solidFill>
                <a:latin typeface="Garet"/>
                <a:ea typeface="Garet"/>
                <a:cs typeface="Garet"/>
                <a:sym typeface="Garet"/>
              </a:rPr>
              <a:t>1. Hồ Lý Minh Lữ - 110122231</a:t>
            </a:r>
          </a:p>
          <a:p>
            <a:pPr algn="l">
              <a:lnSpc>
                <a:spcPts val="4485"/>
              </a:lnSpc>
            </a:pPr>
            <a:r>
              <a:rPr lang="en-US" sz="2839" spc="141">
                <a:solidFill>
                  <a:srgbClr val="000000"/>
                </a:solidFill>
                <a:latin typeface="Garet"/>
                <a:ea typeface="Garet"/>
                <a:cs typeface="Garet"/>
                <a:sym typeface="Garet"/>
              </a:rPr>
              <a:t>2</a:t>
            </a:r>
            <a:r>
              <a:rPr lang="en-US" sz="2839" spc="141">
                <a:solidFill>
                  <a:srgbClr val="000000"/>
                </a:solidFill>
                <a:latin typeface="Garet"/>
                <a:ea typeface="Garet"/>
                <a:cs typeface="Garet"/>
                <a:sym typeface="Garet"/>
              </a:rPr>
              <a:t>.Nguyễn Hữu Luân - 110122108</a:t>
            </a:r>
          </a:p>
          <a:p>
            <a:pPr algn="l">
              <a:lnSpc>
                <a:spcPts val="4485"/>
              </a:lnSpc>
            </a:pPr>
            <a:r>
              <a:rPr lang="en-US" sz="2839" spc="141">
                <a:solidFill>
                  <a:srgbClr val="000000"/>
                </a:solidFill>
                <a:latin typeface="Garet"/>
                <a:ea typeface="Garet"/>
                <a:cs typeface="Garet"/>
                <a:sym typeface="Garet"/>
              </a:rPr>
              <a:t>3. Trần Trung Phúc - 110122142</a:t>
            </a:r>
          </a:p>
        </p:txBody>
      </p:sp>
      <p:sp>
        <p:nvSpPr>
          <p:cNvPr name="TextBox 3" id="3"/>
          <p:cNvSpPr txBox="true"/>
          <p:nvPr/>
        </p:nvSpPr>
        <p:spPr>
          <a:xfrm rot="0">
            <a:off x="3741177" y="2615275"/>
            <a:ext cx="10805645" cy="1530859"/>
          </a:xfrm>
          <a:prstGeom prst="rect">
            <a:avLst/>
          </a:prstGeom>
        </p:spPr>
        <p:txBody>
          <a:bodyPr anchor="t" rtlCol="false" tIns="0" lIns="0" bIns="0" rIns="0">
            <a:spAutoFit/>
          </a:bodyPr>
          <a:lstStyle/>
          <a:p>
            <a:pPr algn="ctr">
              <a:lnSpc>
                <a:spcPts val="7919"/>
              </a:lnSpc>
            </a:pPr>
            <a:r>
              <a:rPr lang="en-US" b="true" sz="5999" spc="575">
                <a:solidFill>
                  <a:srgbClr val="FF0000"/>
                </a:solidFill>
                <a:latin typeface="Roboto Bold"/>
                <a:ea typeface="Roboto Bold"/>
                <a:cs typeface="Roboto Bold"/>
                <a:sym typeface="Roboto Bold"/>
              </a:rPr>
              <a:t>BÁO CÁO KẾT THÚC MÔN</a:t>
            </a:r>
          </a:p>
          <a:p>
            <a:pPr algn="ctr">
              <a:lnSpc>
                <a:spcPts val="4091"/>
              </a:lnSpc>
            </a:pPr>
            <a:r>
              <a:rPr lang="en-US" sz="3099" i="true" spc="176">
                <a:solidFill>
                  <a:srgbClr val="000000"/>
                </a:solidFill>
                <a:latin typeface="Roboto Italics"/>
                <a:ea typeface="Roboto Italics"/>
                <a:cs typeface="Roboto Italics"/>
                <a:sym typeface="Roboto Italics"/>
              </a:rPr>
              <a:t>PHÁT TRIỂN ỨNG DỤNG WEB VỚI MÃ NGUỒN MỞ</a:t>
            </a:r>
            <a:r>
              <a:rPr lang="en-US" b="true" sz="3099" i="true" spc="176">
                <a:solidFill>
                  <a:srgbClr val="FF0000"/>
                </a:solidFill>
                <a:latin typeface="Roboto Bold Italics"/>
                <a:ea typeface="Roboto Bold Italics"/>
                <a:cs typeface="Roboto Bold Italics"/>
                <a:sym typeface="Roboto Bold Italics"/>
              </a:rPr>
              <a:t> </a:t>
            </a:r>
          </a:p>
        </p:txBody>
      </p:sp>
      <p:sp>
        <p:nvSpPr>
          <p:cNvPr name="TextBox 4" id="4"/>
          <p:cNvSpPr txBox="true"/>
          <p:nvPr/>
        </p:nvSpPr>
        <p:spPr>
          <a:xfrm rot="0">
            <a:off x="190208" y="4445860"/>
            <a:ext cx="17907583" cy="1872615"/>
          </a:xfrm>
          <a:prstGeom prst="rect">
            <a:avLst/>
          </a:prstGeom>
        </p:spPr>
        <p:txBody>
          <a:bodyPr anchor="t" rtlCol="false" tIns="0" lIns="0" bIns="0" rIns="0">
            <a:spAutoFit/>
          </a:bodyPr>
          <a:lstStyle/>
          <a:p>
            <a:pPr algn="ctr">
              <a:lnSpc>
                <a:spcPts val="7559"/>
              </a:lnSpc>
            </a:pPr>
            <a:r>
              <a:rPr lang="en-US" b="true" sz="5400" spc="340">
                <a:solidFill>
                  <a:srgbClr val="0000D3"/>
                </a:solidFill>
                <a:latin typeface="Roboto Bold"/>
                <a:ea typeface="Roboto Bold"/>
                <a:cs typeface="Roboto Bold"/>
                <a:sym typeface="Roboto Bold"/>
              </a:rPr>
              <a:t>ĐỀ TÀI: </a:t>
            </a:r>
            <a:r>
              <a:rPr lang="en-US" b="true" sz="5400" spc="340">
                <a:solidFill>
                  <a:srgbClr val="0000D3"/>
                </a:solidFill>
                <a:latin typeface="Roboto Bold"/>
                <a:ea typeface="Roboto Bold"/>
                <a:cs typeface="Roboto Bold"/>
                <a:sym typeface="Roboto Bold"/>
              </a:rPr>
              <a:t>XÂY DỰNG HỆ THỐNG MƯỢN TRẢ THIẾT BỊ </a:t>
            </a:r>
          </a:p>
          <a:p>
            <a:pPr algn="ctr">
              <a:lnSpc>
                <a:spcPts val="7559"/>
              </a:lnSpc>
            </a:pPr>
            <a:r>
              <a:rPr lang="en-US" b="true" sz="5400" spc="340">
                <a:solidFill>
                  <a:srgbClr val="0000D3"/>
                </a:solidFill>
                <a:latin typeface="Roboto Bold"/>
                <a:ea typeface="Roboto Bold"/>
                <a:cs typeface="Roboto Bold"/>
                <a:sym typeface="Roboto Bold"/>
              </a:rPr>
              <a:t>GIẢNG DẠY TẠI TRƯỜNG ĐẠI HỌC TRÀ VINH</a:t>
            </a:r>
          </a:p>
        </p:txBody>
      </p:sp>
      <p:sp>
        <p:nvSpPr>
          <p:cNvPr name="TextBox 5" id="5"/>
          <p:cNvSpPr txBox="true"/>
          <p:nvPr/>
        </p:nvSpPr>
        <p:spPr>
          <a:xfrm rot="0">
            <a:off x="508535" y="7174668"/>
            <a:ext cx="9499100" cy="438150"/>
          </a:xfrm>
          <a:prstGeom prst="rect">
            <a:avLst/>
          </a:prstGeom>
        </p:spPr>
        <p:txBody>
          <a:bodyPr anchor="t" rtlCol="false" tIns="0" lIns="0" bIns="0" rIns="0">
            <a:spAutoFit/>
          </a:bodyPr>
          <a:lstStyle/>
          <a:p>
            <a:pPr algn="ctr">
              <a:lnSpc>
                <a:spcPts val="3599"/>
              </a:lnSpc>
              <a:spcBef>
                <a:spcPct val="0"/>
              </a:spcBef>
            </a:pPr>
            <a:r>
              <a:rPr lang="en-US" b="true" sz="2999" spc="83">
                <a:solidFill>
                  <a:srgbClr val="000000"/>
                </a:solidFill>
                <a:latin typeface="Garet Bold"/>
                <a:ea typeface="Garet Bold"/>
                <a:cs typeface="Garet Bold"/>
                <a:sym typeface="Garet Bold"/>
              </a:rPr>
              <a:t>Giảng viên</a:t>
            </a:r>
            <a:r>
              <a:rPr lang="en-US" b="true" sz="2999" spc="83">
                <a:solidFill>
                  <a:srgbClr val="000000"/>
                </a:solidFill>
                <a:latin typeface="Garet Bold"/>
                <a:ea typeface="Garet Bold"/>
                <a:cs typeface="Garet Bold"/>
                <a:sym typeface="Garet Bold"/>
              </a:rPr>
              <a:t> hướng dẫn: </a:t>
            </a:r>
            <a:r>
              <a:rPr lang="en-US" sz="2999" spc="83">
                <a:solidFill>
                  <a:srgbClr val="000000"/>
                </a:solidFill>
                <a:latin typeface="Garet"/>
                <a:ea typeface="Garet"/>
                <a:cs typeface="Garet"/>
                <a:sym typeface="Garet"/>
              </a:rPr>
              <a:t>Th.S Phạm Thị Trúc Mai</a:t>
            </a:r>
          </a:p>
        </p:txBody>
      </p:sp>
      <p:sp>
        <p:nvSpPr>
          <p:cNvPr name="Freeform 6" id="6"/>
          <p:cNvSpPr/>
          <p:nvPr/>
        </p:nvSpPr>
        <p:spPr>
          <a:xfrm flipH="false" flipV="false" rot="0">
            <a:off x="5794227" y="763200"/>
            <a:ext cx="8426815" cy="1348614"/>
          </a:xfrm>
          <a:custGeom>
            <a:avLst/>
            <a:gdLst/>
            <a:ahLst/>
            <a:cxnLst/>
            <a:rect r="r" b="b" t="t" l="l"/>
            <a:pathLst>
              <a:path h="1348614" w="8426815">
                <a:moveTo>
                  <a:pt x="0" y="0"/>
                </a:moveTo>
                <a:lnTo>
                  <a:pt x="8426815" y="0"/>
                </a:lnTo>
                <a:lnTo>
                  <a:pt x="8426815" y="1348614"/>
                </a:lnTo>
                <a:lnTo>
                  <a:pt x="0" y="1348614"/>
                </a:lnTo>
                <a:lnTo>
                  <a:pt x="0" y="0"/>
                </a:lnTo>
                <a:close/>
              </a:path>
            </a:pathLst>
          </a:custGeom>
          <a:blipFill>
            <a:blip r:embed="rId2"/>
            <a:stretch>
              <a:fillRect l="-27313" t="-10443" r="-23310" b="-49162"/>
            </a:stretch>
          </a:blipFill>
        </p:spPr>
      </p:sp>
      <p:sp>
        <p:nvSpPr>
          <p:cNvPr name="Freeform 7" id="7"/>
          <p:cNvSpPr/>
          <p:nvPr/>
        </p:nvSpPr>
        <p:spPr>
          <a:xfrm flipH="false" flipV="true" rot="-10477373">
            <a:off x="-15991724" y="-3082858"/>
            <a:ext cx="20100950" cy="8223116"/>
          </a:xfrm>
          <a:custGeom>
            <a:avLst/>
            <a:gdLst/>
            <a:ahLst/>
            <a:cxnLst/>
            <a:rect r="r" b="b" t="t" l="l"/>
            <a:pathLst>
              <a:path h="8223116" w="20100950">
                <a:moveTo>
                  <a:pt x="0" y="8223116"/>
                </a:moveTo>
                <a:lnTo>
                  <a:pt x="20100950" y="8223116"/>
                </a:lnTo>
                <a:lnTo>
                  <a:pt x="20100950" y="0"/>
                </a:lnTo>
                <a:lnTo>
                  <a:pt x="0" y="0"/>
                </a:lnTo>
                <a:lnTo>
                  <a:pt x="0" y="8223116"/>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3910763" y="539017"/>
            <a:ext cx="1883465" cy="1796980"/>
          </a:xfrm>
          <a:custGeom>
            <a:avLst/>
            <a:gdLst/>
            <a:ahLst/>
            <a:cxnLst/>
            <a:rect r="r" b="b" t="t" l="l"/>
            <a:pathLst>
              <a:path h="1796980" w="1883465">
                <a:moveTo>
                  <a:pt x="0" y="0"/>
                </a:moveTo>
                <a:lnTo>
                  <a:pt x="1883464" y="0"/>
                </a:lnTo>
                <a:lnTo>
                  <a:pt x="1883464" y="1796980"/>
                </a:lnTo>
                <a:lnTo>
                  <a:pt x="0" y="1796980"/>
                </a:lnTo>
                <a:lnTo>
                  <a:pt x="0" y="0"/>
                </a:lnTo>
                <a:close/>
              </a:path>
            </a:pathLst>
          </a:custGeom>
          <a:blipFill>
            <a:blip r:embed="rId2"/>
            <a:stretch>
              <a:fillRect l="0" t="0" r="-462603" b="0"/>
            </a:stretch>
          </a:blipFill>
        </p:spPr>
      </p:sp>
      <p:sp>
        <p:nvSpPr>
          <p:cNvPr name="Freeform 9" id="9"/>
          <p:cNvSpPr/>
          <p:nvPr/>
        </p:nvSpPr>
        <p:spPr>
          <a:xfrm flipH="false" flipV="true" rot="1049093">
            <a:off x="8078769" y="6218724"/>
            <a:ext cx="24988019" cy="10222371"/>
          </a:xfrm>
          <a:custGeom>
            <a:avLst/>
            <a:gdLst/>
            <a:ahLst/>
            <a:cxnLst/>
            <a:rect r="r" b="b" t="t" l="l"/>
            <a:pathLst>
              <a:path h="10222371" w="24988019">
                <a:moveTo>
                  <a:pt x="0" y="10222372"/>
                </a:moveTo>
                <a:lnTo>
                  <a:pt x="24988019" y="10222372"/>
                </a:lnTo>
                <a:lnTo>
                  <a:pt x="24988019" y="0"/>
                </a:lnTo>
                <a:lnTo>
                  <a:pt x="0" y="0"/>
                </a:lnTo>
                <a:lnTo>
                  <a:pt x="0" y="10222372"/>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9248775"/>
            <a:ext cx="16891302" cy="19050"/>
            <a:chOff x="0" y="0"/>
            <a:chExt cx="22521736" cy="25400"/>
          </a:xfrm>
        </p:grpSpPr>
        <p:sp>
          <p:nvSpPr>
            <p:cNvPr name="Freeform 3" id="3"/>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4" id="4"/>
          <p:cNvGrpSpPr/>
          <p:nvPr/>
        </p:nvGrpSpPr>
        <p:grpSpPr>
          <a:xfrm rot="0">
            <a:off x="0" y="342304"/>
            <a:ext cx="3963019" cy="977204"/>
            <a:chOff x="0" y="0"/>
            <a:chExt cx="3296284" cy="812800"/>
          </a:xfrm>
        </p:grpSpPr>
        <p:sp>
          <p:nvSpPr>
            <p:cNvPr name="Freeform 5" id="5"/>
            <p:cNvSpPr/>
            <p:nvPr/>
          </p:nvSpPr>
          <p:spPr>
            <a:xfrm flipH="false" flipV="false" rot="0">
              <a:off x="0" y="0"/>
              <a:ext cx="3296284" cy="812800"/>
            </a:xfrm>
            <a:custGeom>
              <a:avLst/>
              <a:gdLst/>
              <a:ahLst/>
              <a:cxnLst/>
              <a:rect r="r" b="b" t="t" l="l"/>
              <a:pathLst>
                <a:path h="812800" w="3296284">
                  <a:moveTo>
                    <a:pt x="0" y="0"/>
                  </a:moveTo>
                  <a:lnTo>
                    <a:pt x="3296284" y="0"/>
                  </a:lnTo>
                  <a:lnTo>
                    <a:pt x="3296284" y="812800"/>
                  </a:lnTo>
                  <a:lnTo>
                    <a:pt x="0" y="812800"/>
                  </a:lnTo>
                  <a:close/>
                </a:path>
              </a:pathLst>
            </a:custGeom>
            <a:solidFill>
              <a:srgbClr val="0345E4"/>
            </a:solidFill>
          </p:spPr>
        </p:sp>
        <p:sp>
          <p:nvSpPr>
            <p:cNvPr name="TextBox 6" id="6"/>
            <p:cNvSpPr txBox="true"/>
            <p:nvPr/>
          </p:nvSpPr>
          <p:spPr>
            <a:xfrm>
              <a:off x="0" y="-38100"/>
              <a:ext cx="3296284" cy="8509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7445937"/>
            <a:ext cx="4933253" cy="1483870"/>
            <a:chOff x="0" y="0"/>
            <a:chExt cx="4103287" cy="1234225"/>
          </a:xfrm>
        </p:grpSpPr>
        <p:sp>
          <p:nvSpPr>
            <p:cNvPr name="Freeform 8" id="8"/>
            <p:cNvSpPr/>
            <p:nvPr/>
          </p:nvSpPr>
          <p:spPr>
            <a:xfrm flipH="false" flipV="false" rot="0">
              <a:off x="0" y="0"/>
              <a:ext cx="4103287" cy="1234225"/>
            </a:xfrm>
            <a:custGeom>
              <a:avLst/>
              <a:gdLst/>
              <a:ahLst/>
              <a:cxnLst/>
              <a:rect r="r" b="b" t="t" l="l"/>
              <a:pathLst>
                <a:path h="1234225" w="4103287">
                  <a:moveTo>
                    <a:pt x="0" y="0"/>
                  </a:moveTo>
                  <a:lnTo>
                    <a:pt x="4103287" y="0"/>
                  </a:lnTo>
                  <a:lnTo>
                    <a:pt x="4103287" y="1234225"/>
                  </a:lnTo>
                  <a:lnTo>
                    <a:pt x="0" y="1234225"/>
                  </a:lnTo>
                  <a:close/>
                </a:path>
              </a:pathLst>
            </a:custGeom>
            <a:solidFill>
              <a:srgbClr val="0345E4"/>
            </a:solidFill>
          </p:spPr>
        </p:sp>
        <p:sp>
          <p:nvSpPr>
            <p:cNvPr name="TextBox 9" id="9"/>
            <p:cNvSpPr txBox="true"/>
            <p:nvPr/>
          </p:nvSpPr>
          <p:spPr>
            <a:xfrm>
              <a:off x="0" y="-38100"/>
              <a:ext cx="4103287" cy="12723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707643" y="0"/>
            <a:ext cx="1284683" cy="8978996"/>
            <a:chOff x="0" y="0"/>
            <a:chExt cx="337672" cy="2360078"/>
          </a:xfrm>
        </p:grpSpPr>
        <p:sp>
          <p:nvSpPr>
            <p:cNvPr name="Freeform 11" id="11"/>
            <p:cNvSpPr/>
            <p:nvPr/>
          </p:nvSpPr>
          <p:spPr>
            <a:xfrm flipH="false" flipV="false" rot="0">
              <a:off x="0" y="0"/>
              <a:ext cx="337672" cy="2360078"/>
            </a:xfrm>
            <a:custGeom>
              <a:avLst/>
              <a:gdLst/>
              <a:ahLst/>
              <a:cxnLst/>
              <a:rect r="r" b="b" t="t" l="l"/>
              <a:pathLst>
                <a:path h="2360078" w="337672">
                  <a:moveTo>
                    <a:pt x="168836" y="0"/>
                  </a:moveTo>
                  <a:lnTo>
                    <a:pt x="168836" y="0"/>
                  </a:lnTo>
                  <a:cubicBezTo>
                    <a:pt x="213614" y="0"/>
                    <a:pt x="256558" y="17788"/>
                    <a:pt x="288221" y="49451"/>
                  </a:cubicBezTo>
                  <a:cubicBezTo>
                    <a:pt x="319884" y="81114"/>
                    <a:pt x="337672" y="124058"/>
                    <a:pt x="337672" y="168836"/>
                  </a:cubicBezTo>
                  <a:lnTo>
                    <a:pt x="337672" y="2191242"/>
                  </a:lnTo>
                  <a:cubicBezTo>
                    <a:pt x="337672" y="2236020"/>
                    <a:pt x="319884" y="2278964"/>
                    <a:pt x="288221" y="2310627"/>
                  </a:cubicBezTo>
                  <a:cubicBezTo>
                    <a:pt x="256558" y="2342290"/>
                    <a:pt x="213614" y="2360078"/>
                    <a:pt x="168836" y="2360078"/>
                  </a:cubicBezTo>
                  <a:lnTo>
                    <a:pt x="168836" y="2360078"/>
                  </a:lnTo>
                  <a:cubicBezTo>
                    <a:pt x="124058" y="2360078"/>
                    <a:pt x="81114" y="2342290"/>
                    <a:pt x="49451" y="2310627"/>
                  </a:cubicBezTo>
                  <a:cubicBezTo>
                    <a:pt x="17788" y="2278964"/>
                    <a:pt x="0" y="2236020"/>
                    <a:pt x="0" y="2191242"/>
                  </a:cubicBezTo>
                  <a:lnTo>
                    <a:pt x="0" y="168836"/>
                  </a:lnTo>
                  <a:cubicBezTo>
                    <a:pt x="0" y="124058"/>
                    <a:pt x="17788" y="81114"/>
                    <a:pt x="49451" y="49451"/>
                  </a:cubicBezTo>
                  <a:cubicBezTo>
                    <a:pt x="81114" y="17788"/>
                    <a:pt x="124058" y="0"/>
                    <a:pt x="168836" y="0"/>
                  </a:cubicBezTo>
                  <a:close/>
                </a:path>
              </a:pathLst>
            </a:custGeom>
            <a:solidFill>
              <a:srgbClr val="0345E4"/>
            </a:solidFill>
          </p:spPr>
        </p:sp>
        <p:sp>
          <p:nvSpPr>
            <p:cNvPr name="TextBox 12" id="12"/>
            <p:cNvSpPr txBox="true"/>
            <p:nvPr/>
          </p:nvSpPr>
          <p:spPr>
            <a:xfrm>
              <a:off x="0" y="-38100"/>
              <a:ext cx="337672" cy="2398178"/>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6673959" y="1724093"/>
            <a:ext cx="971364" cy="97136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15" id="15"/>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01</a:t>
              </a:r>
            </a:p>
          </p:txBody>
        </p:sp>
      </p:grpSp>
      <p:grpSp>
        <p:nvGrpSpPr>
          <p:cNvPr name="Group 16" id="16"/>
          <p:cNvGrpSpPr/>
          <p:nvPr/>
        </p:nvGrpSpPr>
        <p:grpSpPr>
          <a:xfrm rot="0">
            <a:off x="6673959" y="2907421"/>
            <a:ext cx="971364" cy="97136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18" id="18"/>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02</a:t>
              </a:r>
            </a:p>
          </p:txBody>
        </p:sp>
      </p:grpSp>
      <p:grpSp>
        <p:nvGrpSpPr>
          <p:cNvPr name="Group 19" id="19"/>
          <p:cNvGrpSpPr/>
          <p:nvPr/>
        </p:nvGrpSpPr>
        <p:grpSpPr>
          <a:xfrm rot="0">
            <a:off x="6673959" y="4090749"/>
            <a:ext cx="971364" cy="97136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21" id="21"/>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03</a:t>
              </a:r>
            </a:p>
          </p:txBody>
        </p:sp>
      </p:grpSp>
      <p:grpSp>
        <p:nvGrpSpPr>
          <p:cNvPr name="Group 22" id="22"/>
          <p:cNvGrpSpPr/>
          <p:nvPr/>
        </p:nvGrpSpPr>
        <p:grpSpPr>
          <a:xfrm rot="0">
            <a:off x="6673959" y="5274077"/>
            <a:ext cx="971364" cy="971364"/>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24" id="24"/>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04</a:t>
              </a:r>
            </a:p>
          </p:txBody>
        </p:sp>
      </p:grpSp>
      <p:grpSp>
        <p:nvGrpSpPr>
          <p:cNvPr name="Group 25" id="25"/>
          <p:cNvGrpSpPr/>
          <p:nvPr/>
        </p:nvGrpSpPr>
        <p:grpSpPr>
          <a:xfrm rot="0">
            <a:off x="6673959" y="6457405"/>
            <a:ext cx="971364" cy="97136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27" id="27"/>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05</a:t>
              </a:r>
            </a:p>
          </p:txBody>
        </p:sp>
      </p:grpSp>
      <p:grpSp>
        <p:nvGrpSpPr>
          <p:cNvPr name="Group 28" id="28"/>
          <p:cNvGrpSpPr/>
          <p:nvPr/>
        </p:nvGrpSpPr>
        <p:grpSpPr>
          <a:xfrm rot="0">
            <a:off x="6673959" y="7640733"/>
            <a:ext cx="971364" cy="971364"/>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30" id="30"/>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06</a:t>
              </a:r>
            </a:p>
          </p:txBody>
        </p:sp>
      </p:grpSp>
      <p:grpSp>
        <p:nvGrpSpPr>
          <p:cNvPr name="Group 31" id="31"/>
          <p:cNvGrpSpPr/>
          <p:nvPr/>
        </p:nvGrpSpPr>
        <p:grpSpPr>
          <a:xfrm rot="0">
            <a:off x="977204" y="342304"/>
            <a:ext cx="4975878" cy="8636692"/>
            <a:chOff x="0" y="0"/>
            <a:chExt cx="1310519" cy="2274684"/>
          </a:xfrm>
        </p:grpSpPr>
        <p:sp>
          <p:nvSpPr>
            <p:cNvPr name="Freeform 32" id="32"/>
            <p:cNvSpPr/>
            <p:nvPr/>
          </p:nvSpPr>
          <p:spPr>
            <a:xfrm flipH="false" flipV="false" rot="0">
              <a:off x="0" y="0"/>
              <a:ext cx="1310519" cy="2274684"/>
            </a:xfrm>
            <a:custGeom>
              <a:avLst/>
              <a:gdLst/>
              <a:ahLst/>
              <a:cxnLst/>
              <a:rect r="r" b="b" t="t" l="l"/>
              <a:pathLst>
                <a:path h="2274684" w="1310519">
                  <a:moveTo>
                    <a:pt x="155589" y="0"/>
                  </a:moveTo>
                  <a:lnTo>
                    <a:pt x="1154930" y="0"/>
                  </a:lnTo>
                  <a:cubicBezTo>
                    <a:pt x="1240860" y="0"/>
                    <a:pt x="1310519" y="69660"/>
                    <a:pt x="1310519" y="155589"/>
                  </a:cubicBezTo>
                  <a:lnTo>
                    <a:pt x="1310519" y="2119095"/>
                  </a:lnTo>
                  <a:cubicBezTo>
                    <a:pt x="1310519" y="2205025"/>
                    <a:pt x="1240860" y="2274684"/>
                    <a:pt x="1154930" y="2274684"/>
                  </a:cubicBezTo>
                  <a:lnTo>
                    <a:pt x="155589" y="2274684"/>
                  </a:lnTo>
                  <a:cubicBezTo>
                    <a:pt x="69660" y="2274684"/>
                    <a:pt x="0" y="2205025"/>
                    <a:pt x="0" y="2119095"/>
                  </a:cubicBezTo>
                  <a:lnTo>
                    <a:pt x="0" y="155589"/>
                  </a:lnTo>
                  <a:cubicBezTo>
                    <a:pt x="0" y="69660"/>
                    <a:pt x="69660" y="0"/>
                    <a:pt x="155589" y="0"/>
                  </a:cubicBezTo>
                  <a:close/>
                </a:path>
              </a:pathLst>
            </a:custGeom>
            <a:solidFill>
              <a:srgbClr val="FFFFFF"/>
            </a:solidFill>
            <a:ln w="85725" cap="rnd">
              <a:solidFill>
                <a:srgbClr val="0345E4"/>
              </a:solidFill>
              <a:prstDash val="solid"/>
              <a:round/>
            </a:ln>
          </p:spPr>
        </p:sp>
        <p:sp>
          <p:nvSpPr>
            <p:cNvPr name="TextBox 33" id="33"/>
            <p:cNvSpPr txBox="true"/>
            <p:nvPr/>
          </p:nvSpPr>
          <p:spPr>
            <a:xfrm>
              <a:off x="0" y="-38100"/>
              <a:ext cx="1310519" cy="2312784"/>
            </a:xfrm>
            <a:prstGeom prst="rect">
              <a:avLst/>
            </a:prstGeom>
          </p:spPr>
          <p:txBody>
            <a:bodyPr anchor="ctr" rtlCol="false" tIns="50800" lIns="50800" bIns="50800" rIns="50800"/>
            <a:lstStyle/>
            <a:p>
              <a:pPr algn="ctr">
                <a:lnSpc>
                  <a:spcPts val="2659"/>
                </a:lnSpc>
              </a:pPr>
            </a:p>
          </p:txBody>
        </p:sp>
      </p:grpSp>
      <p:sp>
        <p:nvSpPr>
          <p:cNvPr name="Freeform 34" id="34"/>
          <p:cNvSpPr/>
          <p:nvPr/>
        </p:nvSpPr>
        <p:spPr>
          <a:xfrm flipH="false" flipV="false" rot="0">
            <a:off x="1130026" y="708055"/>
            <a:ext cx="4670234" cy="3708259"/>
          </a:xfrm>
          <a:custGeom>
            <a:avLst/>
            <a:gdLst/>
            <a:ahLst/>
            <a:cxnLst/>
            <a:rect r="r" b="b" t="t" l="l"/>
            <a:pathLst>
              <a:path h="3708259" w="4670234">
                <a:moveTo>
                  <a:pt x="0" y="0"/>
                </a:moveTo>
                <a:lnTo>
                  <a:pt x="4670234" y="0"/>
                </a:lnTo>
                <a:lnTo>
                  <a:pt x="4670234" y="3708259"/>
                </a:lnTo>
                <a:lnTo>
                  <a:pt x="0" y="3708259"/>
                </a:lnTo>
                <a:lnTo>
                  <a:pt x="0" y="0"/>
                </a:lnTo>
                <a:close/>
              </a:path>
            </a:pathLst>
          </a:custGeom>
          <a:blipFill>
            <a:blip r:embed="rId2"/>
            <a:stretch>
              <a:fillRect l="0" t="0" r="0" b="0"/>
            </a:stretch>
          </a:blipFill>
        </p:spPr>
      </p:sp>
      <p:sp>
        <p:nvSpPr>
          <p:cNvPr name="Freeform 35" id="35"/>
          <p:cNvSpPr/>
          <p:nvPr/>
        </p:nvSpPr>
        <p:spPr>
          <a:xfrm flipH="false" flipV="false" rot="0">
            <a:off x="1130026" y="4576431"/>
            <a:ext cx="4660219" cy="4287402"/>
          </a:xfrm>
          <a:custGeom>
            <a:avLst/>
            <a:gdLst/>
            <a:ahLst/>
            <a:cxnLst/>
            <a:rect r="r" b="b" t="t" l="l"/>
            <a:pathLst>
              <a:path h="4287402" w="4660219">
                <a:moveTo>
                  <a:pt x="0" y="0"/>
                </a:moveTo>
                <a:lnTo>
                  <a:pt x="4660220" y="0"/>
                </a:lnTo>
                <a:lnTo>
                  <a:pt x="4660220" y="4287402"/>
                </a:lnTo>
                <a:lnTo>
                  <a:pt x="0" y="4287402"/>
                </a:lnTo>
                <a:lnTo>
                  <a:pt x="0" y="0"/>
                </a:lnTo>
                <a:close/>
              </a:path>
            </a:pathLst>
          </a:custGeom>
          <a:blipFill>
            <a:blip r:embed="rId3"/>
            <a:stretch>
              <a:fillRect l="0" t="0" r="0" b="0"/>
            </a:stretch>
          </a:blipFill>
        </p:spPr>
      </p:sp>
      <p:sp>
        <p:nvSpPr>
          <p:cNvPr name="TextBox 36" id="36"/>
          <p:cNvSpPr txBox="true"/>
          <p:nvPr/>
        </p:nvSpPr>
        <p:spPr>
          <a:xfrm rot="0">
            <a:off x="17259300" y="9445470"/>
            <a:ext cx="222430"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a:t>
            </a:r>
          </a:p>
        </p:txBody>
      </p:sp>
      <p:sp>
        <p:nvSpPr>
          <p:cNvPr name="TextBox 37" id="37"/>
          <p:cNvSpPr txBox="true"/>
          <p:nvPr/>
        </p:nvSpPr>
        <p:spPr>
          <a:xfrm rot="0">
            <a:off x="696649" y="9354983"/>
            <a:ext cx="16229192" cy="409575"/>
          </a:xfrm>
          <a:prstGeom prst="rect">
            <a:avLst/>
          </a:prstGeom>
        </p:spPr>
        <p:txBody>
          <a:bodyPr anchor="t" rtlCol="false" tIns="0" lIns="0" bIns="0" rIns="0">
            <a:spAutoFit/>
          </a:bodyPr>
          <a:lstStyle/>
          <a:p>
            <a:pPr algn="l">
              <a:lnSpc>
                <a:spcPts val="3119"/>
              </a:lnSpc>
            </a:pPr>
            <a:r>
              <a:rPr lang="en-US" b="true" sz="2599" spc="71">
                <a:solidFill>
                  <a:srgbClr val="0345E4"/>
                </a:solidFill>
                <a:latin typeface="Arimo Bold"/>
                <a:ea typeface="Arimo Bold"/>
                <a:cs typeface="Arimo Bold"/>
                <a:sym typeface="Arimo Bold"/>
              </a:rPr>
              <a:t>XÂY</a:t>
            </a:r>
            <a:r>
              <a:rPr lang="en-US" b="true" sz="2599" spc="71">
                <a:solidFill>
                  <a:srgbClr val="0345E4"/>
                </a:solidFill>
                <a:latin typeface="Arimo Bold"/>
                <a:ea typeface="Arimo Bold"/>
                <a:cs typeface="Arimo Bold"/>
                <a:sym typeface="Arimo Bold"/>
              </a:rPr>
              <a:t> DỰNG HỆ THỐNG MƯỢN TRẢ THIẾT BỊ GIẢNG DẠY TẠI TRƯỜNG ĐẠI HỌC TRÀ VINH</a:t>
            </a:r>
          </a:p>
        </p:txBody>
      </p:sp>
      <p:sp>
        <p:nvSpPr>
          <p:cNvPr name="TextBox 38" id="38"/>
          <p:cNvSpPr txBox="true"/>
          <p:nvPr/>
        </p:nvSpPr>
        <p:spPr>
          <a:xfrm rot="0">
            <a:off x="6673959" y="252599"/>
            <a:ext cx="8862307" cy="1036279"/>
          </a:xfrm>
          <a:prstGeom prst="rect">
            <a:avLst/>
          </a:prstGeom>
        </p:spPr>
        <p:txBody>
          <a:bodyPr anchor="t" rtlCol="false" tIns="0" lIns="0" bIns="0" rIns="0">
            <a:spAutoFit/>
          </a:bodyPr>
          <a:lstStyle/>
          <a:p>
            <a:pPr algn="ctr">
              <a:lnSpc>
                <a:spcPts val="8507"/>
              </a:lnSpc>
            </a:pPr>
            <a:r>
              <a:rPr lang="en-US" b="true" sz="6076">
                <a:solidFill>
                  <a:srgbClr val="000000"/>
                </a:solidFill>
                <a:latin typeface="Garet Bold"/>
                <a:ea typeface="Garet Bold"/>
                <a:cs typeface="Garet Bold"/>
                <a:sym typeface="Garet Bold"/>
              </a:rPr>
              <a:t>TÓM TẮT NỘI DUNG</a:t>
            </a:r>
          </a:p>
        </p:txBody>
      </p:sp>
      <p:sp>
        <p:nvSpPr>
          <p:cNvPr name="TextBox 39" id="39"/>
          <p:cNvSpPr txBox="true"/>
          <p:nvPr/>
        </p:nvSpPr>
        <p:spPr>
          <a:xfrm rot="0">
            <a:off x="7865067" y="1904987"/>
            <a:ext cx="5435352" cy="657197"/>
          </a:xfrm>
          <a:prstGeom prst="rect">
            <a:avLst/>
          </a:prstGeom>
        </p:spPr>
        <p:txBody>
          <a:bodyPr anchor="t" rtlCol="false" tIns="0" lIns="0" bIns="0" rIns="0">
            <a:spAutoFit/>
          </a:bodyPr>
          <a:lstStyle/>
          <a:p>
            <a:pPr algn="l">
              <a:lnSpc>
                <a:spcPts val="5039"/>
              </a:lnSpc>
            </a:pPr>
            <a:r>
              <a:rPr lang="en-US" sz="4198" spc="116">
                <a:solidFill>
                  <a:srgbClr val="000000">
                    <a:alpha val="81961"/>
                  </a:srgbClr>
                </a:solidFill>
                <a:latin typeface="Arimo"/>
                <a:ea typeface="Arimo"/>
                <a:cs typeface="Arimo"/>
                <a:sym typeface="Arimo"/>
              </a:rPr>
              <a:t>LÝ DO CHỌN ĐỀ TÀI</a:t>
            </a:r>
          </a:p>
        </p:txBody>
      </p:sp>
      <p:sp>
        <p:nvSpPr>
          <p:cNvPr name="TextBox 40" id="40"/>
          <p:cNvSpPr txBox="true"/>
          <p:nvPr/>
        </p:nvSpPr>
        <p:spPr>
          <a:xfrm rot="0">
            <a:off x="7865067" y="3054979"/>
            <a:ext cx="5105698" cy="657197"/>
          </a:xfrm>
          <a:prstGeom prst="rect">
            <a:avLst/>
          </a:prstGeom>
        </p:spPr>
        <p:txBody>
          <a:bodyPr anchor="t" rtlCol="false" tIns="0" lIns="0" bIns="0" rIns="0">
            <a:spAutoFit/>
          </a:bodyPr>
          <a:lstStyle/>
          <a:p>
            <a:pPr algn="l">
              <a:lnSpc>
                <a:spcPts val="5039"/>
              </a:lnSpc>
            </a:pPr>
            <a:r>
              <a:rPr lang="en-US" sz="4198" spc="116">
                <a:solidFill>
                  <a:srgbClr val="000000">
                    <a:alpha val="81961"/>
                  </a:srgbClr>
                </a:solidFill>
                <a:latin typeface="Arimo"/>
                <a:ea typeface="Arimo"/>
                <a:cs typeface="Arimo"/>
                <a:sym typeface="Arimo"/>
              </a:rPr>
              <a:t>CƠ SỞ LÝ THUYẾT</a:t>
            </a:r>
          </a:p>
        </p:txBody>
      </p:sp>
      <p:sp>
        <p:nvSpPr>
          <p:cNvPr name="TextBox 41" id="41"/>
          <p:cNvSpPr txBox="true"/>
          <p:nvPr/>
        </p:nvSpPr>
        <p:spPr>
          <a:xfrm rot="0">
            <a:off x="7865067" y="4238307"/>
            <a:ext cx="8388986" cy="657197"/>
          </a:xfrm>
          <a:prstGeom prst="rect">
            <a:avLst/>
          </a:prstGeom>
        </p:spPr>
        <p:txBody>
          <a:bodyPr anchor="t" rtlCol="false" tIns="0" lIns="0" bIns="0" rIns="0">
            <a:spAutoFit/>
          </a:bodyPr>
          <a:lstStyle/>
          <a:p>
            <a:pPr algn="l">
              <a:lnSpc>
                <a:spcPts val="5039"/>
              </a:lnSpc>
            </a:pPr>
            <a:r>
              <a:rPr lang="en-US" sz="4198" spc="116">
                <a:solidFill>
                  <a:srgbClr val="000000">
                    <a:alpha val="81961"/>
                  </a:srgbClr>
                </a:solidFill>
                <a:latin typeface="Arimo"/>
                <a:ea typeface="Arimo"/>
                <a:cs typeface="Arimo"/>
                <a:sym typeface="Arimo"/>
              </a:rPr>
              <a:t>HIỆN THỰC HÓA NGHIÊN CỨU </a:t>
            </a:r>
          </a:p>
        </p:txBody>
      </p:sp>
      <p:sp>
        <p:nvSpPr>
          <p:cNvPr name="TextBox 42" id="42"/>
          <p:cNvSpPr txBox="true"/>
          <p:nvPr/>
        </p:nvSpPr>
        <p:spPr>
          <a:xfrm rot="0">
            <a:off x="7865067" y="5419379"/>
            <a:ext cx="5875734" cy="657137"/>
          </a:xfrm>
          <a:prstGeom prst="rect">
            <a:avLst/>
          </a:prstGeom>
        </p:spPr>
        <p:txBody>
          <a:bodyPr anchor="t" rtlCol="false" tIns="0" lIns="0" bIns="0" rIns="0">
            <a:spAutoFit/>
          </a:bodyPr>
          <a:lstStyle/>
          <a:p>
            <a:pPr algn="l">
              <a:lnSpc>
                <a:spcPts val="5039"/>
              </a:lnSpc>
            </a:pPr>
            <a:r>
              <a:rPr lang="en-US" sz="4198" spc="116">
                <a:solidFill>
                  <a:srgbClr val="000000">
                    <a:alpha val="81961"/>
                  </a:srgbClr>
                </a:solidFill>
                <a:latin typeface="Arimo"/>
                <a:ea typeface="Arimo"/>
                <a:cs typeface="Arimo"/>
                <a:sym typeface="Arimo"/>
              </a:rPr>
              <a:t>KẾT QUẢ THỰC HIỆN </a:t>
            </a:r>
          </a:p>
        </p:txBody>
      </p:sp>
      <p:sp>
        <p:nvSpPr>
          <p:cNvPr name="TextBox 43" id="43"/>
          <p:cNvSpPr txBox="true"/>
          <p:nvPr/>
        </p:nvSpPr>
        <p:spPr>
          <a:xfrm rot="0">
            <a:off x="7865067" y="6604963"/>
            <a:ext cx="2755701" cy="657137"/>
          </a:xfrm>
          <a:prstGeom prst="rect">
            <a:avLst/>
          </a:prstGeom>
        </p:spPr>
        <p:txBody>
          <a:bodyPr anchor="t" rtlCol="false" tIns="0" lIns="0" bIns="0" rIns="0">
            <a:spAutoFit/>
          </a:bodyPr>
          <a:lstStyle/>
          <a:p>
            <a:pPr algn="l">
              <a:lnSpc>
                <a:spcPts val="5039"/>
              </a:lnSpc>
            </a:pPr>
            <a:r>
              <a:rPr lang="en-US" sz="4198">
                <a:solidFill>
                  <a:srgbClr val="000000">
                    <a:alpha val="81961"/>
                  </a:srgbClr>
                </a:solidFill>
                <a:latin typeface="Arimo"/>
                <a:ea typeface="Arimo"/>
                <a:cs typeface="Arimo"/>
                <a:sym typeface="Arimo"/>
              </a:rPr>
              <a:t>KẾT LUẬN </a:t>
            </a:r>
          </a:p>
        </p:txBody>
      </p:sp>
      <p:sp>
        <p:nvSpPr>
          <p:cNvPr name="TextBox 44" id="44"/>
          <p:cNvSpPr txBox="true"/>
          <p:nvPr/>
        </p:nvSpPr>
        <p:spPr>
          <a:xfrm rot="0">
            <a:off x="7865067" y="7788292"/>
            <a:ext cx="3746897" cy="657137"/>
          </a:xfrm>
          <a:prstGeom prst="rect">
            <a:avLst/>
          </a:prstGeom>
        </p:spPr>
        <p:txBody>
          <a:bodyPr anchor="t" rtlCol="false" tIns="0" lIns="0" bIns="0" rIns="0">
            <a:spAutoFit/>
          </a:bodyPr>
          <a:lstStyle/>
          <a:p>
            <a:pPr algn="l">
              <a:lnSpc>
                <a:spcPts val="5039"/>
              </a:lnSpc>
            </a:pPr>
            <a:r>
              <a:rPr lang="en-US" sz="4198" spc="116">
                <a:solidFill>
                  <a:srgbClr val="000000">
                    <a:alpha val="81961"/>
                  </a:srgbClr>
                </a:solidFill>
                <a:latin typeface="Arimo"/>
                <a:ea typeface="Arimo"/>
                <a:cs typeface="Arimo"/>
                <a:sym typeface="Arimo"/>
              </a:rPr>
              <a:t>DEMO ĐỒ ÁN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62065">
            <a:off x="-2708658" y="4484182"/>
            <a:ext cx="14270748" cy="5838033"/>
          </a:xfrm>
          <a:custGeom>
            <a:avLst/>
            <a:gdLst/>
            <a:ahLst/>
            <a:cxnLst/>
            <a:rect r="r" b="b" t="t" l="l"/>
            <a:pathLst>
              <a:path h="5838033" w="14270748">
                <a:moveTo>
                  <a:pt x="0" y="0"/>
                </a:moveTo>
                <a:lnTo>
                  <a:pt x="14270748" y="0"/>
                </a:lnTo>
                <a:lnTo>
                  <a:pt x="14270748" y="5838033"/>
                </a:lnTo>
                <a:lnTo>
                  <a:pt x="0" y="5838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649" y="9248775"/>
            <a:ext cx="16891302" cy="19050"/>
            <a:chOff x="0" y="0"/>
            <a:chExt cx="22521736" cy="25400"/>
          </a:xfrm>
        </p:grpSpPr>
        <p:sp>
          <p:nvSpPr>
            <p:cNvPr name="Freeform 4" id="4"/>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5" id="5"/>
          <p:cNvGrpSpPr/>
          <p:nvPr/>
        </p:nvGrpSpPr>
        <p:grpSpPr>
          <a:xfrm rot="0">
            <a:off x="1019185" y="1014412"/>
            <a:ext cx="14681892" cy="23812"/>
            <a:chOff x="0" y="0"/>
            <a:chExt cx="19575856" cy="31750"/>
          </a:xfrm>
        </p:grpSpPr>
        <p:sp>
          <p:nvSpPr>
            <p:cNvPr name="Freeform 6" id="6"/>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TextBox 7" id="7"/>
          <p:cNvSpPr txBox="true"/>
          <p:nvPr/>
        </p:nvSpPr>
        <p:spPr>
          <a:xfrm rot="0">
            <a:off x="763324" y="9350588"/>
            <a:ext cx="14982825" cy="40957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8" id="8"/>
          <p:cNvSpPr txBox="true"/>
          <p:nvPr/>
        </p:nvSpPr>
        <p:spPr>
          <a:xfrm rot="0">
            <a:off x="17259300" y="9360113"/>
            <a:ext cx="222515"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2</a:t>
            </a:r>
          </a:p>
        </p:txBody>
      </p:sp>
      <p:sp>
        <p:nvSpPr>
          <p:cNvPr name="TextBox 9" id="9"/>
          <p:cNvSpPr txBox="true"/>
          <p:nvPr/>
        </p:nvSpPr>
        <p:spPr>
          <a:xfrm rot="0">
            <a:off x="1938155" y="4270058"/>
            <a:ext cx="14411690" cy="1556385"/>
          </a:xfrm>
          <a:prstGeom prst="rect">
            <a:avLst/>
          </a:prstGeom>
        </p:spPr>
        <p:txBody>
          <a:bodyPr anchor="t" rtlCol="false" tIns="0" lIns="0" bIns="0" rIns="0">
            <a:spAutoFit/>
          </a:bodyPr>
          <a:lstStyle/>
          <a:p>
            <a:pPr algn="l">
              <a:lnSpc>
                <a:spcPts val="12869"/>
              </a:lnSpc>
            </a:pPr>
            <a:r>
              <a:rPr lang="en-US" b="true" sz="9000" spc="719">
                <a:solidFill>
                  <a:srgbClr val="0345E4"/>
                </a:solidFill>
                <a:latin typeface="Garet Bold"/>
                <a:ea typeface="Garet Bold"/>
                <a:cs typeface="Garet Bold"/>
                <a:sym typeface="Garet Bold"/>
              </a:rPr>
              <a:t>1. LÝ DO CHỌN ĐỀ TÀI</a:t>
            </a:r>
          </a:p>
        </p:txBody>
      </p:sp>
      <p:sp>
        <p:nvSpPr>
          <p:cNvPr name="Freeform 10" id="10"/>
          <p:cNvSpPr/>
          <p:nvPr/>
        </p:nvSpPr>
        <p:spPr>
          <a:xfrm flipH="false" flipV="false" rot="0">
            <a:off x="7029861" y="-1737274"/>
            <a:ext cx="11919735" cy="4876255"/>
          </a:xfrm>
          <a:custGeom>
            <a:avLst/>
            <a:gdLst/>
            <a:ahLst/>
            <a:cxnLst/>
            <a:rect r="r" b="b" t="t" l="l"/>
            <a:pathLst>
              <a:path h="4876255" w="11919735">
                <a:moveTo>
                  <a:pt x="0" y="0"/>
                </a:moveTo>
                <a:lnTo>
                  <a:pt x="11919734" y="0"/>
                </a:lnTo>
                <a:lnTo>
                  <a:pt x="11919734" y="4876255"/>
                </a:lnTo>
                <a:lnTo>
                  <a:pt x="0" y="4876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6" id="6"/>
          <p:cNvGrpSpPr/>
          <p:nvPr/>
        </p:nvGrpSpPr>
        <p:grpSpPr>
          <a:xfrm rot="0">
            <a:off x="5003772" y="2581213"/>
            <a:ext cx="732337" cy="73233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name="TextBox 8" id="8"/>
            <p:cNvSpPr txBox="true"/>
            <p:nvPr/>
          </p:nvSpPr>
          <p:spPr>
            <a:xfrm>
              <a:off x="76200" y="47625"/>
              <a:ext cx="660400" cy="688975"/>
            </a:xfrm>
            <a:prstGeom prst="rect">
              <a:avLst/>
            </a:prstGeom>
          </p:spPr>
          <p:txBody>
            <a:bodyPr anchor="ctr" rtlCol="false" tIns="50800" lIns="50800" bIns="50800" rIns="50800"/>
            <a:lstStyle/>
            <a:p>
              <a:pPr algn="ctr">
                <a:lnSpc>
                  <a:spcPts val="2659"/>
                </a:lnSpc>
              </a:pPr>
              <a:r>
                <a:rPr lang="en-US" b="true" sz="1899">
                  <a:solidFill>
                    <a:srgbClr val="FFFFFF"/>
                  </a:solidFill>
                  <a:latin typeface="Garet Bold"/>
                  <a:ea typeface="Garet Bold"/>
                  <a:cs typeface="Garet Bold"/>
                  <a:sym typeface="Garet Bold"/>
                </a:rPr>
                <a:t>01</a:t>
              </a:r>
            </a:p>
          </p:txBody>
        </p:sp>
      </p:grpSp>
      <p:grpSp>
        <p:nvGrpSpPr>
          <p:cNvPr name="Group 9" id="9"/>
          <p:cNvGrpSpPr/>
          <p:nvPr/>
        </p:nvGrpSpPr>
        <p:grpSpPr>
          <a:xfrm rot="0">
            <a:off x="4986698" y="5077435"/>
            <a:ext cx="732337" cy="73233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name="TextBox 11" id="11"/>
            <p:cNvSpPr txBox="true"/>
            <p:nvPr/>
          </p:nvSpPr>
          <p:spPr>
            <a:xfrm>
              <a:off x="76200" y="47625"/>
              <a:ext cx="660400" cy="688975"/>
            </a:xfrm>
            <a:prstGeom prst="rect">
              <a:avLst/>
            </a:prstGeom>
          </p:spPr>
          <p:txBody>
            <a:bodyPr anchor="ctr" rtlCol="false" tIns="50800" lIns="50800" bIns="50800" rIns="50800"/>
            <a:lstStyle/>
            <a:p>
              <a:pPr algn="ctr">
                <a:lnSpc>
                  <a:spcPts val="2659"/>
                </a:lnSpc>
              </a:pPr>
              <a:r>
                <a:rPr lang="en-US" b="true" sz="1899">
                  <a:solidFill>
                    <a:srgbClr val="FFFFFF"/>
                  </a:solidFill>
                  <a:latin typeface="Garet Bold"/>
                  <a:ea typeface="Garet Bold"/>
                  <a:cs typeface="Garet Bold"/>
                  <a:sym typeface="Garet Bold"/>
                </a:rPr>
                <a:t>02</a:t>
              </a:r>
            </a:p>
          </p:txBody>
        </p:sp>
      </p:grpSp>
      <p:sp>
        <p:nvSpPr>
          <p:cNvPr name="Freeform 12" id="12"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13" id="13"/>
          <p:cNvSpPr/>
          <p:nvPr/>
        </p:nvSpPr>
        <p:spPr>
          <a:xfrm flipH="false" flipV="false" rot="0">
            <a:off x="1159947" y="2732846"/>
            <a:ext cx="974445" cy="890015"/>
          </a:xfrm>
          <a:custGeom>
            <a:avLst/>
            <a:gdLst/>
            <a:ahLst/>
            <a:cxnLst/>
            <a:rect r="r" b="b" t="t" l="l"/>
            <a:pathLst>
              <a:path h="890015" w="974445">
                <a:moveTo>
                  <a:pt x="0" y="0"/>
                </a:moveTo>
                <a:lnTo>
                  <a:pt x="974445" y="0"/>
                </a:lnTo>
                <a:lnTo>
                  <a:pt x="974445" y="890015"/>
                </a:lnTo>
                <a:lnTo>
                  <a:pt x="0" y="890015"/>
                </a:lnTo>
                <a:lnTo>
                  <a:pt x="0" y="0"/>
                </a:lnTo>
                <a:close/>
              </a:path>
            </a:pathLst>
          </a:custGeom>
          <a:blipFill>
            <a:blip r:embed="rId3"/>
            <a:stretch>
              <a:fillRect l="-9297" t="-9186" r="0" b="-10478"/>
            </a:stretch>
          </a:blipFill>
        </p:spPr>
      </p:sp>
      <p:sp>
        <p:nvSpPr>
          <p:cNvPr name="Freeform 14" id="14"/>
          <p:cNvSpPr/>
          <p:nvPr/>
        </p:nvSpPr>
        <p:spPr>
          <a:xfrm flipH="false" flipV="false" rot="0">
            <a:off x="3793183" y="5380300"/>
            <a:ext cx="764021" cy="1023512"/>
          </a:xfrm>
          <a:custGeom>
            <a:avLst/>
            <a:gdLst/>
            <a:ahLst/>
            <a:cxnLst/>
            <a:rect r="r" b="b" t="t" l="l"/>
            <a:pathLst>
              <a:path h="1023512" w="764021">
                <a:moveTo>
                  <a:pt x="0" y="0"/>
                </a:moveTo>
                <a:lnTo>
                  <a:pt x="764020" y="0"/>
                </a:lnTo>
                <a:lnTo>
                  <a:pt x="764020" y="1023512"/>
                </a:lnTo>
                <a:lnTo>
                  <a:pt x="0" y="1023512"/>
                </a:lnTo>
                <a:lnTo>
                  <a:pt x="0" y="0"/>
                </a:lnTo>
                <a:close/>
              </a:path>
            </a:pathLst>
          </a:custGeom>
          <a:blipFill>
            <a:blip r:embed="rId4"/>
            <a:stretch>
              <a:fillRect l="-41031" t="-13598" r="-30383" b="-14357"/>
            </a:stretch>
          </a:blipFill>
        </p:spPr>
      </p:sp>
      <p:sp>
        <p:nvSpPr>
          <p:cNvPr name="Freeform 15" id="15"/>
          <p:cNvSpPr/>
          <p:nvPr/>
        </p:nvSpPr>
        <p:spPr>
          <a:xfrm flipH="false" flipV="false" rot="0">
            <a:off x="2954858" y="2794569"/>
            <a:ext cx="1021050" cy="840966"/>
          </a:xfrm>
          <a:custGeom>
            <a:avLst/>
            <a:gdLst/>
            <a:ahLst/>
            <a:cxnLst/>
            <a:rect r="r" b="b" t="t" l="l"/>
            <a:pathLst>
              <a:path h="840966" w="1021050">
                <a:moveTo>
                  <a:pt x="0" y="0"/>
                </a:moveTo>
                <a:lnTo>
                  <a:pt x="1021050" y="0"/>
                </a:lnTo>
                <a:lnTo>
                  <a:pt x="1021050" y="840966"/>
                </a:lnTo>
                <a:lnTo>
                  <a:pt x="0" y="840966"/>
                </a:lnTo>
                <a:lnTo>
                  <a:pt x="0" y="0"/>
                </a:lnTo>
                <a:close/>
              </a:path>
            </a:pathLst>
          </a:custGeom>
          <a:blipFill>
            <a:blip r:embed="rId5"/>
            <a:stretch>
              <a:fillRect l="-17942" t="-17366" r="-13477" b="-13274"/>
            </a:stretch>
          </a:blipFill>
        </p:spPr>
      </p:sp>
      <p:sp>
        <p:nvSpPr>
          <p:cNvPr name="Freeform 16" id="16"/>
          <p:cNvSpPr/>
          <p:nvPr/>
        </p:nvSpPr>
        <p:spPr>
          <a:xfrm flipH="false" flipV="false" rot="0">
            <a:off x="3674026" y="3927535"/>
            <a:ext cx="971200" cy="971200"/>
          </a:xfrm>
          <a:custGeom>
            <a:avLst/>
            <a:gdLst/>
            <a:ahLst/>
            <a:cxnLst/>
            <a:rect r="r" b="b" t="t" l="l"/>
            <a:pathLst>
              <a:path h="971200" w="971200">
                <a:moveTo>
                  <a:pt x="0" y="0"/>
                </a:moveTo>
                <a:lnTo>
                  <a:pt x="971200" y="0"/>
                </a:lnTo>
                <a:lnTo>
                  <a:pt x="971200" y="971199"/>
                </a:lnTo>
                <a:lnTo>
                  <a:pt x="0" y="971199"/>
                </a:lnTo>
                <a:lnTo>
                  <a:pt x="0" y="0"/>
                </a:lnTo>
                <a:close/>
              </a:path>
            </a:pathLst>
          </a:custGeom>
          <a:blipFill>
            <a:blip r:embed="rId6"/>
            <a:stretch>
              <a:fillRect l="0" t="0" r="0" b="0"/>
            </a:stretch>
          </a:blipFill>
        </p:spPr>
      </p:sp>
      <p:sp>
        <p:nvSpPr>
          <p:cNvPr name="Freeform 17" id="17"/>
          <p:cNvSpPr/>
          <p:nvPr/>
        </p:nvSpPr>
        <p:spPr>
          <a:xfrm flipH="false" flipV="false" rot="0">
            <a:off x="159101" y="5461001"/>
            <a:ext cx="1025618" cy="1087643"/>
          </a:xfrm>
          <a:custGeom>
            <a:avLst/>
            <a:gdLst/>
            <a:ahLst/>
            <a:cxnLst/>
            <a:rect r="r" b="b" t="t" l="l"/>
            <a:pathLst>
              <a:path h="1087643" w="1025618">
                <a:moveTo>
                  <a:pt x="0" y="0"/>
                </a:moveTo>
                <a:lnTo>
                  <a:pt x="1025618" y="0"/>
                </a:lnTo>
                <a:lnTo>
                  <a:pt x="1025618" y="1087642"/>
                </a:lnTo>
                <a:lnTo>
                  <a:pt x="0" y="1087642"/>
                </a:lnTo>
                <a:lnTo>
                  <a:pt x="0" y="0"/>
                </a:lnTo>
                <a:close/>
              </a:path>
            </a:pathLst>
          </a:custGeom>
          <a:blipFill>
            <a:blip r:embed="rId7"/>
            <a:stretch>
              <a:fillRect l="0" t="0" r="0" b="0"/>
            </a:stretch>
          </a:blipFill>
        </p:spPr>
      </p:sp>
      <p:sp>
        <p:nvSpPr>
          <p:cNvPr name="Freeform 18" id="18"/>
          <p:cNvSpPr/>
          <p:nvPr/>
        </p:nvSpPr>
        <p:spPr>
          <a:xfrm flipH="false" flipV="false" rot="0">
            <a:off x="1004286" y="6746561"/>
            <a:ext cx="1285768" cy="825335"/>
          </a:xfrm>
          <a:custGeom>
            <a:avLst/>
            <a:gdLst/>
            <a:ahLst/>
            <a:cxnLst/>
            <a:rect r="r" b="b" t="t" l="l"/>
            <a:pathLst>
              <a:path h="825335" w="1285768">
                <a:moveTo>
                  <a:pt x="0" y="0"/>
                </a:moveTo>
                <a:lnTo>
                  <a:pt x="1285768" y="0"/>
                </a:lnTo>
                <a:lnTo>
                  <a:pt x="1285768" y="825336"/>
                </a:lnTo>
                <a:lnTo>
                  <a:pt x="0" y="825336"/>
                </a:lnTo>
                <a:lnTo>
                  <a:pt x="0" y="0"/>
                </a:lnTo>
                <a:close/>
              </a:path>
            </a:pathLst>
          </a:custGeom>
          <a:blipFill>
            <a:blip r:embed="rId8"/>
            <a:stretch>
              <a:fillRect l="-6940" t="-44914" r="-7312" b="-33076"/>
            </a:stretch>
          </a:blipFill>
        </p:spPr>
      </p:sp>
      <p:sp>
        <p:nvSpPr>
          <p:cNvPr name="Freeform 19" id="19"/>
          <p:cNvSpPr/>
          <p:nvPr/>
        </p:nvSpPr>
        <p:spPr>
          <a:xfrm flipH="false" flipV="false" rot="0">
            <a:off x="3000002" y="6601730"/>
            <a:ext cx="930761" cy="970167"/>
          </a:xfrm>
          <a:custGeom>
            <a:avLst/>
            <a:gdLst/>
            <a:ahLst/>
            <a:cxnLst/>
            <a:rect r="r" b="b" t="t" l="l"/>
            <a:pathLst>
              <a:path h="970167" w="930761">
                <a:moveTo>
                  <a:pt x="0" y="0"/>
                </a:moveTo>
                <a:lnTo>
                  <a:pt x="930762" y="0"/>
                </a:lnTo>
                <a:lnTo>
                  <a:pt x="930762" y="970167"/>
                </a:lnTo>
                <a:lnTo>
                  <a:pt x="0" y="970167"/>
                </a:lnTo>
                <a:lnTo>
                  <a:pt x="0" y="0"/>
                </a:lnTo>
                <a:close/>
              </a:path>
            </a:pathLst>
          </a:custGeom>
          <a:blipFill>
            <a:blip r:embed="rId9"/>
            <a:stretch>
              <a:fillRect l="-8583" t="-9608" r="-14357" b="-8339"/>
            </a:stretch>
          </a:blipFill>
        </p:spPr>
      </p:sp>
      <p:sp>
        <p:nvSpPr>
          <p:cNvPr name="Freeform 20" id="20"/>
          <p:cNvSpPr/>
          <p:nvPr/>
        </p:nvSpPr>
        <p:spPr>
          <a:xfrm flipH="false" flipV="false" rot="0">
            <a:off x="158507" y="3990455"/>
            <a:ext cx="1026212" cy="1026212"/>
          </a:xfrm>
          <a:custGeom>
            <a:avLst/>
            <a:gdLst/>
            <a:ahLst/>
            <a:cxnLst/>
            <a:rect r="r" b="b" t="t" l="l"/>
            <a:pathLst>
              <a:path h="1026212" w="1026212">
                <a:moveTo>
                  <a:pt x="0" y="0"/>
                </a:moveTo>
                <a:lnTo>
                  <a:pt x="1026212" y="0"/>
                </a:lnTo>
                <a:lnTo>
                  <a:pt x="1026212" y="1026213"/>
                </a:lnTo>
                <a:lnTo>
                  <a:pt x="0" y="1026213"/>
                </a:lnTo>
                <a:lnTo>
                  <a:pt x="0" y="0"/>
                </a:lnTo>
                <a:close/>
              </a:path>
            </a:pathLst>
          </a:custGeom>
          <a:blipFill>
            <a:blip r:embed="rId10"/>
            <a:stretch>
              <a:fillRect l="0" t="0" r="0" b="0"/>
            </a:stretch>
          </a:blipFill>
        </p:spPr>
      </p:sp>
      <p:sp>
        <p:nvSpPr>
          <p:cNvPr name="Freeform 21" id="21"/>
          <p:cNvSpPr/>
          <p:nvPr/>
        </p:nvSpPr>
        <p:spPr>
          <a:xfrm flipH="false" flipV="false" rot="0">
            <a:off x="1251406" y="3990455"/>
            <a:ext cx="2395192" cy="2395192"/>
          </a:xfrm>
          <a:custGeom>
            <a:avLst/>
            <a:gdLst/>
            <a:ahLst/>
            <a:cxnLst/>
            <a:rect r="r" b="b" t="t" l="l"/>
            <a:pathLst>
              <a:path h="2395192" w="2395192">
                <a:moveTo>
                  <a:pt x="0" y="0"/>
                </a:moveTo>
                <a:lnTo>
                  <a:pt x="2395192" y="0"/>
                </a:lnTo>
                <a:lnTo>
                  <a:pt x="2395192" y="2395192"/>
                </a:lnTo>
                <a:lnTo>
                  <a:pt x="0" y="2395192"/>
                </a:lnTo>
                <a:lnTo>
                  <a:pt x="0" y="0"/>
                </a:lnTo>
                <a:close/>
              </a:path>
            </a:pathLst>
          </a:custGeom>
          <a:blipFill>
            <a:blip r:embed="rId11"/>
            <a:stretch>
              <a:fillRect l="0" t="0" r="0" b="0"/>
            </a:stretch>
          </a:blipFill>
        </p:spPr>
      </p:sp>
      <p:grpSp>
        <p:nvGrpSpPr>
          <p:cNvPr name="Group 22" id="22"/>
          <p:cNvGrpSpPr/>
          <p:nvPr/>
        </p:nvGrpSpPr>
        <p:grpSpPr>
          <a:xfrm rot="0">
            <a:off x="5930094" y="1876916"/>
            <a:ext cx="2140930" cy="214093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l="-29333" t="0" r="-4161" b="0"/>
              </a:stretch>
            </a:blipFill>
            <a:ln cap="sq">
              <a:noFill/>
              <a:prstDash val="solid"/>
              <a:miter/>
            </a:ln>
          </p:spPr>
        </p:sp>
      </p:grpSp>
      <p:grpSp>
        <p:nvGrpSpPr>
          <p:cNvPr name="Group 24" id="24"/>
          <p:cNvGrpSpPr/>
          <p:nvPr/>
        </p:nvGrpSpPr>
        <p:grpSpPr>
          <a:xfrm rot="0">
            <a:off x="5909535" y="4359889"/>
            <a:ext cx="2140930" cy="2140930"/>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46149" t="-49668" r="-46041" b="0"/>
              </a:stretch>
            </a:blipFill>
          </p:spPr>
        </p:sp>
      </p:grpSp>
      <p:grpSp>
        <p:nvGrpSpPr>
          <p:cNvPr name="Group 26" id="26"/>
          <p:cNvGrpSpPr/>
          <p:nvPr/>
        </p:nvGrpSpPr>
        <p:grpSpPr>
          <a:xfrm rot="0">
            <a:off x="5004642" y="7571897"/>
            <a:ext cx="732337" cy="73233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name="TextBox 28" id="28"/>
            <p:cNvSpPr txBox="true"/>
            <p:nvPr/>
          </p:nvSpPr>
          <p:spPr>
            <a:xfrm>
              <a:off x="76200" y="47625"/>
              <a:ext cx="660400" cy="688975"/>
            </a:xfrm>
            <a:prstGeom prst="rect">
              <a:avLst/>
            </a:prstGeom>
          </p:spPr>
          <p:txBody>
            <a:bodyPr anchor="ctr" rtlCol="false" tIns="50800" lIns="50800" bIns="50800" rIns="50800"/>
            <a:lstStyle/>
            <a:p>
              <a:pPr algn="ctr">
                <a:lnSpc>
                  <a:spcPts val="2659"/>
                </a:lnSpc>
              </a:pPr>
              <a:r>
                <a:rPr lang="en-US" b="true" sz="1899">
                  <a:solidFill>
                    <a:srgbClr val="FFFFFF"/>
                  </a:solidFill>
                  <a:latin typeface="Garet Bold"/>
                  <a:ea typeface="Garet Bold"/>
                  <a:cs typeface="Garet Bold"/>
                  <a:sym typeface="Garet Bold"/>
                </a:rPr>
                <a:t>03</a:t>
              </a:r>
            </a:p>
          </p:txBody>
        </p:sp>
      </p:grpSp>
      <p:grpSp>
        <p:nvGrpSpPr>
          <p:cNvPr name="Group 29" id="29"/>
          <p:cNvGrpSpPr/>
          <p:nvPr/>
        </p:nvGrpSpPr>
        <p:grpSpPr>
          <a:xfrm rot="0">
            <a:off x="5927479" y="6842861"/>
            <a:ext cx="2140930" cy="214093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4"/>
              <a:stretch>
                <a:fillRect l="-25136" t="0" r="-25136" b="0"/>
              </a:stretch>
            </a:blipFill>
          </p:spPr>
        </p:sp>
      </p:grpSp>
      <p:sp>
        <p:nvSpPr>
          <p:cNvPr name="TextBox 31" id="31"/>
          <p:cNvSpPr txBox="true"/>
          <p:nvPr/>
        </p:nvSpPr>
        <p:spPr>
          <a:xfrm rot="0">
            <a:off x="763324" y="9350588"/>
            <a:ext cx="14982825" cy="40957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32" id="32"/>
          <p:cNvSpPr txBox="true"/>
          <p:nvPr/>
        </p:nvSpPr>
        <p:spPr>
          <a:xfrm rot="0">
            <a:off x="17259300" y="9360113"/>
            <a:ext cx="222515"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3</a:t>
            </a:r>
          </a:p>
        </p:txBody>
      </p:sp>
      <p:sp>
        <p:nvSpPr>
          <p:cNvPr name="TextBox 33" id="33"/>
          <p:cNvSpPr txBox="true"/>
          <p:nvPr/>
        </p:nvSpPr>
        <p:spPr>
          <a:xfrm rot="0">
            <a:off x="8259779" y="2300534"/>
            <a:ext cx="9328172" cy="1369695"/>
          </a:xfrm>
          <a:prstGeom prst="rect">
            <a:avLst/>
          </a:prstGeom>
        </p:spPr>
        <p:txBody>
          <a:bodyPr anchor="t" rtlCol="false" tIns="0" lIns="0" bIns="0" rIns="0">
            <a:spAutoFit/>
          </a:bodyPr>
          <a:lstStyle/>
          <a:p>
            <a:pPr algn="just" marL="0" indent="0" lvl="0">
              <a:lnSpc>
                <a:spcPts val="3720"/>
              </a:lnSpc>
            </a:pPr>
            <a:r>
              <a:rPr lang="en-US" sz="2400">
                <a:solidFill>
                  <a:srgbClr val="000000"/>
                </a:solidFill>
                <a:latin typeface="Open Sans 1"/>
                <a:ea typeface="Open Sans 1"/>
                <a:cs typeface="Open Sans 1"/>
                <a:sym typeface="Open Sans 1"/>
              </a:rPr>
              <a:t>Việc quản lý mượn – trả thiết bị hiện nay chủ yếu thực hiện qua ghi chép sổ sách, gây tốn nhiều thời gian, dễ xảy ra sai sót trong nhập liệu và gặp nhiều khó khăn khi cần tra cứu hay thống kê. </a:t>
            </a:r>
          </a:p>
        </p:txBody>
      </p:sp>
      <p:sp>
        <p:nvSpPr>
          <p:cNvPr name="TextBox 34" id="34"/>
          <p:cNvSpPr txBox="true"/>
          <p:nvPr/>
        </p:nvSpPr>
        <p:spPr>
          <a:xfrm rot="0">
            <a:off x="8259779" y="1775616"/>
            <a:ext cx="10925486" cy="422275"/>
          </a:xfrm>
          <a:prstGeom prst="rect">
            <a:avLst/>
          </a:prstGeom>
        </p:spPr>
        <p:txBody>
          <a:bodyPr anchor="t" rtlCol="false" tIns="0" lIns="0" bIns="0" rIns="0">
            <a:spAutoFit/>
          </a:bodyPr>
          <a:lstStyle/>
          <a:p>
            <a:pPr algn="l">
              <a:lnSpc>
                <a:spcPts val="3499"/>
              </a:lnSpc>
            </a:pPr>
            <a:r>
              <a:rPr lang="en-US" sz="2499" b="true">
                <a:solidFill>
                  <a:srgbClr val="FF0000"/>
                </a:solidFill>
                <a:latin typeface="Garet Bold"/>
                <a:ea typeface="Garet Bold"/>
                <a:cs typeface="Garet Bold"/>
                <a:sym typeface="Garet Bold"/>
              </a:rPr>
              <a:t>Thực trạng hiện nay</a:t>
            </a:r>
          </a:p>
        </p:txBody>
      </p:sp>
      <p:sp>
        <p:nvSpPr>
          <p:cNvPr name="TextBox 35" id="35"/>
          <p:cNvSpPr txBox="true"/>
          <p:nvPr/>
        </p:nvSpPr>
        <p:spPr>
          <a:xfrm rot="0">
            <a:off x="8241835" y="4874358"/>
            <a:ext cx="9328172" cy="1369695"/>
          </a:xfrm>
          <a:prstGeom prst="rect">
            <a:avLst/>
          </a:prstGeom>
        </p:spPr>
        <p:txBody>
          <a:bodyPr anchor="t" rtlCol="false" tIns="0" lIns="0" bIns="0" rIns="0">
            <a:spAutoFit/>
          </a:bodyPr>
          <a:lstStyle/>
          <a:p>
            <a:pPr algn="just" marL="0" indent="0" lvl="0">
              <a:lnSpc>
                <a:spcPts val="3720"/>
              </a:lnSpc>
            </a:pPr>
            <a:r>
              <a:rPr lang="en-US" sz="2400">
                <a:solidFill>
                  <a:srgbClr val="000000"/>
                </a:solidFill>
                <a:latin typeface="Open Sans 1"/>
                <a:ea typeface="Open Sans 1"/>
                <a:cs typeface="Open Sans 1"/>
                <a:sym typeface="Open Sans 1"/>
              </a:rPr>
              <a:t>Cần một giải pháp hiện đại để số hóa quy trình quản lý, thay thế phương thức thủ công, đồng thời đảm bảo dữ liệu được lưu trữ tập trung, cập nhật liên tục và chính xác.</a:t>
            </a:r>
          </a:p>
        </p:txBody>
      </p:sp>
      <p:sp>
        <p:nvSpPr>
          <p:cNvPr name="TextBox 36" id="36"/>
          <p:cNvSpPr txBox="true"/>
          <p:nvPr/>
        </p:nvSpPr>
        <p:spPr>
          <a:xfrm rot="0">
            <a:off x="8241835" y="4349439"/>
            <a:ext cx="9328172" cy="422275"/>
          </a:xfrm>
          <a:prstGeom prst="rect">
            <a:avLst/>
          </a:prstGeom>
        </p:spPr>
        <p:txBody>
          <a:bodyPr anchor="t" rtlCol="false" tIns="0" lIns="0" bIns="0" rIns="0">
            <a:spAutoFit/>
          </a:bodyPr>
          <a:lstStyle/>
          <a:p>
            <a:pPr algn="l">
              <a:lnSpc>
                <a:spcPts val="3499"/>
              </a:lnSpc>
            </a:pPr>
            <a:r>
              <a:rPr lang="en-US" sz="2499" b="true">
                <a:solidFill>
                  <a:srgbClr val="FF0000"/>
                </a:solidFill>
                <a:latin typeface="Garet Bold"/>
                <a:ea typeface="Garet Bold"/>
                <a:cs typeface="Garet Bold"/>
                <a:sym typeface="Garet Bold"/>
              </a:rPr>
              <a:t>Nhu cầu người dùng</a:t>
            </a:r>
          </a:p>
        </p:txBody>
      </p:sp>
      <p:sp>
        <p:nvSpPr>
          <p:cNvPr name="TextBox 37" id="37"/>
          <p:cNvSpPr txBox="true"/>
          <p:nvPr/>
        </p:nvSpPr>
        <p:spPr>
          <a:xfrm rot="0">
            <a:off x="8259779" y="7401635"/>
            <a:ext cx="9731957" cy="1369695"/>
          </a:xfrm>
          <a:prstGeom prst="rect">
            <a:avLst/>
          </a:prstGeom>
        </p:spPr>
        <p:txBody>
          <a:bodyPr anchor="t" rtlCol="false" tIns="0" lIns="0" bIns="0" rIns="0">
            <a:spAutoFit/>
          </a:bodyPr>
          <a:lstStyle/>
          <a:p>
            <a:pPr algn="just" marL="0" indent="0" lvl="0">
              <a:lnSpc>
                <a:spcPts val="3720"/>
              </a:lnSpc>
            </a:pPr>
            <a:r>
              <a:rPr lang="en-US" sz="2400">
                <a:solidFill>
                  <a:srgbClr val="000000"/>
                </a:solidFill>
                <a:latin typeface="Open Sans 1"/>
                <a:ea typeface="Open Sans 1"/>
                <a:cs typeface="Open Sans 1"/>
                <a:sym typeface="Open Sans 1"/>
              </a:rPr>
              <a:t>Xây dựng website quản lý mượn – trả thiết bị, cho phép đăng ký trực tuyến, theo dõi thiết bị và tự động báo cáo, giúp nâng cao hiệu quả quản lý.</a:t>
            </a:r>
          </a:p>
        </p:txBody>
      </p:sp>
      <p:sp>
        <p:nvSpPr>
          <p:cNvPr name="TextBox 38" id="38"/>
          <p:cNvSpPr txBox="true"/>
          <p:nvPr/>
        </p:nvSpPr>
        <p:spPr>
          <a:xfrm rot="0">
            <a:off x="8259779" y="6876716"/>
            <a:ext cx="9328172" cy="422275"/>
          </a:xfrm>
          <a:prstGeom prst="rect">
            <a:avLst/>
          </a:prstGeom>
        </p:spPr>
        <p:txBody>
          <a:bodyPr anchor="t" rtlCol="false" tIns="0" lIns="0" bIns="0" rIns="0">
            <a:spAutoFit/>
          </a:bodyPr>
          <a:lstStyle/>
          <a:p>
            <a:pPr algn="l">
              <a:lnSpc>
                <a:spcPts val="3499"/>
              </a:lnSpc>
            </a:pPr>
            <a:r>
              <a:rPr lang="en-US" sz="2499" b="true">
                <a:solidFill>
                  <a:srgbClr val="FF0000"/>
                </a:solidFill>
                <a:latin typeface="Garet Bold"/>
                <a:ea typeface="Garet Bold"/>
                <a:cs typeface="Garet Bold"/>
                <a:sym typeface="Garet Bold"/>
              </a:rPr>
              <a:t>Giải pháp quyết định</a:t>
            </a:r>
          </a:p>
        </p:txBody>
      </p:sp>
      <p:sp>
        <p:nvSpPr>
          <p:cNvPr name="TextBox 39" id="39"/>
          <p:cNvSpPr txBox="true"/>
          <p:nvPr/>
        </p:nvSpPr>
        <p:spPr>
          <a:xfrm rot="0">
            <a:off x="1028700" y="615069"/>
            <a:ext cx="8682481"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1. LÝ DO CHỌN ĐỀ TÀI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62065">
            <a:off x="-2708658" y="4484182"/>
            <a:ext cx="14270748" cy="5838033"/>
          </a:xfrm>
          <a:custGeom>
            <a:avLst/>
            <a:gdLst/>
            <a:ahLst/>
            <a:cxnLst/>
            <a:rect r="r" b="b" t="t" l="l"/>
            <a:pathLst>
              <a:path h="5838033" w="14270748">
                <a:moveTo>
                  <a:pt x="0" y="0"/>
                </a:moveTo>
                <a:lnTo>
                  <a:pt x="14270748" y="0"/>
                </a:lnTo>
                <a:lnTo>
                  <a:pt x="14270748" y="5838033"/>
                </a:lnTo>
                <a:lnTo>
                  <a:pt x="0" y="5838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649" y="9248775"/>
            <a:ext cx="16891302" cy="19050"/>
            <a:chOff x="0" y="0"/>
            <a:chExt cx="22521736" cy="25400"/>
          </a:xfrm>
        </p:grpSpPr>
        <p:sp>
          <p:nvSpPr>
            <p:cNvPr name="Freeform 4" id="4"/>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5" id="5"/>
          <p:cNvGrpSpPr/>
          <p:nvPr/>
        </p:nvGrpSpPr>
        <p:grpSpPr>
          <a:xfrm rot="0">
            <a:off x="1019185" y="1014412"/>
            <a:ext cx="14681892" cy="23812"/>
            <a:chOff x="0" y="0"/>
            <a:chExt cx="19575856" cy="31750"/>
          </a:xfrm>
        </p:grpSpPr>
        <p:sp>
          <p:nvSpPr>
            <p:cNvPr name="Freeform 6" id="6"/>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TextBox 7" id="7"/>
          <p:cNvSpPr txBox="true"/>
          <p:nvPr/>
        </p:nvSpPr>
        <p:spPr>
          <a:xfrm rot="0">
            <a:off x="763324" y="9350588"/>
            <a:ext cx="14982825" cy="40957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8" id="8"/>
          <p:cNvSpPr txBox="true"/>
          <p:nvPr/>
        </p:nvSpPr>
        <p:spPr>
          <a:xfrm rot="0">
            <a:off x="17259300" y="9350588"/>
            <a:ext cx="192881" cy="40957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4</a:t>
            </a:r>
          </a:p>
        </p:txBody>
      </p:sp>
      <p:sp>
        <p:nvSpPr>
          <p:cNvPr name="TextBox 9" id="9"/>
          <p:cNvSpPr txBox="true"/>
          <p:nvPr/>
        </p:nvSpPr>
        <p:spPr>
          <a:xfrm rot="0">
            <a:off x="2343992" y="4270057"/>
            <a:ext cx="13600016" cy="1556385"/>
          </a:xfrm>
          <a:prstGeom prst="rect">
            <a:avLst/>
          </a:prstGeom>
        </p:spPr>
        <p:txBody>
          <a:bodyPr anchor="t" rtlCol="false" tIns="0" lIns="0" bIns="0" rIns="0">
            <a:spAutoFit/>
          </a:bodyPr>
          <a:lstStyle/>
          <a:p>
            <a:pPr algn="l">
              <a:lnSpc>
                <a:spcPts val="12869"/>
              </a:lnSpc>
            </a:pPr>
            <a:r>
              <a:rPr lang="en-US" b="true" sz="9000" spc="719">
                <a:solidFill>
                  <a:srgbClr val="0345E4"/>
                </a:solidFill>
                <a:latin typeface="Garet Bold"/>
                <a:ea typeface="Garet Bold"/>
                <a:cs typeface="Garet Bold"/>
                <a:sym typeface="Garet Bold"/>
              </a:rPr>
              <a:t>2. CƠ SỞ LÝ THUYẾT</a:t>
            </a:r>
          </a:p>
        </p:txBody>
      </p:sp>
      <p:sp>
        <p:nvSpPr>
          <p:cNvPr name="Freeform 10" id="10"/>
          <p:cNvSpPr/>
          <p:nvPr/>
        </p:nvSpPr>
        <p:spPr>
          <a:xfrm flipH="false" flipV="false" rot="0">
            <a:off x="7029861" y="-1737274"/>
            <a:ext cx="11919735" cy="4876255"/>
          </a:xfrm>
          <a:custGeom>
            <a:avLst/>
            <a:gdLst/>
            <a:ahLst/>
            <a:cxnLst/>
            <a:rect r="r" b="b" t="t" l="l"/>
            <a:pathLst>
              <a:path h="4876255" w="11919735">
                <a:moveTo>
                  <a:pt x="0" y="0"/>
                </a:moveTo>
                <a:lnTo>
                  <a:pt x="11919734" y="0"/>
                </a:lnTo>
                <a:lnTo>
                  <a:pt x="11919734" y="4876255"/>
                </a:lnTo>
                <a:lnTo>
                  <a:pt x="0" y="4876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grpSp>
        <p:nvGrpSpPr>
          <p:cNvPr name="Group 7" id="7"/>
          <p:cNvGrpSpPr/>
          <p:nvPr/>
        </p:nvGrpSpPr>
        <p:grpSpPr>
          <a:xfrm rot="0">
            <a:off x="2016497" y="1829355"/>
            <a:ext cx="3355755" cy="795405"/>
            <a:chOff x="0" y="0"/>
            <a:chExt cx="1117978" cy="264991"/>
          </a:xfrm>
        </p:grpSpPr>
        <p:sp>
          <p:nvSpPr>
            <p:cNvPr name="Freeform 8" id="8"/>
            <p:cNvSpPr/>
            <p:nvPr/>
          </p:nvSpPr>
          <p:spPr>
            <a:xfrm flipH="false" flipV="false" rot="0">
              <a:off x="0" y="0"/>
              <a:ext cx="1117978" cy="264991"/>
            </a:xfrm>
            <a:custGeom>
              <a:avLst/>
              <a:gdLst/>
              <a:ahLst/>
              <a:cxnLst/>
              <a:rect r="r" b="b" t="t" l="l"/>
              <a:pathLst>
                <a:path h="264991" w="1117978">
                  <a:moveTo>
                    <a:pt x="110739" y="0"/>
                  </a:moveTo>
                  <a:lnTo>
                    <a:pt x="1007239" y="0"/>
                  </a:lnTo>
                  <a:cubicBezTo>
                    <a:pt x="1036609" y="0"/>
                    <a:pt x="1064776" y="11667"/>
                    <a:pt x="1085543" y="32435"/>
                  </a:cubicBezTo>
                  <a:cubicBezTo>
                    <a:pt x="1106311" y="53202"/>
                    <a:pt x="1117978" y="81369"/>
                    <a:pt x="1117978" y="110739"/>
                  </a:cubicBezTo>
                  <a:lnTo>
                    <a:pt x="1117978" y="154253"/>
                  </a:lnTo>
                  <a:cubicBezTo>
                    <a:pt x="1117978" y="183622"/>
                    <a:pt x="1106311" y="211789"/>
                    <a:pt x="1085543" y="232557"/>
                  </a:cubicBezTo>
                  <a:cubicBezTo>
                    <a:pt x="1064776" y="253324"/>
                    <a:pt x="1036609" y="264991"/>
                    <a:pt x="1007239" y="264991"/>
                  </a:cubicBezTo>
                  <a:lnTo>
                    <a:pt x="110739" y="264991"/>
                  </a:lnTo>
                  <a:cubicBezTo>
                    <a:pt x="81369" y="264991"/>
                    <a:pt x="53202" y="253324"/>
                    <a:pt x="32435" y="232557"/>
                  </a:cubicBezTo>
                  <a:cubicBezTo>
                    <a:pt x="11667" y="211789"/>
                    <a:pt x="0" y="183622"/>
                    <a:pt x="0" y="154253"/>
                  </a:cubicBezTo>
                  <a:lnTo>
                    <a:pt x="0" y="110739"/>
                  </a:lnTo>
                  <a:cubicBezTo>
                    <a:pt x="0" y="81369"/>
                    <a:pt x="11667" y="53202"/>
                    <a:pt x="32435" y="32435"/>
                  </a:cubicBezTo>
                  <a:cubicBezTo>
                    <a:pt x="53202" y="11667"/>
                    <a:pt x="81369" y="0"/>
                    <a:pt x="110739" y="0"/>
                  </a:cubicBezTo>
                  <a:close/>
                </a:path>
              </a:pathLst>
            </a:custGeom>
            <a:solidFill>
              <a:srgbClr val="0345E4"/>
            </a:solidFill>
          </p:spPr>
        </p:sp>
        <p:sp>
          <p:nvSpPr>
            <p:cNvPr name="TextBox 9" id="9"/>
            <p:cNvSpPr txBox="true"/>
            <p:nvPr/>
          </p:nvSpPr>
          <p:spPr>
            <a:xfrm>
              <a:off x="0" y="-38100"/>
              <a:ext cx="1117978" cy="303091"/>
            </a:xfrm>
            <a:prstGeom prst="rect">
              <a:avLst/>
            </a:prstGeom>
          </p:spPr>
          <p:txBody>
            <a:bodyPr anchor="ctr" rtlCol="false" tIns="50800" lIns="50800" bIns="50800" rIns="50800"/>
            <a:lstStyle/>
            <a:p>
              <a:pPr algn="ctr">
                <a:lnSpc>
                  <a:spcPts val="2659"/>
                </a:lnSpc>
              </a:pPr>
            </a:p>
          </p:txBody>
        </p:sp>
      </p:grpSp>
      <p:grpSp>
        <p:nvGrpSpPr>
          <p:cNvPr name="Group 10" id="10"/>
          <p:cNvGrpSpPr>
            <a:grpSpLocks noChangeAspect="true"/>
          </p:cNvGrpSpPr>
          <p:nvPr/>
        </p:nvGrpSpPr>
        <p:grpSpPr>
          <a:xfrm rot="0">
            <a:off x="8148424" y="1925243"/>
            <a:ext cx="2173071" cy="2173071"/>
            <a:chOff x="0" y="0"/>
            <a:chExt cx="14840029" cy="14840029"/>
          </a:xfrm>
        </p:grpSpPr>
        <p:sp>
          <p:nvSpPr>
            <p:cNvPr name="Freeform 11" id="1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12" id="1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345E4"/>
            </a:solidFill>
          </p:spPr>
        </p:sp>
        <p:sp>
          <p:nvSpPr>
            <p:cNvPr name="Freeform 13" id="1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11687" t="-14954" r="-20123" b="-17446"/>
              </a:stretch>
            </a:blipFill>
          </p:spPr>
        </p:sp>
      </p:grpSp>
      <p:grpSp>
        <p:nvGrpSpPr>
          <p:cNvPr name="Group 14" id="14"/>
          <p:cNvGrpSpPr/>
          <p:nvPr/>
        </p:nvGrpSpPr>
        <p:grpSpPr>
          <a:xfrm rot="0">
            <a:off x="12710423" y="1758119"/>
            <a:ext cx="2867901" cy="523980"/>
            <a:chOff x="0" y="0"/>
            <a:chExt cx="2331055" cy="425895"/>
          </a:xfrm>
        </p:grpSpPr>
        <p:sp>
          <p:nvSpPr>
            <p:cNvPr name="Freeform 15" id="15"/>
            <p:cNvSpPr/>
            <p:nvPr/>
          </p:nvSpPr>
          <p:spPr>
            <a:xfrm flipH="false" flipV="false" rot="0">
              <a:off x="0" y="0"/>
              <a:ext cx="2331055" cy="425895"/>
            </a:xfrm>
            <a:custGeom>
              <a:avLst/>
              <a:gdLst/>
              <a:ahLst/>
              <a:cxnLst/>
              <a:rect r="r" b="b" t="t" l="l"/>
              <a:pathLst>
                <a:path h="425895" w="2331055">
                  <a:moveTo>
                    <a:pt x="2127855" y="0"/>
                  </a:moveTo>
                  <a:cubicBezTo>
                    <a:pt x="2240079" y="0"/>
                    <a:pt x="2331055" y="95340"/>
                    <a:pt x="2331055" y="212948"/>
                  </a:cubicBezTo>
                  <a:cubicBezTo>
                    <a:pt x="2331055" y="330556"/>
                    <a:pt x="2240079" y="425895"/>
                    <a:pt x="2127855" y="425895"/>
                  </a:cubicBezTo>
                  <a:lnTo>
                    <a:pt x="203200" y="425895"/>
                  </a:lnTo>
                  <a:cubicBezTo>
                    <a:pt x="90976" y="425895"/>
                    <a:pt x="0" y="330556"/>
                    <a:pt x="0" y="212948"/>
                  </a:cubicBezTo>
                  <a:cubicBezTo>
                    <a:pt x="0" y="95340"/>
                    <a:pt x="90976" y="0"/>
                    <a:pt x="203200" y="0"/>
                  </a:cubicBezTo>
                  <a:close/>
                </a:path>
              </a:pathLst>
            </a:custGeom>
            <a:solidFill>
              <a:srgbClr val="0345E4"/>
            </a:solidFill>
          </p:spPr>
        </p:sp>
        <p:sp>
          <p:nvSpPr>
            <p:cNvPr name="TextBox 16" id="16"/>
            <p:cNvSpPr txBox="true"/>
            <p:nvPr/>
          </p:nvSpPr>
          <p:spPr>
            <a:xfrm>
              <a:off x="0" y="-28575"/>
              <a:ext cx="2331055" cy="454470"/>
            </a:xfrm>
            <a:prstGeom prst="rect">
              <a:avLst/>
            </a:prstGeom>
          </p:spPr>
          <p:txBody>
            <a:bodyPr anchor="ctr" rtlCol="false" tIns="50800" lIns="50800" bIns="50800" rIns="50800"/>
            <a:lstStyle/>
            <a:p>
              <a:pPr algn="ctr">
                <a:lnSpc>
                  <a:spcPts val="2799"/>
                </a:lnSpc>
              </a:pPr>
              <a:r>
                <a:rPr lang="en-US" b="true" sz="1999">
                  <a:solidFill>
                    <a:srgbClr val="FFFFFF"/>
                  </a:solidFill>
                  <a:latin typeface="Garet Bold"/>
                  <a:ea typeface="Garet Bold"/>
                  <a:cs typeface="Garet Bold"/>
                  <a:sym typeface="Garet Bold"/>
                </a:rPr>
                <a:t>Đặc điểm của PHP</a:t>
              </a:r>
            </a:p>
          </p:txBody>
        </p:sp>
      </p:grpSp>
      <p:grpSp>
        <p:nvGrpSpPr>
          <p:cNvPr name="Group 17" id="17"/>
          <p:cNvGrpSpPr/>
          <p:nvPr/>
        </p:nvGrpSpPr>
        <p:grpSpPr>
          <a:xfrm rot="0">
            <a:off x="10510588" y="2386874"/>
            <a:ext cx="7267571" cy="1441651"/>
            <a:chOff x="0" y="0"/>
            <a:chExt cx="2445501" cy="485108"/>
          </a:xfrm>
        </p:grpSpPr>
        <p:sp>
          <p:nvSpPr>
            <p:cNvPr name="Freeform 18" id="18"/>
            <p:cNvSpPr/>
            <p:nvPr/>
          </p:nvSpPr>
          <p:spPr>
            <a:xfrm flipH="false" flipV="false" rot="0">
              <a:off x="0" y="0"/>
              <a:ext cx="2445502" cy="485108"/>
            </a:xfrm>
            <a:custGeom>
              <a:avLst/>
              <a:gdLst/>
              <a:ahLst/>
              <a:cxnLst/>
              <a:rect r="r" b="b" t="t" l="l"/>
              <a:pathLst>
                <a:path h="485108" w="2445502">
                  <a:moveTo>
                    <a:pt x="54329" y="0"/>
                  </a:moveTo>
                  <a:lnTo>
                    <a:pt x="2391173" y="0"/>
                  </a:lnTo>
                  <a:cubicBezTo>
                    <a:pt x="2421178" y="0"/>
                    <a:pt x="2445502" y="24324"/>
                    <a:pt x="2445502" y="54329"/>
                  </a:cubicBezTo>
                  <a:lnTo>
                    <a:pt x="2445502" y="430780"/>
                  </a:lnTo>
                  <a:cubicBezTo>
                    <a:pt x="2445502" y="460784"/>
                    <a:pt x="2421178" y="485108"/>
                    <a:pt x="2391173" y="485108"/>
                  </a:cubicBezTo>
                  <a:lnTo>
                    <a:pt x="54329" y="485108"/>
                  </a:lnTo>
                  <a:cubicBezTo>
                    <a:pt x="24324" y="485108"/>
                    <a:pt x="0" y="460784"/>
                    <a:pt x="0" y="430780"/>
                  </a:cubicBezTo>
                  <a:lnTo>
                    <a:pt x="0" y="54329"/>
                  </a:lnTo>
                  <a:cubicBezTo>
                    <a:pt x="0" y="24324"/>
                    <a:pt x="24324" y="0"/>
                    <a:pt x="54329" y="0"/>
                  </a:cubicBezTo>
                  <a:close/>
                </a:path>
              </a:pathLst>
            </a:custGeom>
            <a:solidFill>
              <a:srgbClr val="E8ECEC"/>
            </a:solidFill>
          </p:spPr>
        </p:sp>
        <p:sp>
          <p:nvSpPr>
            <p:cNvPr name="TextBox 19" id="19"/>
            <p:cNvSpPr txBox="true"/>
            <p:nvPr/>
          </p:nvSpPr>
          <p:spPr>
            <a:xfrm>
              <a:off x="0" y="-38100"/>
              <a:ext cx="2445501" cy="523208"/>
            </a:xfrm>
            <a:prstGeom prst="rect">
              <a:avLst/>
            </a:prstGeom>
          </p:spPr>
          <p:txBody>
            <a:bodyPr anchor="ctr" rtlCol="false" tIns="50800" lIns="50800" bIns="50800" rIns="50800"/>
            <a:lstStyle/>
            <a:p>
              <a:pPr algn="ctr">
                <a:lnSpc>
                  <a:spcPts val="2659"/>
                </a:lnSpc>
              </a:pPr>
            </a:p>
          </p:txBody>
        </p:sp>
      </p:grpSp>
      <p:grpSp>
        <p:nvGrpSpPr>
          <p:cNvPr name="Group 20" id="20"/>
          <p:cNvGrpSpPr>
            <a:grpSpLocks noChangeAspect="true"/>
          </p:cNvGrpSpPr>
          <p:nvPr/>
        </p:nvGrpSpPr>
        <p:grpSpPr>
          <a:xfrm rot="0">
            <a:off x="8148424" y="4445176"/>
            <a:ext cx="2173071" cy="2173071"/>
            <a:chOff x="0" y="0"/>
            <a:chExt cx="14840029" cy="14840029"/>
          </a:xfrm>
        </p:grpSpPr>
        <p:sp>
          <p:nvSpPr>
            <p:cNvPr name="Freeform 21" id="2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22" id="2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345E4"/>
            </a:solidFill>
          </p:spPr>
        </p:sp>
        <p:sp>
          <p:nvSpPr>
            <p:cNvPr name="Freeform 23" id="2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55559" t="-76550" r="-287451" b="-77651"/>
              </a:stretch>
            </a:blipFill>
          </p:spPr>
        </p:sp>
      </p:grpSp>
      <p:grpSp>
        <p:nvGrpSpPr>
          <p:cNvPr name="Group 24" id="24"/>
          <p:cNvGrpSpPr/>
          <p:nvPr/>
        </p:nvGrpSpPr>
        <p:grpSpPr>
          <a:xfrm rot="0">
            <a:off x="12736519" y="4222139"/>
            <a:ext cx="2867901" cy="523980"/>
            <a:chOff x="0" y="0"/>
            <a:chExt cx="2331055" cy="425895"/>
          </a:xfrm>
        </p:grpSpPr>
        <p:sp>
          <p:nvSpPr>
            <p:cNvPr name="Freeform 25" id="25"/>
            <p:cNvSpPr/>
            <p:nvPr/>
          </p:nvSpPr>
          <p:spPr>
            <a:xfrm flipH="false" flipV="false" rot="0">
              <a:off x="0" y="0"/>
              <a:ext cx="2331055" cy="425895"/>
            </a:xfrm>
            <a:custGeom>
              <a:avLst/>
              <a:gdLst/>
              <a:ahLst/>
              <a:cxnLst/>
              <a:rect r="r" b="b" t="t" l="l"/>
              <a:pathLst>
                <a:path h="425895" w="2331055">
                  <a:moveTo>
                    <a:pt x="2127855" y="0"/>
                  </a:moveTo>
                  <a:cubicBezTo>
                    <a:pt x="2240079" y="0"/>
                    <a:pt x="2331055" y="95340"/>
                    <a:pt x="2331055" y="212948"/>
                  </a:cubicBezTo>
                  <a:cubicBezTo>
                    <a:pt x="2331055" y="330556"/>
                    <a:pt x="2240079" y="425895"/>
                    <a:pt x="2127855" y="425895"/>
                  </a:cubicBezTo>
                  <a:lnTo>
                    <a:pt x="203200" y="425895"/>
                  </a:lnTo>
                  <a:cubicBezTo>
                    <a:pt x="90976" y="425895"/>
                    <a:pt x="0" y="330556"/>
                    <a:pt x="0" y="212948"/>
                  </a:cubicBezTo>
                  <a:cubicBezTo>
                    <a:pt x="0" y="95340"/>
                    <a:pt x="90976" y="0"/>
                    <a:pt x="203200" y="0"/>
                  </a:cubicBezTo>
                  <a:close/>
                </a:path>
              </a:pathLst>
            </a:custGeom>
            <a:solidFill>
              <a:srgbClr val="0345E4"/>
            </a:solidFill>
          </p:spPr>
        </p:sp>
        <p:sp>
          <p:nvSpPr>
            <p:cNvPr name="TextBox 26" id="26"/>
            <p:cNvSpPr txBox="true"/>
            <p:nvPr/>
          </p:nvSpPr>
          <p:spPr>
            <a:xfrm>
              <a:off x="0" y="-28575"/>
              <a:ext cx="2331055" cy="454470"/>
            </a:xfrm>
            <a:prstGeom prst="rect">
              <a:avLst/>
            </a:prstGeom>
          </p:spPr>
          <p:txBody>
            <a:bodyPr anchor="ctr" rtlCol="false" tIns="50800" lIns="50800" bIns="50800" rIns="50800"/>
            <a:lstStyle/>
            <a:p>
              <a:pPr algn="ctr">
                <a:lnSpc>
                  <a:spcPts val="2799"/>
                </a:lnSpc>
              </a:pPr>
              <a:r>
                <a:rPr lang="en-US" b="true" sz="1999">
                  <a:solidFill>
                    <a:srgbClr val="FFFFFF"/>
                  </a:solidFill>
                  <a:latin typeface="Garet Bold"/>
                  <a:ea typeface="Garet Bold"/>
                  <a:cs typeface="Garet Bold"/>
                  <a:sym typeface="Garet Bold"/>
                </a:rPr>
                <a:t>Cơ sở dữ liệu</a:t>
              </a:r>
            </a:p>
          </p:txBody>
        </p:sp>
      </p:grpSp>
      <p:grpSp>
        <p:nvGrpSpPr>
          <p:cNvPr name="Group 27" id="27"/>
          <p:cNvGrpSpPr/>
          <p:nvPr/>
        </p:nvGrpSpPr>
        <p:grpSpPr>
          <a:xfrm rot="0">
            <a:off x="10506127" y="4869944"/>
            <a:ext cx="7272032" cy="1463837"/>
            <a:chOff x="0" y="0"/>
            <a:chExt cx="2447003" cy="492574"/>
          </a:xfrm>
        </p:grpSpPr>
        <p:sp>
          <p:nvSpPr>
            <p:cNvPr name="Freeform 28" id="28"/>
            <p:cNvSpPr/>
            <p:nvPr/>
          </p:nvSpPr>
          <p:spPr>
            <a:xfrm flipH="false" flipV="false" rot="0">
              <a:off x="0" y="0"/>
              <a:ext cx="2447003" cy="492574"/>
            </a:xfrm>
            <a:custGeom>
              <a:avLst/>
              <a:gdLst/>
              <a:ahLst/>
              <a:cxnLst/>
              <a:rect r="r" b="b" t="t" l="l"/>
              <a:pathLst>
                <a:path h="492574" w="2447003">
                  <a:moveTo>
                    <a:pt x="54295" y="0"/>
                  </a:moveTo>
                  <a:lnTo>
                    <a:pt x="2392707" y="0"/>
                  </a:lnTo>
                  <a:cubicBezTo>
                    <a:pt x="2422694" y="0"/>
                    <a:pt x="2447003" y="24309"/>
                    <a:pt x="2447003" y="54295"/>
                  </a:cubicBezTo>
                  <a:lnTo>
                    <a:pt x="2447003" y="438278"/>
                  </a:lnTo>
                  <a:cubicBezTo>
                    <a:pt x="2447003" y="452678"/>
                    <a:pt x="2441282" y="466489"/>
                    <a:pt x="2431100" y="476671"/>
                  </a:cubicBezTo>
                  <a:cubicBezTo>
                    <a:pt x="2420918" y="486853"/>
                    <a:pt x="2407107" y="492574"/>
                    <a:pt x="2392707" y="492574"/>
                  </a:cubicBezTo>
                  <a:lnTo>
                    <a:pt x="54295" y="492574"/>
                  </a:lnTo>
                  <a:cubicBezTo>
                    <a:pt x="39895" y="492574"/>
                    <a:pt x="26085" y="486853"/>
                    <a:pt x="15903" y="476671"/>
                  </a:cubicBezTo>
                  <a:cubicBezTo>
                    <a:pt x="5720" y="466489"/>
                    <a:pt x="0" y="452678"/>
                    <a:pt x="0" y="438278"/>
                  </a:cubicBezTo>
                  <a:lnTo>
                    <a:pt x="0" y="54295"/>
                  </a:lnTo>
                  <a:cubicBezTo>
                    <a:pt x="0" y="39895"/>
                    <a:pt x="5720" y="26085"/>
                    <a:pt x="15903" y="15903"/>
                  </a:cubicBezTo>
                  <a:cubicBezTo>
                    <a:pt x="26085" y="5720"/>
                    <a:pt x="39895" y="0"/>
                    <a:pt x="54295" y="0"/>
                  </a:cubicBezTo>
                  <a:close/>
                </a:path>
              </a:pathLst>
            </a:custGeom>
            <a:solidFill>
              <a:srgbClr val="E8ECEC"/>
            </a:solidFill>
          </p:spPr>
        </p:sp>
        <p:sp>
          <p:nvSpPr>
            <p:cNvPr name="TextBox 29" id="29"/>
            <p:cNvSpPr txBox="true"/>
            <p:nvPr/>
          </p:nvSpPr>
          <p:spPr>
            <a:xfrm>
              <a:off x="0" y="-38100"/>
              <a:ext cx="2447003" cy="530674"/>
            </a:xfrm>
            <a:prstGeom prst="rect">
              <a:avLst/>
            </a:prstGeom>
          </p:spPr>
          <p:txBody>
            <a:bodyPr anchor="ctr" rtlCol="false" tIns="50800" lIns="50800" bIns="50800" rIns="50800"/>
            <a:lstStyle/>
            <a:p>
              <a:pPr algn="ctr">
                <a:lnSpc>
                  <a:spcPts val="2659"/>
                </a:lnSpc>
              </a:pPr>
            </a:p>
          </p:txBody>
        </p:sp>
      </p:grpSp>
      <p:grpSp>
        <p:nvGrpSpPr>
          <p:cNvPr name="Group 30" id="30"/>
          <p:cNvGrpSpPr>
            <a:grpSpLocks noChangeAspect="true"/>
          </p:cNvGrpSpPr>
          <p:nvPr/>
        </p:nvGrpSpPr>
        <p:grpSpPr>
          <a:xfrm rot="0">
            <a:off x="8148424" y="6965108"/>
            <a:ext cx="2173071" cy="2173071"/>
            <a:chOff x="0" y="0"/>
            <a:chExt cx="14840029" cy="14840029"/>
          </a:xfrm>
        </p:grpSpPr>
        <p:sp>
          <p:nvSpPr>
            <p:cNvPr name="Freeform 31" id="3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32" id="3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345E4"/>
            </a:solidFill>
          </p:spPr>
        </p:sp>
        <p:sp>
          <p:nvSpPr>
            <p:cNvPr name="Freeform 33" id="3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223" t="0" r="223" b="0"/>
              </a:stretch>
            </a:blipFill>
          </p:spPr>
        </p:sp>
      </p:grpSp>
      <p:grpSp>
        <p:nvGrpSpPr>
          <p:cNvPr name="Group 34" id="34"/>
          <p:cNvGrpSpPr/>
          <p:nvPr/>
        </p:nvGrpSpPr>
        <p:grpSpPr>
          <a:xfrm rot="0">
            <a:off x="12414161" y="6886503"/>
            <a:ext cx="3512619" cy="523980"/>
            <a:chOff x="0" y="0"/>
            <a:chExt cx="2855087" cy="425895"/>
          </a:xfrm>
        </p:grpSpPr>
        <p:sp>
          <p:nvSpPr>
            <p:cNvPr name="Freeform 35" id="35"/>
            <p:cNvSpPr/>
            <p:nvPr/>
          </p:nvSpPr>
          <p:spPr>
            <a:xfrm flipH="false" flipV="false" rot="0">
              <a:off x="0" y="0"/>
              <a:ext cx="2855087" cy="425895"/>
            </a:xfrm>
            <a:custGeom>
              <a:avLst/>
              <a:gdLst/>
              <a:ahLst/>
              <a:cxnLst/>
              <a:rect r="r" b="b" t="t" l="l"/>
              <a:pathLst>
                <a:path h="425895" w="2855087">
                  <a:moveTo>
                    <a:pt x="2651887" y="0"/>
                  </a:moveTo>
                  <a:cubicBezTo>
                    <a:pt x="2764111" y="0"/>
                    <a:pt x="2855087" y="95340"/>
                    <a:pt x="2855087" y="212948"/>
                  </a:cubicBezTo>
                  <a:cubicBezTo>
                    <a:pt x="2855087" y="330556"/>
                    <a:pt x="2764111" y="425895"/>
                    <a:pt x="2651887" y="425895"/>
                  </a:cubicBezTo>
                  <a:lnTo>
                    <a:pt x="203200" y="425895"/>
                  </a:lnTo>
                  <a:cubicBezTo>
                    <a:pt x="90976" y="425895"/>
                    <a:pt x="0" y="330556"/>
                    <a:pt x="0" y="212948"/>
                  </a:cubicBezTo>
                  <a:cubicBezTo>
                    <a:pt x="0" y="95340"/>
                    <a:pt x="90976" y="0"/>
                    <a:pt x="203200" y="0"/>
                  </a:cubicBezTo>
                  <a:close/>
                </a:path>
              </a:pathLst>
            </a:custGeom>
            <a:solidFill>
              <a:srgbClr val="0345E4"/>
            </a:solidFill>
          </p:spPr>
        </p:sp>
        <p:sp>
          <p:nvSpPr>
            <p:cNvPr name="TextBox 36" id="36"/>
            <p:cNvSpPr txBox="true"/>
            <p:nvPr/>
          </p:nvSpPr>
          <p:spPr>
            <a:xfrm>
              <a:off x="0" y="-28575"/>
              <a:ext cx="2855087" cy="454470"/>
            </a:xfrm>
            <a:prstGeom prst="rect">
              <a:avLst/>
            </a:prstGeom>
          </p:spPr>
          <p:txBody>
            <a:bodyPr anchor="ctr" rtlCol="false" tIns="50800" lIns="50800" bIns="50800" rIns="50800"/>
            <a:lstStyle/>
            <a:p>
              <a:pPr algn="ctr">
                <a:lnSpc>
                  <a:spcPts val="2799"/>
                </a:lnSpc>
              </a:pPr>
              <a:r>
                <a:rPr lang="en-US" b="true" sz="1999">
                  <a:solidFill>
                    <a:srgbClr val="FFFFFF"/>
                  </a:solidFill>
                  <a:latin typeface="Garet Bold"/>
                  <a:ea typeface="Garet Bold"/>
                  <a:cs typeface="Garet Bold"/>
                  <a:sym typeface="Garet Bold"/>
                </a:rPr>
                <a:t>Tính bảo mật và mở rộng</a:t>
              </a:r>
            </a:p>
          </p:txBody>
        </p:sp>
      </p:grpSp>
      <p:grpSp>
        <p:nvGrpSpPr>
          <p:cNvPr name="Group 37" id="37"/>
          <p:cNvGrpSpPr/>
          <p:nvPr/>
        </p:nvGrpSpPr>
        <p:grpSpPr>
          <a:xfrm rot="0">
            <a:off x="10506127" y="7534308"/>
            <a:ext cx="7272032" cy="1322295"/>
            <a:chOff x="0" y="0"/>
            <a:chExt cx="2447003" cy="444946"/>
          </a:xfrm>
        </p:grpSpPr>
        <p:sp>
          <p:nvSpPr>
            <p:cNvPr name="Freeform 38" id="38"/>
            <p:cNvSpPr/>
            <p:nvPr/>
          </p:nvSpPr>
          <p:spPr>
            <a:xfrm flipH="false" flipV="false" rot="0">
              <a:off x="0" y="0"/>
              <a:ext cx="2447003" cy="444946"/>
            </a:xfrm>
            <a:custGeom>
              <a:avLst/>
              <a:gdLst/>
              <a:ahLst/>
              <a:cxnLst/>
              <a:rect r="r" b="b" t="t" l="l"/>
              <a:pathLst>
                <a:path h="444946" w="2447003">
                  <a:moveTo>
                    <a:pt x="54295" y="0"/>
                  </a:moveTo>
                  <a:lnTo>
                    <a:pt x="2392707" y="0"/>
                  </a:lnTo>
                  <a:cubicBezTo>
                    <a:pt x="2422694" y="0"/>
                    <a:pt x="2447003" y="24309"/>
                    <a:pt x="2447003" y="54295"/>
                  </a:cubicBezTo>
                  <a:lnTo>
                    <a:pt x="2447003" y="390650"/>
                  </a:lnTo>
                  <a:cubicBezTo>
                    <a:pt x="2447003" y="405050"/>
                    <a:pt x="2441282" y="418860"/>
                    <a:pt x="2431100" y="429043"/>
                  </a:cubicBezTo>
                  <a:cubicBezTo>
                    <a:pt x="2420918" y="439225"/>
                    <a:pt x="2407107" y="444946"/>
                    <a:pt x="2392707" y="444946"/>
                  </a:cubicBezTo>
                  <a:lnTo>
                    <a:pt x="54295" y="444946"/>
                  </a:lnTo>
                  <a:cubicBezTo>
                    <a:pt x="39895" y="444946"/>
                    <a:pt x="26085" y="439225"/>
                    <a:pt x="15903" y="429043"/>
                  </a:cubicBezTo>
                  <a:cubicBezTo>
                    <a:pt x="5720" y="418860"/>
                    <a:pt x="0" y="405050"/>
                    <a:pt x="0" y="390650"/>
                  </a:cubicBezTo>
                  <a:lnTo>
                    <a:pt x="0" y="54295"/>
                  </a:lnTo>
                  <a:cubicBezTo>
                    <a:pt x="0" y="39895"/>
                    <a:pt x="5720" y="26085"/>
                    <a:pt x="15903" y="15903"/>
                  </a:cubicBezTo>
                  <a:cubicBezTo>
                    <a:pt x="26085" y="5720"/>
                    <a:pt x="39895" y="0"/>
                    <a:pt x="54295" y="0"/>
                  </a:cubicBezTo>
                  <a:close/>
                </a:path>
              </a:pathLst>
            </a:custGeom>
            <a:solidFill>
              <a:srgbClr val="E8ECEC"/>
            </a:solidFill>
          </p:spPr>
        </p:sp>
        <p:sp>
          <p:nvSpPr>
            <p:cNvPr name="TextBox 39" id="39"/>
            <p:cNvSpPr txBox="true"/>
            <p:nvPr/>
          </p:nvSpPr>
          <p:spPr>
            <a:xfrm>
              <a:off x="0" y="-38100"/>
              <a:ext cx="2447003" cy="483046"/>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820474" y="2841129"/>
            <a:ext cx="5711579" cy="1307926"/>
            <a:chOff x="0" y="0"/>
            <a:chExt cx="1968633" cy="450808"/>
          </a:xfrm>
        </p:grpSpPr>
        <p:sp>
          <p:nvSpPr>
            <p:cNvPr name="Freeform 41" id="41"/>
            <p:cNvSpPr/>
            <p:nvPr/>
          </p:nvSpPr>
          <p:spPr>
            <a:xfrm flipH="false" flipV="false" rot="0">
              <a:off x="0" y="0"/>
              <a:ext cx="1968633" cy="450808"/>
            </a:xfrm>
            <a:custGeom>
              <a:avLst/>
              <a:gdLst/>
              <a:ahLst/>
              <a:cxnLst/>
              <a:rect r="r" b="b" t="t" l="l"/>
              <a:pathLst>
                <a:path h="450808" w="1968633">
                  <a:moveTo>
                    <a:pt x="69129" y="0"/>
                  </a:moveTo>
                  <a:lnTo>
                    <a:pt x="1899504" y="0"/>
                  </a:lnTo>
                  <a:cubicBezTo>
                    <a:pt x="1917838" y="0"/>
                    <a:pt x="1935421" y="7283"/>
                    <a:pt x="1948385" y="20248"/>
                  </a:cubicBezTo>
                  <a:cubicBezTo>
                    <a:pt x="1961350" y="33212"/>
                    <a:pt x="1968633" y="50795"/>
                    <a:pt x="1968633" y="69129"/>
                  </a:cubicBezTo>
                  <a:lnTo>
                    <a:pt x="1968633" y="381679"/>
                  </a:lnTo>
                  <a:cubicBezTo>
                    <a:pt x="1968633" y="400013"/>
                    <a:pt x="1961350" y="417596"/>
                    <a:pt x="1948385" y="430561"/>
                  </a:cubicBezTo>
                  <a:cubicBezTo>
                    <a:pt x="1935421" y="443525"/>
                    <a:pt x="1917838" y="450808"/>
                    <a:pt x="1899504" y="450808"/>
                  </a:cubicBezTo>
                  <a:lnTo>
                    <a:pt x="69129" y="450808"/>
                  </a:lnTo>
                  <a:cubicBezTo>
                    <a:pt x="50795" y="450808"/>
                    <a:pt x="33212" y="443525"/>
                    <a:pt x="20248" y="430561"/>
                  </a:cubicBezTo>
                  <a:cubicBezTo>
                    <a:pt x="7283" y="417596"/>
                    <a:pt x="0" y="400013"/>
                    <a:pt x="0" y="381679"/>
                  </a:cubicBezTo>
                  <a:lnTo>
                    <a:pt x="0" y="69129"/>
                  </a:lnTo>
                  <a:cubicBezTo>
                    <a:pt x="0" y="50795"/>
                    <a:pt x="7283" y="33212"/>
                    <a:pt x="20248" y="20248"/>
                  </a:cubicBezTo>
                  <a:cubicBezTo>
                    <a:pt x="33212" y="7283"/>
                    <a:pt x="50795" y="0"/>
                    <a:pt x="69129" y="0"/>
                  </a:cubicBezTo>
                  <a:close/>
                </a:path>
              </a:pathLst>
            </a:custGeom>
            <a:solidFill>
              <a:srgbClr val="E8ECEC"/>
            </a:solidFill>
          </p:spPr>
        </p:sp>
        <p:sp>
          <p:nvSpPr>
            <p:cNvPr name="TextBox 42" id="42"/>
            <p:cNvSpPr txBox="true"/>
            <p:nvPr/>
          </p:nvSpPr>
          <p:spPr>
            <a:xfrm>
              <a:off x="0" y="-38100"/>
              <a:ext cx="1968633" cy="488908"/>
            </a:xfrm>
            <a:prstGeom prst="rect">
              <a:avLst/>
            </a:prstGeom>
          </p:spPr>
          <p:txBody>
            <a:bodyPr anchor="ctr" rtlCol="false" tIns="50800" lIns="50800" bIns="50800" rIns="50800"/>
            <a:lstStyle/>
            <a:p>
              <a:pPr algn="ctr">
                <a:lnSpc>
                  <a:spcPts val="2659"/>
                </a:lnSpc>
              </a:pPr>
            </a:p>
          </p:txBody>
        </p:sp>
      </p:grpSp>
      <p:sp>
        <p:nvSpPr>
          <p:cNvPr name="Freeform 43" id="43"/>
          <p:cNvSpPr/>
          <p:nvPr/>
        </p:nvSpPr>
        <p:spPr>
          <a:xfrm flipH="false" flipV="false" rot="0">
            <a:off x="255956" y="4314026"/>
            <a:ext cx="7492418" cy="4765030"/>
          </a:xfrm>
          <a:custGeom>
            <a:avLst/>
            <a:gdLst/>
            <a:ahLst/>
            <a:cxnLst/>
            <a:rect r="r" b="b" t="t" l="l"/>
            <a:pathLst>
              <a:path h="4765030" w="7492418">
                <a:moveTo>
                  <a:pt x="0" y="0"/>
                </a:moveTo>
                <a:lnTo>
                  <a:pt x="7492418" y="0"/>
                </a:lnTo>
                <a:lnTo>
                  <a:pt x="7492418" y="4765030"/>
                </a:lnTo>
                <a:lnTo>
                  <a:pt x="0" y="4765030"/>
                </a:lnTo>
                <a:lnTo>
                  <a:pt x="0" y="0"/>
                </a:lnTo>
                <a:close/>
              </a:path>
            </a:pathLst>
          </a:custGeom>
          <a:blipFill>
            <a:blip r:embed="rId6"/>
            <a:stretch>
              <a:fillRect l="-5995" t="0" r="-7067" b="0"/>
            </a:stretch>
          </a:blipFill>
        </p:spPr>
      </p:sp>
      <p:grpSp>
        <p:nvGrpSpPr>
          <p:cNvPr name="Group 44" id="44"/>
          <p:cNvGrpSpPr/>
          <p:nvPr/>
        </p:nvGrpSpPr>
        <p:grpSpPr>
          <a:xfrm rot="0">
            <a:off x="2597789" y="5906618"/>
            <a:ext cx="2726321" cy="1241875"/>
            <a:chOff x="0" y="0"/>
            <a:chExt cx="718044" cy="327078"/>
          </a:xfrm>
        </p:grpSpPr>
        <p:sp>
          <p:nvSpPr>
            <p:cNvPr name="Freeform 45" id="45"/>
            <p:cNvSpPr/>
            <p:nvPr/>
          </p:nvSpPr>
          <p:spPr>
            <a:xfrm flipH="false" flipV="false" rot="0">
              <a:off x="0" y="0"/>
              <a:ext cx="718044" cy="327078"/>
            </a:xfrm>
            <a:custGeom>
              <a:avLst/>
              <a:gdLst/>
              <a:ahLst/>
              <a:cxnLst/>
              <a:rect r="r" b="b" t="t" l="l"/>
              <a:pathLst>
                <a:path h="327078" w="718044">
                  <a:moveTo>
                    <a:pt x="48275" y="0"/>
                  </a:moveTo>
                  <a:lnTo>
                    <a:pt x="669769" y="0"/>
                  </a:lnTo>
                  <a:cubicBezTo>
                    <a:pt x="696430" y="0"/>
                    <a:pt x="718044" y="21613"/>
                    <a:pt x="718044" y="48275"/>
                  </a:cubicBezTo>
                  <a:lnTo>
                    <a:pt x="718044" y="278803"/>
                  </a:lnTo>
                  <a:cubicBezTo>
                    <a:pt x="718044" y="291607"/>
                    <a:pt x="712957" y="303886"/>
                    <a:pt x="703904" y="312939"/>
                  </a:cubicBezTo>
                  <a:cubicBezTo>
                    <a:pt x="694851" y="321992"/>
                    <a:pt x="682572" y="327078"/>
                    <a:pt x="669769" y="327078"/>
                  </a:cubicBezTo>
                  <a:lnTo>
                    <a:pt x="48275" y="327078"/>
                  </a:lnTo>
                  <a:cubicBezTo>
                    <a:pt x="21613" y="327078"/>
                    <a:pt x="0" y="305465"/>
                    <a:pt x="0" y="278803"/>
                  </a:cubicBezTo>
                  <a:lnTo>
                    <a:pt x="0" y="48275"/>
                  </a:lnTo>
                  <a:cubicBezTo>
                    <a:pt x="0" y="21613"/>
                    <a:pt x="21613" y="0"/>
                    <a:pt x="48275" y="0"/>
                  </a:cubicBezTo>
                  <a:close/>
                </a:path>
              </a:pathLst>
            </a:custGeom>
            <a:solidFill>
              <a:srgbClr val="FFFFFF"/>
            </a:solidFill>
          </p:spPr>
        </p:sp>
        <p:sp>
          <p:nvSpPr>
            <p:cNvPr name="TextBox 46" id="46"/>
            <p:cNvSpPr txBox="true"/>
            <p:nvPr/>
          </p:nvSpPr>
          <p:spPr>
            <a:xfrm>
              <a:off x="0" y="-19050"/>
              <a:ext cx="718044" cy="346128"/>
            </a:xfrm>
            <a:prstGeom prst="rect">
              <a:avLst/>
            </a:prstGeom>
          </p:spPr>
          <p:txBody>
            <a:bodyPr anchor="ctr" rtlCol="false" tIns="50800" lIns="50800" bIns="50800" rIns="50800"/>
            <a:lstStyle/>
            <a:p>
              <a:pPr algn="ctr">
                <a:lnSpc>
                  <a:spcPts val="3120"/>
                </a:lnSpc>
              </a:pPr>
            </a:p>
          </p:txBody>
        </p:sp>
      </p:grpSp>
      <p:sp>
        <p:nvSpPr>
          <p:cNvPr name="Freeform 47" id="47"/>
          <p:cNvSpPr/>
          <p:nvPr/>
        </p:nvSpPr>
        <p:spPr>
          <a:xfrm flipH="false" flipV="false" rot="0">
            <a:off x="2960430" y="5750297"/>
            <a:ext cx="2001040" cy="1766932"/>
          </a:xfrm>
          <a:custGeom>
            <a:avLst/>
            <a:gdLst/>
            <a:ahLst/>
            <a:cxnLst/>
            <a:rect r="r" b="b" t="t" l="l"/>
            <a:pathLst>
              <a:path h="1766932" w="2001040">
                <a:moveTo>
                  <a:pt x="0" y="0"/>
                </a:moveTo>
                <a:lnTo>
                  <a:pt x="2001040" y="0"/>
                </a:lnTo>
                <a:lnTo>
                  <a:pt x="2001040" y="1766932"/>
                </a:lnTo>
                <a:lnTo>
                  <a:pt x="0" y="1766932"/>
                </a:lnTo>
                <a:lnTo>
                  <a:pt x="0" y="0"/>
                </a:lnTo>
                <a:close/>
              </a:path>
            </a:pathLst>
          </a:custGeom>
          <a:blipFill>
            <a:blip r:embed="rId7"/>
            <a:stretch>
              <a:fillRect l="-15050" t="0" r="-11881" b="0"/>
            </a:stretch>
          </a:blipFill>
        </p:spPr>
      </p:sp>
      <p:sp>
        <p:nvSpPr>
          <p:cNvPr name="TextBox 48" id="48"/>
          <p:cNvSpPr txBox="true"/>
          <p:nvPr/>
        </p:nvSpPr>
        <p:spPr>
          <a:xfrm rot="0">
            <a:off x="763324" y="9350588"/>
            <a:ext cx="14982825" cy="40957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49" id="49"/>
          <p:cNvSpPr txBox="true"/>
          <p:nvPr/>
        </p:nvSpPr>
        <p:spPr>
          <a:xfrm rot="0">
            <a:off x="17259300" y="9350588"/>
            <a:ext cx="192881" cy="40957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5</a:t>
            </a:r>
          </a:p>
        </p:txBody>
      </p:sp>
      <p:sp>
        <p:nvSpPr>
          <p:cNvPr name="TextBox 50" id="50"/>
          <p:cNvSpPr txBox="true"/>
          <p:nvPr/>
        </p:nvSpPr>
        <p:spPr>
          <a:xfrm rot="0">
            <a:off x="1028700" y="615069"/>
            <a:ext cx="8590821"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2. TỔNG QUAN VỀ PHP</a:t>
            </a:r>
          </a:p>
        </p:txBody>
      </p:sp>
      <p:sp>
        <p:nvSpPr>
          <p:cNvPr name="TextBox 51" id="51"/>
          <p:cNvSpPr txBox="true"/>
          <p:nvPr/>
        </p:nvSpPr>
        <p:spPr>
          <a:xfrm rot="0">
            <a:off x="2101336" y="1954208"/>
            <a:ext cx="3322927" cy="506025"/>
          </a:xfrm>
          <a:prstGeom prst="rect">
            <a:avLst/>
          </a:prstGeom>
        </p:spPr>
        <p:txBody>
          <a:bodyPr anchor="t" rtlCol="false" tIns="0" lIns="0" bIns="0" rIns="0">
            <a:spAutoFit/>
          </a:bodyPr>
          <a:lstStyle/>
          <a:p>
            <a:pPr algn="ctr">
              <a:lnSpc>
                <a:spcPts val="4133"/>
              </a:lnSpc>
            </a:pPr>
            <a:r>
              <a:rPr lang="en-US" b="true" sz="2952" spc="59">
                <a:solidFill>
                  <a:srgbClr val="FFFFFF"/>
                </a:solidFill>
                <a:latin typeface="Garet Bold"/>
                <a:ea typeface="Garet Bold"/>
                <a:cs typeface="Garet Bold"/>
                <a:sym typeface="Garet Bold"/>
              </a:rPr>
              <a:t>PHP là gì ?</a:t>
            </a:r>
          </a:p>
        </p:txBody>
      </p:sp>
      <p:sp>
        <p:nvSpPr>
          <p:cNvPr name="TextBox 52" id="52"/>
          <p:cNvSpPr txBox="true"/>
          <p:nvPr/>
        </p:nvSpPr>
        <p:spPr>
          <a:xfrm rot="0">
            <a:off x="10724105" y="2558085"/>
            <a:ext cx="6728076" cy="1467145"/>
          </a:xfrm>
          <a:prstGeom prst="rect">
            <a:avLst/>
          </a:prstGeom>
        </p:spPr>
        <p:txBody>
          <a:bodyPr anchor="t" rtlCol="false" tIns="0" lIns="0" bIns="0" rIns="0">
            <a:spAutoFit/>
          </a:bodyPr>
          <a:lstStyle/>
          <a:p>
            <a:pPr algn="l" marL="414946" indent="-207473" lvl="1">
              <a:lnSpc>
                <a:spcPts val="2978"/>
              </a:lnSpc>
              <a:buFont typeface="Arial"/>
              <a:buChar char="•"/>
            </a:pPr>
            <a:r>
              <a:rPr lang="en-US" sz="1921">
                <a:solidFill>
                  <a:srgbClr val="000000"/>
                </a:solidFill>
                <a:latin typeface="Open Sans 1"/>
                <a:ea typeface="Open Sans 1"/>
                <a:cs typeface="Open Sans 1"/>
                <a:sym typeface="Open Sans 1"/>
              </a:rPr>
              <a:t>Không yêu cầu server cấu hình cao</a:t>
            </a:r>
          </a:p>
          <a:p>
            <a:pPr algn="l" marL="414946" indent="-207473" lvl="1">
              <a:lnSpc>
                <a:spcPts val="2978"/>
              </a:lnSpc>
              <a:buFont typeface="Arial"/>
              <a:buChar char="•"/>
            </a:pPr>
            <a:r>
              <a:rPr lang="en-US" sz="1921">
                <a:solidFill>
                  <a:srgbClr val="000000"/>
                </a:solidFill>
                <a:latin typeface="Open Sans 1"/>
                <a:ea typeface="Open Sans 1"/>
                <a:cs typeface="Open Sans 1"/>
                <a:sym typeface="Open Sans 1"/>
              </a:rPr>
              <a:t>Xử lý dữ liệu nhanh, phù hợp với các website động.</a:t>
            </a:r>
          </a:p>
          <a:p>
            <a:pPr algn="l" marL="414946" indent="-207473" lvl="1">
              <a:lnSpc>
                <a:spcPts val="2978"/>
              </a:lnSpc>
              <a:buFont typeface="Arial"/>
              <a:buChar char="•"/>
            </a:pPr>
            <a:r>
              <a:rPr lang="en-US" sz="1921">
                <a:solidFill>
                  <a:srgbClr val="000000"/>
                </a:solidFill>
                <a:latin typeface="Open Sans 1"/>
                <a:ea typeface="Open Sans 1"/>
                <a:cs typeface="Open Sans 1"/>
                <a:sym typeface="Open Sans 1"/>
              </a:rPr>
              <a:t>Dễ học, dễ triển khai và phổ biến trong phát triển web.</a:t>
            </a:r>
          </a:p>
          <a:p>
            <a:pPr algn="l" marL="0" indent="0" lvl="0">
              <a:lnSpc>
                <a:spcPts val="2978"/>
              </a:lnSpc>
            </a:pPr>
          </a:p>
        </p:txBody>
      </p:sp>
      <p:sp>
        <p:nvSpPr>
          <p:cNvPr name="TextBox 53" id="53"/>
          <p:cNvSpPr txBox="true"/>
          <p:nvPr/>
        </p:nvSpPr>
        <p:spPr>
          <a:xfrm rot="0">
            <a:off x="10724105" y="5028833"/>
            <a:ext cx="7919411" cy="1467145"/>
          </a:xfrm>
          <a:prstGeom prst="rect">
            <a:avLst/>
          </a:prstGeom>
        </p:spPr>
        <p:txBody>
          <a:bodyPr anchor="t" rtlCol="false" tIns="0" lIns="0" bIns="0" rIns="0">
            <a:spAutoFit/>
          </a:bodyPr>
          <a:lstStyle/>
          <a:p>
            <a:pPr algn="just" marL="414947" indent="-207474" lvl="1">
              <a:lnSpc>
                <a:spcPts val="2979"/>
              </a:lnSpc>
              <a:buFont typeface="Arial"/>
              <a:buChar char="•"/>
            </a:pPr>
            <a:r>
              <a:rPr lang="en-US" sz="1921">
                <a:solidFill>
                  <a:srgbClr val="000000"/>
                </a:solidFill>
                <a:latin typeface="Open Sans 1"/>
                <a:ea typeface="Open Sans 1"/>
                <a:cs typeface="Open Sans 1"/>
                <a:sym typeface="Open Sans 1"/>
              </a:rPr>
              <a:t>PHP hỗ trợ kết nối nhiều hệ quản trị CSDL.</a:t>
            </a:r>
          </a:p>
          <a:p>
            <a:pPr algn="just" marL="414947" indent="-207474" lvl="1">
              <a:lnSpc>
                <a:spcPts val="2979"/>
              </a:lnSpc>
              <a:buFont typeface="Arial"/>
              <a:buChar char="•"/>
            </a:pPr>
            <a:r>
              <a:rPr lang="en-US" sz="1921">
                <a:solidFill>
                  <a:srgbClr val="000000"/>
                </a:solidFill>
                <a:latin typeface="Open Sans 1"/>
                <a:ea typeface="Open Sans 1"/>
                <a:cs typeface="Open Sans 1"/>
                <a:sym typeface="Open Sans 1"/>
              </a:rPr>
              <a:t>T</a:t>
            </a:r>
            <a:r>
              <a:rPr lang="en-US" sz="1921">
                <a:solidFill>
                  <a:srgbClr val="000000"/>
                </a:solidFill>
                <a:latin typeface="Open Sans 1"/>
                <a:ea typeface="Open Sans 1"/>
                <a:cs typeface="Open Sans 1"/>
                <a:sym typeface="Open Sans 1"/>
              </a:rPr>
              <a:t>hao tác dữ liệu nhanh</a:t>
            </a:r>
          </a:p>
          <a:p>
            <a:pPr algn="just" marL="414947" indent="-207474" lvl="1">
              <a:lnSpc>
                <a:spcPts val="2979"/>
              </a:lnSpc>
              <a:buFont typeface="Arial"/>
              <a:buChar char="•"/>
            </a:pPr>
            <a:r>
              <a:rPr lang="en-US" sz="1921">
                <a:solidFill>
                  <a:srgbClr val="000000"/>
                </a:solidFill>
                <a:latin typeface="Open Sans 1"/>
                <a:ea typeface="Open Sans 1"/>
                <a:cs typeface="Open Sans 1"/>
                <a:sym typeface="Open Sans 1"/>
              </a:rPr>
              <a:t>Phù hợp cho các hệ thống quản lý có dữ liệu lớn.</a:t>
            </a:r>
          </a:p>
          <a:p>
            <a:pPr algn="just">
              <a:lnSpc>
                <a:spcPts val="2979"/>
              </a:lnSpc>
            </a:pPr>
          </a:p>
        </p:txBody>
      </p:sp>
      <p:sp>
        <p:nvSpPr>
          <p:cNvPr name="TextBox 54" id="54"/>
          <p:cNvSpPr txBox="true"/>
          <p:nvPr/>
        </p:nvSpPr>
        <p:spPr>
          <a:xfrm rot="0">
            <a:off x="10708940" y="7611912"/>
            <a:ext cx="6866405" cy="1467145"/>
          </a:xfrm>
          <a:prstGeom prst="rect">
            <a:avLst/>
          </a:prstGeom>
        </p:spPr>
        <p:txBody>
          <a:bodyPr anchor="t" rtlCol="false" tIns="0" lIns="0" bIns="0" rIns="0">
            <a:spAutoFit/>
          </a:bodyPr>
          <a:lstStyle/>
          <a:p>
            <a:pPr algn="just" marL="414947" indent="-207474" lvl="1">
              <a:lnSpc>
                <a:spcPts val="2979"/>
              </a:lnSpc>
              <a:buFont typeface="Arial"/>
              <a:buChar char="•"/>
            </a:pPr>
            <a:r>
              <a:rPr lang="en-US" sz="1921">
                <a:solidFill>
                  <a:srgbClr val="000000"/>
                </a:solidFill>
                <a:latin typeface="Open Sans 1"/>
                <a:ea typeface="Open Sans 1"/>
                <a:cs typeface="Open Sans 1"/>
                <a:sym typeface="Open Sans 1"/>
              </a:rPr>
              <a:t>PHP hỗ trợ các cơ chế bảo mật như kiểm tra dữ liệu đầu vào, mã hóa.</a:t>
            </a:r>
          </a:p>
          <a:p>
            <a:pPr algn="just" marL="414947" indent="-207474" lvl="1">
              <a:lnSpc>
                <a:spcPts val="2979"/>
              </a:lnSpc>
              <a:buFont typeface="Arial"/>
              <a:buChar char="•"/>
            </a:pPr>
            <a:r>
              <a:rPr lang="en-US" sz="1921">
                <a:solidFill>
                  <a:srgbClr val="000000"/>
                </a:solidFill>
                <a:latin typeface="Open Sans 1"/>
                <a:ea typeface="Open Sans 1"/>
                <a:cs typeface="Open Sans 1"/>
                <a:sym typeface="Open Sans 1"/>
              </a:rPr>
              <a:t>Dễ dàng mở rộng chức năng theo nhu cầu hệ thống.</a:t>
            </a:r>
          </a:p>
          <a:p>
            <a:pPr algn="just">
              <a:lnSpc>
                <a:spcPts val="2979"/>
              </a:lnSpc>
            </a:pPr>
          </a:p>
        </p:txBody>
      </p:sp>
      <p:sp>
        <p:nvSpPr>
          <p:cNvPr name="TextBox 55" id="55"/>
          <p:cNvSpPr txBox="true"/>
          <p:nvPr/>
        </p:nvSpPr>
        <p:spPr>
          <a:xfrm rot="0">
            <a:off x="1113682" y="2897135"/>
            <a:ext cx="5213397" cy="1121438"/>
          </a:xfrm>
          <a:prstGeom prst="rect">
            <a:avLst/>
          </a:prstGeom>
        </p:spPr>
        <p:txBody>
          <a:bodyPr anchor="t" rtlCol="false" tIns="0" lIns="0" bIns="0" rIns="0">
            <a:spAutoFit/>
          </a:bodyPr>
          <a:lstStyle/>
          <a:p>
            <a:pPr algn="just" marL="0" indent="0" lvl="0">
              <a:lnSpc>
                <a:spcPts val="3070"/>
              </a:lnSpc>
            </a:pPr>
            <a:r>
              <a:rPr lang="en-US" sz="1981">
                <a:solidFill>
                  <a:srgbClr val="000000"/>
                </a:solidFill>
                <a:latin typeface="Open Sans 1"/>
                <a:ea typeface="Open Sans 1"/>
                <a:cs typeface="Open Sans 1"/>
                <a:sym typeface="Open Sans 1"/>
              </a:rPr>
              <a:t>PHP (Hypertext Preprocessor) là ngôn ngữ lập trình mã nguồn mở, chuyên dùng để phát triển các ứng dụng web động.</a:t>
            </a:r>
          </a:p>
        </p:txBody>
      </p:sp>
      <p:grpSp>
        <p:nvGrpSpPr>
          <p:cNvPr name="Group 56" id="56"/>
          <p:cNvGrpSpPr/>
          <p:nvPr/>
        </p:nvGrpSpPr>
        <p:grpSpPr>
          <a:xfrm rot="0">
            <a:off x="8232781" y="7049465"/>
            <a:ext cx="2004357" cy="2004357"/>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8" id="58"/>
            <p:cNvSpPr txBox="true"/>
            <p:nvPr/>
          </p:nvSpPr>
          <p:spPr>
            <a:xfrm>
              <a:off x="76200" y="57150"/>
              <a:ext cx="660400" cy="679450"/>
            </a:xfrm>
            <a:prstGeom prst="rect">
              <a:avLst/>
            </a:prstGeom>
          </p:spPr>
          <p:txBody>
            <a:bodyPr anchor="ctr" rtlCol="false" tIns="50800" lIns="50800" bIns="50800" rIns="50800"/>
            <a:lstStyle/>
            <a:p>
              <a:pPr algn="ctr">
                <a:lnSpc>
                  <a:spcPts val="3120"/>
                </a:lnSpc>
              </a:pPr>
            </a:p>
          </p:txBody>
        </p:sp>
      </p:grpSp>
      <p:grpSp>
        <p:nvGrpSpPr>
          <p:cNvPr name="Group 59" id="59"/>
          <p:cNvGrpSpPr>
            <a:grpSpLocks noChangeAspect="true"/>
          </p:cNvGrpSpPr>
          <p:nvPr/>
        </p:nvGrpSpPr>
        <p:grpSpPr>
          <a:xfrm rot="0">
            <a:off x="8207407" y="7023950"/>
            <a:ext cx="2055106" cy="2055106"/>
            <a:chOff x="0" y="0"/>
            <a:chExt cx="14840029" cy="14840029"/>
          </a:xfrm>
        </p:grpSpPr>
        <p:sp>
          <p:nvSpPr>
            <p:cNvPr name="Freeform 60" id="60"/>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61" id="61"/>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4F8FF"/>
            </a:solidFill>
          </p:spPr>
        </p:sp>
        <p:sp>
          <p:nvSpPr>
            <p:cNvPr name="Freeform 62" id="62"/>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8"/>
              <a:stretch>
                <a:fillRect l="-44731" t="0" r="-44731"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grpSp>
        <p:nvGrpSpPr>
          <p:cNvPr name="Group 7" id="7"/>
          <p:cNvGrpSpPr/>
          <p:nvPr/>
        </p:nvGrpSpPr>
        <p:grpSpPr>
          <a:xfrm rot="0">
            <a:off x="2016497" y="1829355"/>
            <a:ext cx="3355755" cy="795405"/>
            <a:chOff x="0" y="0"/>
            <a:chExt cx="1117978" cy="264991"/>
          </a:xfrm>
        </p:grpSpPr>
        <p:sp>
          <p:nvSpPr>
            <p:cNvPr name="Freeform 8" id="8"/>
            <p:cNvSpPr/>
            <p:nvPr/>
          </p:nvSpPr>
          <p:spPr>
            <a:xfrm flipH="false" flipV="false" rot="0">
              <a:off x="0" y="0"/>
              <a:ext cx="1117978" cy="264991"/>
            </a:xfrm>
            <a:custGeom>
              <a:avLst/>
              <a:gdLst/>
              <a:ahLst/>
              <a:cxnLst/>
              <a:rect r="r" b="b" t="t" l="l"/>
              <a:pathLst>
                <a:path h="264991" w="1117978">
                  <a:moveTo>
                    <a:pt x="110739" y="0"/>
                  </a:moveTo>
                  <a:lnTo>
                    <a:pt x="1007239" y="0"/>
                  </a:lnTo>
                  <a:cubicBezTo>
                    <a:pt x="1036609" y="0"/>
                    <a:pt x="1064776" y="11667"/>
                    <a:pt x="1085543" y="32435"/>
                  </a:cubicBezTo>
                  <a:cubicBezTo>
                    <a:pt x="1106311" y="53202"/>
                    <a:pt x="1117978" y="81369"/>
                    <a:pt x="1117978" y="110739"/>
                  </a:cubicBezTo>
                  <a:lnTo>
                    <a:pt x="1117978" y="154253"/>
                  </a:lnTo>
                  <a:cubicBezTo>
                    <a:pt x="1117978" y="183622"/>
                    <a:pt x="1106311" y="211789"/>
                    <a:pt x="1085543" y="232557"/>
                  </a:cubicBezTo>
                  <a:cubicBezTo>
                    <a:pt x="1064776" y="253324"/>
                    <a:pt x="1036609" y="264991"/>
                    <a:pt x="1007239" y="264991"/>
                  </a:cubicBezTo>
                  <a:lnTo>
                    <a:pt x="110739" y="264991"/>
                  </a:lnTo>
                  <a:cubicBezTo>
                    <a:pt x="81369" y="264991"/>
                    <a:pt x="53202" y="253324"/>
                    <a:pt x="32435" y="232557"/>
                  </a:cubicBezTo>
                  <a:cubicBezTo>
                    <a:pt x="11667" y="211789"/>
                    <a:pt x="0" y="183622"/>
                    <a:pt x="0" y="154253"/>
                  </a:cubicBezTo>
                  <a:lnTo>
                    <a:pt x="0" y="110739"/>
                  </a:lnTo>
                  <a:cubicBezTo>
                    <a:pt x="0" y="81369"/>
                    <a:pt x="11667" y="53202"/>
                    <a:pt x="32435" y="32435"/>
                  </a:cubicBezTo>
                  <a:cubicBezTo>
                    <a:pt x="53202" y="11667"/>
                    <a:pt x="81369" y="0"/>
                    <a:pt x="110739" y="0"/>
                  </a:cubicBezTo>
                  <a:close/>
                </a:path>
              </a:pathLst>
            </a:custGeom>
            <a:solidFill>
              <a:srgbClr val="0345E4"/>
            </a:solidFill>
          </p:spPr>
        </p:sp>
        <p:sp>
          <p:nvSpPr>
            <p:cNvPr name="TextBox 9" id="9"/>
            <p:cNvSpPr txBox="true"/>
            <p:nvPr/>
          </p:nvSpPr>
          <p:spPr>
            <a:xfrm>
              <a:off x="0" y="-38100"/>
              <a:ext cx="1117978" cy="30309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2540776" y="1758119"/>
            <a:ext cx="3037548" cy="523980"/>
            <a:chOff x="0" y="0"/>
            <a:chExt cx="2468945" cy="425895"/>
          </a:xfrm>
        </p:grpSpPr>
        <p:sp>
          <p:nvSpPr>
            <p:cNvPr name="Freeform 11" id="11"/>
            <p:cNvSpPr/>
            <p:nvPr/>
          </p:nvSpPr>
          <p:spPr>
            <a:xfrm flipH="false" flipV="false" rot="0">
              <a:off x="0" y="0"/>
              <a:ext cx="2468945" cy="425895"/>
            </a:xfrm>
            <a:custGeom>
              <a:avLst/>
              <a:gdLst/>
              <a:ahLst/>
              <a:cxnLst/>
              <a:rect r="r" b="b" t="t" l="l"/>
              <a:pathLst>
                <a:path h="425895" w="2468945">
                  <a:moveTo>
                    <a:pt x="2265745" y="0"/>
                  </a:moveTo>
                  <a:cubicBezTo>
                    <a:pt x="2377970" y="0"/>
                    <a:pt x="2468945" y="95340"/>
                    <a:pt x="2468945" y="212948"/>
                  </a:cubicBezTo>
                  <a:cubicBezTo>
                    <a:pt x="2468945" y="330556"/>
                    <a:pt x="2377970" y="425895"/>
                    <a:pt x="2265745" y="425895"/>
                  </a:cubicBezTo>
                  <a:lnTo>
                    <a:pt x="203200" y="425895"/>
                  </a:lnTo>
                  <a:cubicBezTo>
                    <a:pt x="90976" y="425895"/>
                    <a:pt x="0" y="330556"/>
                    <a:pt x="0" y="212948"/>
                  </a:cubicBezTo>
                  <a:cubicBezTo>
                    <a:pt x="0" y="95340"/>
                    <a:pt x="90976" y="0"/>
                    <a:pt x="203200" y="0"/>
                  </a:cubicBezTo>
                  <a:close/>
                </a:path>
              </a:pathLst>
            </a:custGeom>
            <a:solidFill>
              <a:srgbClr val="0345E4"/>
            </a:solidFill>
          </p:spPr>
        </p:sp>
        <p:sp>
          <p:nvSpPr>
            <p:cNvPr name="TextBox 12" id="12"/>
            <p:cNvSpPr txBox="true"/>
            <p:nvPr/>
          </p:nvSpPr>
          <p:spPr>
            <a:xfrm>
              <a:off x="0" y="-28575"/>
              <a:ext cx="2468945" cy="454470"/>
            </a:xfrm>
            <a:prstGeom prst="rect">
              <a:avLst/>
            </a:prstGeom>
          </p:spPr>
          <p:txBody>
            <a:bodyPr anchor="ctr" rtlCol="false" tIns="50800" lIns="50800" bIns="50800" rIns="50800"/>
            <a:lstStyle/>
            <a:p>
              <a:pPr algn="ctr">
                <a:lnSpc>
                  <a:spcPts val="2799"/>
                </a:lnSpc>
              </a:pPr>
              <a:r>
                <a:rPr lang="en-US" b="true" sz="1999">
                  <a:solidFill>
                    <a:srgbClr val="FFFFFF"/>
                  </a:solidFill>
                  <a:latin typeface="Garet Bold"/>
                  <a:ea typeface="Garet Bold"/>
                  <a:cs typeface="Garet Bold"/>
                  <a:sym typeface="Garet Bold"/>
                </a:rPr>
                <a:t> Đặc điểm của MySQL</a:t>
              </a:r>
            </a:p>
          </p:txBody>
        </p:sp>
      </p:grpSp>
      <p:grpSp>
        <p:nvGrpSpPr>
          <p:cNvPr name="Group 13" id="13"/>
          <p:cNvGrpSpPr/>
          <p:nvPr/>
        </p:nvGrpSpPr>
        <p:grpSpPr>
          <a:xfrm rot="0">
            <a:off x="10510588" y="2386874"/>
            <a:ext cx="7267571" cy="1441651"/>
            <a:chOff x="0" y="0"/>
            <a:chExt cx="2445501" cy="485108"/>
          </a:xfrm>
        </p:grpSpPr>
        <p:sp>
          <p:nvSpPr>
            <p:cNvPr name="Freeform 14" id="14"/>
            <p:cNvSpPr/>
            <p:nvPr/>
          </p:nvSpPr>
          <p:spPr>
            <a:xfrm flipH="false" flipV="false" rot="0">
              <a:off x="0" y="0"/>
              <a:ext cx="2445502" cy="485108"/>
            </a:xfrm>
            <a:custGeom>
              <a:avLst/>
              <a:gdLst/>
              <a:ahLst/>
              <a:cxnLst/>
              <a:rect r="r" b="b" t="t" l="l"/>
              <a:pathLst>
                <a:path h="485108" w="2445502">
                  <a:moveTo>
                    <a:pt x="54329" y="0"/>
                  </a:moveTo>
                  <a:lnTo>
                    <a:pt x="2391173" y="0"/>
                  </a:lnTo>
                  <a:cubicBezTo>
                    <a:pt x="2421178" y="0"/>
                    <a:pt x="2445502" y="24324"/>
                    <a:pt x="2445502" y="54329"/>
                  </a:cubicBezTo>
                  <a:lnTo>
                    <a:pt x="2445502" y="430780"/>
                  </a:lnTo>
                  <a:cubicBezTo>
                    <a:pt x="2445502" y="460784"/>
                    <a:pt x="2421178" y="485108"/>
                    <a:pt x="2391173" y="485108"/>
                  </a:cubicBezTo>
                  <a:lnTo>
                    <a:pt x="54329" y="485108"/>
                  </a:lnTo>
                  <a:cubicBezTo>
                    <a:pt x="24324" y="485108"/>
                    <a:pt x="0" y="460784"/>
                    <a:pt x="0" y="430780"/>
                  </a:cubicBezTo>
                  <a:lnTo>
                    <a:pt x="0" y="54329"/>
                  </a:lnTo>
                  <a:cubicBezTo>
                    <a:pt x="0" y="24324"/>
                    <a:pt x="24324" y="0"/>
                    <a:pt x="54329" y="0"/>
                  </a:cubicBezTo>
                  <a:close/>
                </a:path>
              </a:pathLst>
            </a:custGeom>
            <a:solidFill>
              <a:srgbClr val="E8ECEC"/>
            </a:solidFill>
          </p:spPr>
        </p:sp>
        <p:sp>
          <p:nvSpPr>
            <p:cNvPr name="TextBox 15" id="15"/>
            <p:cNvSpPr txBox="true"/>
            <p:nvPr/>
          </p:nvSpPr>
          <p:spPr>
            <a:xfrm>
              <a:off x="0" y="-38100"/>
              <a:ext cx="2445501" cy="523208"/>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1888284" y="4260399"/>
            <a:ext cx="4564371" cy="523980"/>
            <a:chOff x="0" y="0"/>
            <a:chExt cx="3709960" cy="425895"/>
          </a:xfrm>
        </p:grpSpPr>
        <p:sp>
          <p:nvSpPr>
            <p:cNvPr name="Freeform 17" id="17"/>
            <p:cNvSpPr/>
            <p:nvPr/>
          </p:nvSpPr>
          <p:spPr>
            <a:xfrm flipH="false" flipV="false" rot="0">
              <a:off x="0" y="0"/>
              <a:ext cx="3709960" cy="425895"/>
            </a:xfrm>
            <a:custGeom>
              <a:avLst/>
              <a:gdLst/>
              <a:ahLst/>
              <a:cxnLst/>
              <a:rect r="r" b="b" t="t" l="l"/>
              <a:pathLst>
                <a:path h="425895" w="3709960">
                  <a:moveTo>
                    <a:pt x="3506760" y="0"/>
                  </a:moveTo>
                  <a:cubicBezTo>
                    <a:pt x="3618984" y="0"/>
                    <a:pt x="3709960" y="95340"/>
                    <a:pt x="3709960" y="212948"/>
                  </a:cubicBezTo>
                  <a:cubicBezTo>
                    <a:pt x="3709960" y="330556"/>
                    <a:pt x="3618984" y="425895"/>
                    <a:pt x="3506760" y="425895"/>
                  </a:cubicBezTo>
                  <a:lnTo>
                    <a:pt x="203200" y="425895"/>
                  </a:lnTo>
                  <a:cubicBezTo>
                    <a:pt x="90976" y="425895"/>
                    <a:pt x="0" y="330556"/>
                    <a:pt x="0" y="212948"/>
                  </a:cubicBezTo>
                  <a:cubicBezTo>
                    <a:pt x="0" y="95340"/>
                    <a:pt x="90976" y="0"/>
                    <a:pt x="203200" y="0"/>
                  </a:cubicBezTo>
                  <a:close/>
                </a:path>
              </a:pathLst>
            </a:custGeom>
            <a:solidFill>
              <a:srgbClr val="0345E4"/>
            </a:solidFill>
          </p:spPr>
        </p:sp>
        <p:sp>
          <p:nvSpPr>
            <p:cNvPr name="TextBox 18" id="18"/>
            <p:cNvSpPr txBox="true"/>
            <p:nvPr/>
          </p:nvSpPr>
          <p:spPr>
            <a:xfrm>
              <a:off x="0" y="-28575"/>
              <a:ext cx="3709960" cy="454470"/>
            </a:xfrm>
            <a:prstGeom prst="rect">
              <a:avLst/>
            </a:prstGeom>
          </p:spPr>
          <p:txBody>
            <a:bodyPr anchor="ctr" rtlCol="false" tIns="50800" lIns="50800" bIns="50800" rIns="50800"/>
            <a:lstStyle/>
            <a:p>
              <a:pPr algn="ctr">
                <a:lnSpc>
                  <a:spcPts val="2799"/>
                </a:lnSpc>
              </a:pPr>
              <a:r>
                <a:rPr lang="en-US" b="true" sz="1999">
                  <a:solidFill>
                    <a:srgbClr val="FFFFFF"/>
                  </a:solidFill>
                  <a:latin typeface="Garet Bold"/>
                  <a:ea typeface="Garet Bold"/>
                  <a:cs typeface="Garet Bold"/>
                  <a:sym typeface="Garet Bold"/>
                </a:rPr>
                <a:t>Tính bảo mật và phân quyền</a:t>
              </a:r>
            </a:p>
          </p:txBody>
        </p:sp>
      </p:grpSp>
      <p:grpSp>
        <p:nvGrpSpPr>
          <p:cNvPr name="Group 19" id="19"/>
          <p:cNvGrpSpPr/>
          <p:nvPr/>
        </p:nvGrpSpPr>
        <p:grpSpPr>
          <a:xfrm rot="0">
            <a:off x="10506127" y="4869944"/>
            <a:ext cx="7272032" cy="1463837"/>
            <a:chOff x="0" y="0"/>
            <a:chExt cx="2447003" cy="492574"/>
          </a:xfrm>
        </p:grpSpPr>
        <p:sp>
          <p:nvSpPr>
            <p:cNvPr name="Freeform 20" id="20"/>
            <p:cNvSpPr/>
            <p:nvPr/>
          </p:nvSpPr>
          <p:spPr>
            <a:xfrm flipH="false" flipV="false" rot="0">
              <a:off x="0" y="0"/>
              <a:ext cx="2447003" cy="492574"/>
            </a:xfrm>
            <a:custGeom>
              <a:avLst/>
              <a:gdLst/>
              <a:ahLst/>
              <a:cxnLst/>
              <a:rect r="r" b="b" t="t" l="l"/>
              <a:pathLst>
                <a:path h="492574" w="2447003">
                  <a:moveTo>
                    <a:pt x="54295" y="0"/>
                  </a:moveTo>
                  <a:lnTo>
                    <a:pt x="2392707" y="0"/>
                  </a:lnTo>
                  <a:cubicBezTo>
                    <a:pt x="2422694" y="0"/>
                    <a:pt x="2447003" y="24309"/>
                    <a:pt x="2447003" y="54295"/>
                  </a:cubicBezTo>
                  <a:lnTo>
                    <a:pt x="2447003" y="438278"/>
                  </a:lnTo>
                  <a:cubicBezTo>
                    <a:pt x="2447003" y="452678"/>
                    <a:pt x="2441282" y="466489"/>
                    <a:pt x="2431100" y="476671"/>
                  </a:cubicBezTo>
                  <a:cubicBezTo>
                    <a:pt x="2420918" y="486853"/>
                    <a:pt x="2407107" y="492574"/>
                    <a:pt x="2392707" y="492574"/>
                  </a:cubicBezTo>
                  <a:lnTo>
                    <a:pt x="54295" y="492574"/>
                  </a:lnTo>
                  <a:cubicBezTo>
                    <a:pt x="39895" y="492574"/>
                    <a:pt x="26085" y="486853"/>
                    <a:pt x="15903" y="476671"/>
                  </a:cubicBezTo>
                  <a:cubicBezTo>
                    <a:pt x="5720" y="466489"/>
                    <a:pt x="0" y="452678"/>
                    <a:pt x="0" y="438278"/>
                  </a:cubicBezTo>
                  <a:lnTo>
                    <a:pt x="0" y="54295"/>
                  </a:lnTo>
                  <a:cubicBezTo>
                    <a:pt x="0" y="39895"/>
                    <a:pt x="5720" y="26085"/>
                    <a:pt x="15903" y="15903"/>
                  </a:cubicBezTo>
                  <a:cubicBezTo>
                    <a:pt x="26085" y="5720"/>
                    <a:pt x="39895" y="0"/>
                    <a:pt x="54295" y="0"/>
                  </a:cubicBezTo>
                  <a:close/>
                </a:path>
              </a:pathLst>
            </a:custGeom>
            <a:solidFill>
              <a:srgbClr val="E8ECEC"/>
            </a:solidFill>
          </p:spPr>
        </p:sp>
        <p:sp>
          <p:nvSpPr>
            <p:cNvPr name="TextBox 21" id="21"/>
            <p:cNvSpPr txBox="true"/>
            <p:nvPr/>
          </p:nvSpPr>
          <p:spPr>
            <a:xfrm>
              <a:off x="0" y="-38100"/>
              <a:ext cx="2447003" cy="530674"/>
            </a:xfrm>
            <a:prstGeom prst="rect">
              <a:avLst/>
            </a:prstGeom>
          </p:spPr>
          <p:txBody>
            <a:bodyPr anchor="ctr" rtlCol="false" tIns="50800" lIns="50800" bIns="50800" rIns="50800"/>
            <a:lstStyle/>
            <a:p>
              <a:pPr algn="ctr">
                <a:lnSpc>
                  <a:spcPts val="2659"/>
                </a:lnSpc>
              </a:pPr>
            </a:p>
          </p:txBody>
        </p:sp>
      </p:grpSp>
      <p:grpSp>
        <p:nvGrpSpPr>
          <p:cNvPr name="Group 22" id="22"/>
          <p:cNvGrpSpPr>
            <a:grpSpLocks noChangeAspect="true"/>
          </p:cNvGrpSpPr>
          <p:nvPr/>
        </p:nvGrpSpPr>
        <p:grpSpPr>
          <a:xfrm rot="0">
            <a:off x="8148424" y="6965108"/>
            <a:ext cx="2173071" cy="2173071"/>
            <a:chOff x="0" y="0"/>
            <a:chExt cx="14840029" cy="14840029"/>
          </a:xfrm>
        </p:grpSpPr>
        <p:sp>
          <p:nvSpPr>
            <p:cNvPr name="Freeform 23" id="23"/>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24" id="24"/>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345E4"/>
            </a:solidFill>
          </p:spPr>
        </p:sp>
        <p:sp>
          <p:nvSpPr>
            <p:cNvPr name="Freeform 25" id="25"/>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223" t="0" r="223" b="0"/>
              </a:stretch>
            </a:blipFill>
          </p:spPr>
        </p:sp>
      </p:grpSp>
      <p:grpSp>
        <p:nvGrpSpPr>
          <p:cNvPr name="Group 26" id="26"/>
          <p:cNvGrpSpPr/>
          <p:nvPr/>
        </p:nvGrpSpPr>
        <p:grpSpPr>
          <a:xfrm rot="0">
            <a:off x="12414161" y="6886503"/>
            <a:ext cx="3512619" cy="523980"/>
            <a:chOff x="0" y="0"/>
            <a:chExt cx="2855087" cy="425895"/>
          </a:xfrm>
        </p:grpSpPr>
        <p:sp>
          <p:nvSpPr>
            <p:cNvPr name="Freeform 27" id="27"/>
            <p:cNvSpPr/>
            <p:nvPr/>
          </p:nvSpPr>
          <p:spPr>
            <a:xfrm flipH="false" flipV="false" rot="0">
              <a:off x="0" y="0"/>
              <a:ext cx="2855087" cy="425895"/>
            </a:xfrm>
            <a:custGeom>
              <a:avLst/>
              <a:gdLst/>
              <a:ahLst/>
              <a:cxnLst/>
              <a:rect r="r" b="b" t="t" l="l"/>
              <a:pathLst>
                <a:path h="425895" w="2855087">
                  <a:moveTo>
                    <a:pt x="2651887" y="0"/>
                  </a:moveTo>
                  <a:cubicBezTo>
                    <a:pt x="2764111" y="0"/>
                    <a:pt x="2855087" y="95340"/>
                    <a:pt x="2855087" y="212948"/>
                  </a:cubicBezTo>
                  <a:cubicBezTo>
                    <a:pt x="2855087" y="330556"/>
                    <a:pt x="2764111" y="425895"/>
                    <a:pt x="2651887" y="425895"/>
                  </a:cubicBezTo>
                  <a:lnTo>
                    <a:pt x="203200" y="425895"/>
                  </a:lnTo>
                  <a:cubicBezTo>
                    <a:pt x="90976" y="425895"/>
                    <a:pt x="0" y="330556"/>
                    <a:pt x="0" y="212948"/>
                  </a:cubicBezTo>
                  <a:cubicBezTo>
                    <a:pt x="0" y="95340"/>
                    <a:pt x="90976" y="0"/>
                    <a:pt x="203200" y="0"/>
                  </a:cubicBezTo>
                  <a:close/>
                </a:path>
              </a:pathLst>
            </a:custGeom>
            <a:solidFill>
              <a:srgbClr val="0345E4"/>
            </a:solidFill>
          </p:spPr>
        </p:sp>
        <p:sp>
          <p:nvSpPr>
            <p:cNvPr name="TextBox 28" id="28"/>
            <p:cNvSpPr txBox="true"/>
            <p:nvPr/>
          </p:nvSpPr>
          <p:spPr>
            <a:xfrm>
              <a:off x="0" y="-28575"/>
              <a:ext cx="2855087" cy="454470"/>
            </a:xfrm>
            <a:prstGeom prst="rect">
              <a:avLst/>
            </a:prstGeom>
          </p:spPr>
          <p:txBody>
            <a:bodyPr anchor="ctr" rtlCol="false" tIns="50800" lIns="50800" bIns="50800" rIns="50800"/>
            <a:lstStyle/>
            <a:p>
              <a:pPr algn="ctr">
                <a:lnSpc>
                  <a:spcPts val="2799"/>
                </a:lnSpc>
              </a:pPr>
              <a:r>
                <a:rPr lang="en-US" b="true" sz="1999">
                  <a:solidFill>
                    <a:srgbClr val="FFFFFF"/>
                  </a:solidFill>
                  <a:latin typeface="Garet Bold"/>
                  <a:ea typeface="Garet Bold"/>
                  <a:cs typeface="Garet Bold"/>
                  <a:sym typeface="Garet Bold"/>
                </a:rPr>
                <a:t>Vai trò trong hệ thống</a:t>
              </a:r>
            </a:p>
          </p:txBody>
        </p:sp>
      </p:grpSp>
      <p:grpSp>
        <p:nvGrpSpPr>
          <p:cNvPr name="Group 29" id="29"/>
          <p:cNvGrpSpPr/>
          <p:nvPr/>
        </p:nvGrpSpPr>
        <p:grpSpPr>
          <a:xfrm rot="0">
            <a:off x="10506127" y="7534308"/>
            <a:ext cx="7272032" cy="1322295"/>
            <a:chOff x="0" y="0"/>
            <a:chExt cx="2447003" cy="444946"/>
          </a:xfrm>
        </p:grpSpPr>
        <p:sp>
          <p:nvSpPr>
            <p:cNvPr name="Freeform 30" id="30"/>
            <p:cNvSpPr/>
            <p:nvPr/>
          </p:nvSpPr>
          <p:spPr>
            <a:xfrm flipH="false" flipV="false" rot="0">
              <a:off x="0" y="0"/>
              <a:ext cx="2447003" cy="444946"/>
            </a:xfrm>
            <a:custGeom>
              <a:avLst/>
              <a:gdLst/>
              <a:ahLst/>
              <a:cxnLst/>
              <a:rect r="r" b="b" t="t" l="l"/>
              <a:pathLst>
                <a:path h="444946" w="2447003">
                  <a:moveTo>
                    <a:pt x="54295" y="0"/>
                  </a:moveTo>
                  <a:lnTo>
                    <a:pt x="2392707" y="0"/>
                  </a:lnTo>
                  <a:cubicBezTo>
                    <a:pt x="2422694" y="0"/>
                    <a:pt x="2447003" y="24309"/>
                    <a:pt x="2447003" y="54295"/>
                  </a:cubicBezTo>
                  <a:lnTo>
                    <a:pt x="2447003" y="390650"/>
                  </a:lnTo>
                  <a:cubicBezTo>
                    <a:pt x="2447003" y="405050"/>
                    <a:pt x="2441282" y="418860"/>
                    <a:pt x="2431100" y="429043"/>
                  </a:cubicBezTo>
                  <a:cubicBezTo>
                    <a:pt x="2420918" y="439225"/>
                    <a:pt x="2407107" y="444946"/>
                    <a:pt x="2392707" y="444946"/>
                  </a:cubicBezTo>
                  <a:lnTo>
                    <a:pt x="54295" y="444946"/>
                  </a:lnTo>
                  <a:cubicBezTo>
                    <a:pt x="39895" y="444946"/>
                    <a:pt x="26085" y="439225"/>
                    <a:pt x="15903" y="429043"/>
                  </a:cubicBezTo>
                  <a:cubicBezTo>
                    <a:pt x="5720" y="418860"/>
                    <a:pt x="0" y="405050"/>
                    <a:pt x="0" y="390650"/>
                  </a:cubicBezTo>
                  <a:lnTo>
                    <a:pt x="0" y="54295"/>
                  </a:lnTo>
                  <a:cubicBezTo>
                    <a:pt x="0" y="39895"/>
                    <a:pt x="5720" y="26085"/>
                    <a:pt x="15903" y="15903"/>
                  </a:cubicBezTo>
                  <a:cubicBezTo>
                    <a:pt x="26085" y="5720"/>
                    <a:pt x="39895" y="0"/>
                    <a:pt x="54295" y="0"/>
                  </a:cubicBezTo>
                  <a:close/>
                </a:path>
              </a:pathLst>
            </a:custGeom>
            <a:solidFill>
              <a:srgbClr val="E8ECEC"/>
            </a:solidFill>
          </p:spPr>
        </p:sp>
        <p:sp>
          <p:nvSpPr>
            <p:cNvPr name="TextBox 31" id="31"/>
            <p:cNvSpPr txBox="true"/>
            <p:nvPr/>
          </p:nvSpPr>
          <p:spPr>
            <a:xfrm>
              <a:off x="0" y="-38100"/>
              <a:ext cx="2447003" cy="483046"/>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820474" y="2841129"/>
            <a:ext cx="6032023" cy="1307926"/>
            <a:chOff x="0" y="0"/>
            <a:chExt cx="2079082" cy="450808"/>
          </a:xfrm>
        </p:grpSpPr>
        <p:sp>
          <p:nvSpPr>
            <p:cNvPr name="Freeform 33" id="33"/>
            <p:cNvSpPr/>
            <p:nvPr/>
          </p:nvSpPr>
          <p:spPr>
            <a:xfrm flipH="false" flipV="false" rot="0">
              <a:off x="0" y="0"/>
              <a:ext cx="2079082" cy="450808"/>
            </a:xfrm>
            <a:custGeom>
              <a:avLst/>
              <a:gdLst/>
              <a:ahLst/>
              <a:cxnLst/>
              <a:rect r="r" b="b" t="t" l="l"/>
              <a:pathLst>
                <a:path h="450808" w="2079082">
                  <a:moveTo>
                    <a:pt x="65457" y="0"/>
                  </a:moveTo>
                  <a:lnTo>
                    <a:pt x="2013625" y="0"/>
                  </a:lnTo>
                  <a:cubicBezTo>
                    <a:pt x="2049776" y="0"/>
                    <a:pt x="2079082" y="29306"/>
                    <a:pt x="2079082" y="65457"/>
                  </a:cubicBezTo>
                  <a:lnTo>
                    <a:pt x="2079082" y="385351"/>
                  </a:lnTo>
                  <a:cubicBezTo>
                    <a:pt x="2079082" y="421502"/>
                    <a:pt x="2049776" y="450808"/>
                    <a:pt x="2013625" y="450808"/>
                  </a:cubicBezTo>
                  <a:lnTo>
                    <a:pt x="65457" y="450808"/>
                  </a:lnTo>
                  <a:cubicBezTo>
                    <a:pt x="29306" y="450808"/>
                    <a:pt x="0" y="421502"/>
                    <a:pt x="0" y="385351"/>
                  </a:cubicBezTo>
                  <a:lnTo>
                    <a:pt x="0" y="65457"/>
                  </a:lnTo>
                  <a:cubicBezTo>
                    <a:pt x="0" y="29306"/>
                    <a:pt x="29306" y="0"/>
                    <a:pt x="65457" y="0"/>
                  </a:cubicBezTo>
                  <a:close/>
                </a:path>
              </a:pathLst>
            </a:custGeom>
            <a:solidFill>
              <a:srgbClr val="E8ECEC"/>
            </a:solidFill>
          </p:spPr>
        </p:sp>
        <p:sp>
          <p:nvSpPr>
            <p:cNvPr name="TextBox 34" id="34"/>
            <p:cNvSpPr txBox="true"/>
            <p:nvPr/>
          </p:nvSpPr>
          <p:spPr>
            <a:xfrm>
              <a:off x="0" y="-38100"/>
              <a:ext cx="2079082" cy="488908"/>
            </a:xfrm>
            <a:prstGeom prst="rect">
              <a:avLst/>
            </a:prstGeom>
          </p:spPr>
          <p:txBody>
            <a:bodyPr anchor="ctr" rtlCol="false" tIns="50800" lIns="50800" bIns="50800" rIns="50800"/>
            <a:lstStyle/>
            <a:p>
              <a:pPr algn="ctr">
                <a:lnSpc>
                  <a:spcPts val="2659"/>
                </a:lnSpc>
              </a:pPr>
            </a:p>
          </p:txBody>
        </p:sp>
      </p:grpSp>
      <p:sp>
        <p:nvSpPr>
          <p:cNvPr name="Freeform 35" id="35"/>
          <p:cNvSpPr/>
          <p:nvPr/>
        </p:nvSpPr>
        <p:spPr>
          <a:xfrm flipH="false" flipV="false" rot="0">
            <a:off x="255956" y="4314026"/>
            <a:ext cx="7492418" cy="4765030"/>
          </a:xfrm>
          <a:custGeom>
            <a:avLst/>
            <a:gdLst/>
            <a:ahLst/>
            <a:cxnLst/>
            <a:rect r="r" b="b" t="t" l="l"/>
            <a:pathLst>
              <a:path h="4765030" w="7492418">
                <a:moveTo>
                  <a:pt x="0" y="0"/>
                </a:moveTo>
                <a:lnTo>
                  <a:pt x="7492418" y="0"/>
                </a:lnTo>
                <a:lnTo>
                  <a:pt x="7492418" y="4765030"/>
                </a:lnTo>
                <a:lnTo>
                  <a:pt x="0" y="4765030"/>
                </a:lnTo>
                <a:lnTo>
                  <a:pt x="0" y="0"/>
                </a:lnTo>
                <a:close/>
              </a:path>
            </a:pathLst>
          </a:custGeom>
          <a:blipFill>
            <a:blip r:embed="rId4"/>
            <a:stretch>
              <a:fillRect l="-5995" t="0" r="-7067" b="0"/>
            </a:stretch>
          </a:blipFill>
        </p:spPr>
      </p:sp>
      <p:grpSp>
        <p:nvGrpSpPr>
          <p:cNvPr name="Group 36" id="36"/>
          <p:cNvGrpSpPr/>
          <p:nvPr/>
        </p:nvGrpSpPr>
        <p:grpSpPr>
          <a:xfrm rot="0">
            <a:off x="2597789" y="5906618"/>
            <a:ext cx="2726321" cy="1241875"/>
            <a:chOff x="0" y="0"/>
            <a:chExt cx="718044" cy="327078"/>
          </a:xfrm>
        </p:grpSpPr>
        <p:sp>
          <p:nvSpPr>
            <p:cNvPr name="Freeform 37" id="37"/>
            <p:cNvSpPr/>
            <p:nvPr/>
          </p:nvSpPr>
          <p:spPr>
            <a:xfrm flipH="false" flipV="false" rot="0">
              <a:off x="0" y="0"/>
              <a:ext cx="718044" cy="327078"/>
            </a:xfrm>
            <a:custGeom>
              <a:avLst/>
              <a:gdLst/>
              <a:ahLst/>
              <a:cxnLst/>
              <a:rect r="r" b="b" t="t" l="l"/>
              <a:pathLst>
                <a:path h="327078" w="718044">
                  <a:moveTo>
                    <a:pt x="48275" y="0"/>
                  </a:moveTo>
                  <a:lnTo>
                    <a:pt x="669769" y="0"/>
                  </a:lnTo>
                  <a:cubicBezTo>
                    <a:pt x="696430" y="0"/>
                    <a:pt x="718044" y="21613"/>
                    <a:pt x="718044" y="48275"/>
                  </a:cubicBezTo>
                  <a:lnTo>
                    <a:pt x="718044" y="278803"/>
                  </a:lnTo>
                  <a:cubicBezTo>
                    <a:pt x="718044" y="291607"/>
                    <a:pt x="712957" y="303886"/>
                    <a:pt x="703904" y="312939"/>
                  </a:cubicBezTo>
                  <a:cubicBezTo>
                    <a:pt x="694851" y="321992"/>
                    <a:pt x="682572" y="327078"/>
                    <a:pt x="669769" y="327078"/>
                  </a:cubicBezTo>
                  <a:lnTo>
                    <a:pt x="48275" y="327078"/>
                  </a:lnTo>
                  <a:cubicBezTo>
                    <a:pt x="21613" y="327078"/>
                    <a:pt x="0" y="305465"/>
                    <a:pt x="0" y="278803"/>
                  </a:cubicBezTo>
                  <a:lnTo>
                    <a:pt x="0" y="48275"/>
                  </a:lnTo>
                  <a:cubicBezTo>
                    <a:pt x="0" y="21613"/>
                    <a:pt x="21613" y="0"/>
                    <a:pt x="48275" y="0"/>
                  </a:cubicBezTo>
                  <a:close/>
                </a:path>
              </a:pathLst>
            </a:custGeom>
            <a:solidFill>
              <a:srgbClr val="FFFFFF"/>
            </a:solidFill>
          </p:spPr>
        </p:sp>
        <p:sp>
          <p:nvSpPr>
            <p:cNvPr name="TextBox 38" id="38"/>
            <p:cNvSpPr txBox="true"/>
            <p:nvPr/>
          </p:nvSpPr>
          <p:spPr>
            <a:xfrm>
              <a:off x="0" y="-19050"/>
              <a:ext cx="718044" cy="346128"/>
            </a:xfrm>
            <a:prstGeom prst="rect">
              <a:avLst/>
            </a:prstGeom>
          </p:spPr>
          <p:txBody>
            <a:bodyPr anchor="ctr" rtlCol="false" tIns="50800" lIns="50800" bIns="50800" rIns="50800"/>
            <a:lstStyle/>
            <a:p>
              <a:pPr algn="ctr">
                <a:lnSpc>
                  <a:spcPts val="3120"/>
                </a:lnSpc>
              </a:pPr>
            </a:p>
          </p:txBody>
        </p:sp>
      </p:grpSp>
      <p:grpSp>
        <p:nvGrpSpPr>
          <p:cNvPr name="Group 39" id="39"/>
          <p:cNvGrpSpPr/>
          <p:nvPr/>
        </p:nvGrpSpPr>
        <p:grpSpPr>
          <a:xfrm rot="0">
            <a:off x="8232781" y="7049465"/>
            <a:ext cx="2004357" cy="2004357"/>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1" id="41"/>
            <p:cNvSpPr txBox="true"/>
            <p:nvPr/>
          </p:nvSpPr>
          <p:spPr>
            <a:xfrm>
              <a:off x="76200" y="57150"/>
              <a:ext cx="660400" cy="679450"/>
            </a:xfrm>
            <a:prstGeom prst="rect">
              <a:avLst/>
            </a:prstGeom>
          </p:spPr>
          <p:txBody>
            <a:bodyPr anchor="ctr" rtlCol="false" tIns="50800" lIns="50800" bIns="50800" rIns="50800"/>
            <a:lstStyle/>
            <a:p>
              <a:pPr algn="ctr">
                <a:lnSpc>
                  <a:spcPts val="3120"/>
                </a:lnSpc>
              </a:pPr>
            </a:p>
          </p:txBody>
        </p:sp>
      </p:grpSp>
      <p:grpSp>
        <p:nvGrpSpPr>
          <p:cNvPr name="Group 42" id="42"/>
          <p:cNvGrpSpPr>
            <a:grpSpLocks noChangeAspect="true"/>
          </p:cNvGrpSpPr>
          <p:nvPr/>
        </p:nvGrpSpPr>
        <p:grpSpPr>
          <a:xfrm rot="0">
            <a:off x="8207407" y="7023950"/>
            <a:ext cx="2055106" cy="2055106"/>
            <a:chOff x="0" y="0"/>
            <a:chExt cx="14840029" cy="14840029"/>
          </a:xfrm>
        </p:grpSpPr>
        <p:sp>
          <p:nvSpPr>
            <p:cNvPr name="Freeform 43" id="43"/>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44" id="44"/>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4F8FF"/>
            </a:solidFill>
          </p:spPr>
        </p:sp>
        <p:sp>
          <p:nvSpPr>
            <p:cNvPr name="Freeform 45" id="45"/>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248181" t="-78918" r="-7578" b="-22091"/>
              </a:stretch>
            </a:blipFill>
          </p:spPr>
        </p:sp>
      </p:grpSp>
      <p:sp>
        <p:nvSpPr>
          <p:cNvPr name="Freeform 46" id="46"/>
          <p:cNvSpPr/>
          <p:nvPr/>
        </p:nvSpPr>
        <p:spPr>
          <a:xfrm flipH="false" flipV="false" rot="0">
            <a:off x="2555645" y="5795743"/>
            <a:ext cx="2810610" cy="1614740"/>
          </a:xfrm>
          <a:custGeom>
            <a:avLst/>
            <a:gdLst/>
            <a:ahLst/>
            <a:cxnLst/>
            <a:rect r="r" b="b" t="t" l="l"/>
            <a:pathLst>
              <a:path h="1614740" w="2810610">
                <a:moveTo>
                  <a:pt x="0" y="0"/>
                </a:moveTo>
                <a:lnTo>
                  <a:pt x="2810610" y="0"/>
                </a:lnTo>
                <a:lnTo>
                  <a:pt x="2810610" y="1614740"/>
                </a:lnTo>
                <a:lnTo>
                  <a:pt x="0" y="1614740"/>
                </a:lnTo>
                <a:lnTo>
                  <a:pt x="0" y="0"/>
                </a:lnTo>
                <a:close/>
              </a:path>
            </a:pathLst>
          </a:custGeom>
          <a:blipFill>
            <a:blip r:embed="rId6"/>
            <a:stretch>
              <a:fillRect l="0" t="-43365" r="0" b="-30694"/>
            </a:stretch>
          </a:blipFill>
        </p:spPr>
      </p:sp>
      <p:grpSp>
        <p:nvGrpSpPr>
          <p:cNvPr name="Group 47" id="47"/>
          <p:cNvGrpSpPr>
            <a:grpSpLocks noChangeAspect="true"/>
          </p:cNvGrpSpPr>
          <p:nvPr/>
        </p:nvGrpSpPr>
        <p:grpSpPr>
          <a:xfrm rot="0">
            <a:off x="8149704" y="4445176"/>
            <a:ext cx="2173071" cy="2173071"/>
            <a:chOff x="0" y="0"/>
            <a:chExt cx="14840029" cy="14840029"/>
          </a:xfrm>
        </p:grpSpPr>
        <p:sp>
          <p:nvSpPr>
            <p:cNvPr name="Freeform 48" id="48"/>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49" id="49"/>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345E4"/>
            </a:solidFill>
          </p:spPr>
        </p:sp>
        <p:sp>
          <p:nvSpPr>
            <p:cNvPr name="Freeform 50" id="50"/>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223" t="0" r="223" b="0"/>
              </a:stretch>
            </a:blipFill>
          </p:spPr>
        </p:sp>
      </p:grpSp>
      <p:grpSp>
        <p:nvGrpSpPr>
          <p:cNvPr name="Group 51" id="51"/>
          <p:cNvGrpSpPr/>
          <p:nvPr/>
        </p:nvGrpSpPr>
        <p:grpSpPr>
          <a:xfrm rot="0">
            <a:off x="8234061" y="4529532"/>
            <a:ext cx="2004357" cy="2004357"/>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3" id="53"/>
            <p:cNvSpPr txBox="true"/>
            <p:nvPr/>
          </p:nvSpPr>
          <p:spPr>
            <a:xfrm>
              <a:off x="76200" y="57150"/>
              <a:ext cx="660400" cy="679450"/>
            </a:xfrm>
            <a:prstGeom prst="rect">
              <a:avLst/>
            </a:prstGeom>
          </p:spPr>
          <p:txBody>
            <a:bodyPr anchor="ctr" rtlCol="false" tIns="50800" lIns="50800" bIns="50800" rIns="50800"/>
            <a:lstStyle/>
            <a:p>
              <a:pPr algn="ctr">
                <a:lnSpc>
                  <a:spcPts val="3120"/>
                </a:lnSpc>
              </a:pPr>
            </a:p>
          </p:txBody>
        </p:sp>
      </p:grpSp>
      <p:grpSp>
        <p:nvGrpSpPr>
          <p:cNvPr name="Group 54" id="54"/>
          <p:cNvGrpSpPr>
            <a:grpSpLocks noChangeAspect="true"/>
          </p:cNvGrpSpPr>
          <p:nvPr/>
        </p:nvGrpSpPr>
        <p:grpSpPr>
          <a:xfrm rot="0">
            <a:off x="8208687" y="4504018"/>
            <a:ext cx="2055106" cy="2055106"/>
            <a:chOff x="0" y="0"/>
            <a:chExt cx="14840029" cy="14840029"/>
          </a:xfrm>
        </p:grpSpPr>
        <p:sp>
          <p:nvSpPr>
            <p:cNvPr name="Freeform 55" id="55"/>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56" id="56"/>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4F8FF"/>
            </a:solidFill>
          </p:spPr>
        </p:sp>
        <p:sp>
          <p:nvSpPr>
            <p:cNvPr name="Freeform 57" id="57"/>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7"/>
              <a:stretch>
                <a:fillRect l="-45060" t="0" r="-45060" b="0"/>
              </a:stretch>
            </a:blipFill>
          </p:spPr>
        </p:sp>
      </p:grpSp>
      <p:sp>
        <p:nvSpPr>
          <p:cNvPr name="TextBox 58" id="58"/>
          <p:cNvSpPr txBox="true"/>
          <p:nvPr/>
        </p:nvSpPr>
        <p:spPr>
          <a:xfrm rot="0">
            <a:off x="763324" y="9350588"/>
            <a:ext cx="14982825" cy="40957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59" id="59"/>
          <p:cNvSpPr txBox="true"/>
          <p:nvPr/>
        </p:nvSpPr>
        <p:spPr>
          <a:xfrm rot="0">
            <a:off x="17259300" y="9350588"/>
            <a:ext cx="192881" cy="40963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6</a:t>
            </a:r>
          </a:p>
        </p:txBody>
      </p:sp>
      <p:sp>
        <p:nvSpPr>
          <p:cNvPr name="TextBox 60" id="60"/>
          <p:cNvSpPr txBox="true"/>
          <p:nvPr/>
        </p:nvSpPr>
        <p:spPr>
          <a:xfrm rot="0">
            <a:off x="1028700" y="615069"/>
            <a:ext cx="14549624"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2. TỔNG QUAN HỆ QUẢN TRỊ MYSQL</a:t>
            </a:r>
          </a:p>
        </p:txBody>
      </p:sp>
      <p:sp>
        <p:nvSpPr>
          <p:cNvPr name="TextBox 61" id="61"/>
          <p:cNvSpPr txBox="true"/>
          <p:nvPr/>
        </p:nvSpPr>
        <p:spPr>
          <a:xfrm rot="0">
            <a:off x="2101336" y="1954208"/>
            <a:ext cx="3322927" cy="506025"/>
          </a:xfrm>
          <a:prstGeom prst="rect">
            <a:avLst/>
          </a:prstGeom>
        </p:spPr>
        <p:txBody>
          <a:bodyPr anchor="t" rtlCol="false" tIns="0" lIns="0" bIns="0" rIns="0">
            <a:spAutoFit/>
          </a:bodyPr>
          <a:lstStyle/>
          <a:p>
            <a:pPr algn="ctr">
              <a:lnSpc>
                <a:spcPts val="4133"/>
              </a:lnSpc>
            </a:pPr>
            <a:r>
              <a:rPr lang="en-US" b="true" sz="2952" spc="59">
                <a:solidFill>
                  <a:srgbClr val="FFFFFF"/>
                </a:solidFill>
                <a:latin typeface="Garet Bold"/>
                <a:ea typeface="Garet Bold"/>
                <a:cs typeface="Garet Bold"/>
                <a:sym typeface="Garet Bold"/>
              </a:rPr>
              <a:t>MySQL là gì ?</a:t>
            </a:r>
          </a:p>
        </p:txBody>
      </p:sp>
      <p:sp>
        <p:nvSpPr>
          <p:cNvPr name="TextBox 62" id="62"/>
          <p:cNvSpPr txBox="true"/>
          <p:nvPr/>
        </p:nvSpPr>
        <p:spPr>
          <a:xfrm rot="0">
            <a:off x="10724105" y="2482124"/>
            <a:ext cx="6728076" cy="1467145"/>
          </a:xfrm>
          <a:prstGeom prst="rect">
            <a:avLst/>
          </a:prstGeom>
        </p:spPr>
        <p:txBody>
          <a:bodyPr anchor="t" rtlCol="false" tIns="0" lIns="0" bIns="0" rIns="0">
            <a:spAutoFit/>
          </a:bodyPr>
          <a:lstStyle/>
          <a:p>
            <a:pPr algn="l" marL="414946" indent="-207473" lvl="1">
              <a:lnSpc>
                <a:spcPts val="2978"/>
              </a:lnSpc>
              <a:buFont typeface="Arial"/>
              <a:buChar char="•"/>
            </a:pPr>
            <a:r>
              <a:rPr lang="en-US" sz="1921">
                <a:solidFill>
                  <a:srgbClr val="000000"/>
                </a:solidFill>
                <a:latin typeface="Open Sans 1"/>
                <a:ea typeface="Open Sans 1"/>
                <a:cs typeface="Open Sans 1"/>
                <a:sym typeface="Open Sans 1"/>
              </a:rPr>
              <a:t>Quản lý dữ liệu theo mô hình quan hệ.</a:t>
            </a:r>
          </a:p>
          <a:p>
            <a:pPr algn="l" marL="414946" indent="-207473" lvl="1">
              <a:lnSpc>
                <a:spcPts val="2978"/>
              </a:lnSpc>
              <a:buFont typeface="Arial"/>
              <a:buChar char="•"/>
            </a:pPr>
            <a:r>
              <a:rPr lang="en-US" sz="1921">
                <a:solidFill>
                  <a:srgbClr val="000000"/>
                </a:solidFill>
                <a:latin typeface="Open Sans 1"/>
                <a:ea typeface="Open Sans 1"/>
                <a:cs typeface="Open Sans 1"/>
                <a:sym typeface="Open Sans 1"/>
              </a:rPr>
              <a:t>Hiệu suất cao, ổn định và dễ sử dụng.</a:t>
            </a:r>
          </a:p>
          <a:p>
            <a:pPr algn="l" marL="414946" indent="-207473" lvl="1">
              <a:lnSpc>
                <a:spcPts val="2978"/>
              </a:lnSpc>
              <a:buFont typeface="Arial"/>
              <a:buChar char="•"/>
            </a:pPr>
            <a:r>
              <a:rPr lang="en-US" sz="1921">
                <a:solidFill>
                  <a:srgbClr val="000000"/>
                </a:solidFill>
                <a:latin typeface="Open Sans 1"/>
                <a:ea typeface="Open Sans 1"/>
                <a:cs typeface="Open Sans 1"/>
                <a:sym typeface="Open Sans 1"/>
              </a:rPr>
              <a:t>Phù hợp cho các hệ thống quản lý và website.</a:t>
            </a:r>
          </a:p>
          <a:p>
            <a:pPr algn="l" marL="0" indent="0" lvl="0">
              <a:lnSpc>
                <a:spcPts val="2978"/>
              </a:lnSpc>
            </a:pPr>
          </a:p>
        </p:txBody>
      </p:sp>
      <p:sp>
        <p:nvSpPr>
          <p:cNvPr name="TextBox 63" id="63"/>
          <p:cNvSpPr txBox="true"/>
          <p:nvPr/>
        </p:nvSpPr>
        <p:spPr>
          <a:xfrm rot="0">
            <a:off x="10724105" y="5028833"/>
            <a:ext cx="7919411" cy="1467145"/>
          </a:xfrm>
          <a:prstGeom prst="rect">
            <a:avLst/>
          </a:prstGeom>
        </p:spPr>
        <p:txBody>
          <a:bodyPr anchor="t" rtlCol="false" tIns="0" lIns="0" bIns="0" rIns="0">
            <a:spAutoFit/>
          </a:bodyPr>
          <a:lstStyle/>
          <a:p>
            <a:pPr algn="just" marL="414947" indent="-207474" lvl="1">
              <a:lnSpc>
                <a:spcPts val="2979"/>
              </a:lnSpc>
              <a:buFont typeface="Arial"/>
              <a:buChar char="•"/>
            </a:pPr>
            <a:r>
              <a:rPr lang="en-US" sz="1921">
                <a:solidFill>
                  <a:srgbClr val="000000"/>
                </a:solidFill>
                <a:latin typeface="Open Sans 1"/>
                <a:ea typeface="Open Sans 1"/>
                <a:cs typeface="Open Sans 1"/>
                <a:sym typeface="Open Sans 1"/>
              </a:rPr>
              <a:t>Hỗ trợ kết nối với nhiều ngôn ngữ và nền tảng khác nhau.</a:t>
            </a:r>
          </a:p>
          <a:p>
            <a:pPr algn="just" marL="414947" indent="-207474" lvl="1">
              <a:lnSpc>
                <a:spcPts val="2979"/>
              </a:lnSpc>
              <a:buFont typeface="Arial"/>
              <a:buChar char="•"/>
            </a:pPr>
            <a:r>
              <a:rPr lang="en-US" sz="1921">
                <a:solidFill>
                  <a:srgbClr val="000000"/>
                </a:solidFill>
                <a:latin typeface="Open Sans 1"/>
                <a:ea typeface="Open Sans 1"/>
                <a:cs typeface="Open Sans 1"/>
                <a:sym typeface="Open Sans 1"/>
              </a:rPr>
              <a:t>Hỗ trợ thao tác thêm, sửa, xóa, truy vấn dữ liệu.</a:t>
            </a:r>
          </a:p>
          <a:p>
            <a:pPr algn="just" marL="414947" indent="-207474" lvl="1">
              <a:lnSpc>
                <a:spcPts val="2979"/>
              </a:lnSpc>
              <a:buFont typeface="Arial"/>
              <a:buChar char="•"/>
            </a:pPr>
            <a:r>
              <a:rPr lang="en-US" sz="1921">
                <a:solidFill>
                  <a:srgbClr val="000000"/>
                </a:solidFill>
                <a:latin typeface="Open Sans 1"/>
                <a:ea typeface="Open Sans 1"/>
                <a:cs typeface="Open Sans 1"/>
                <a:sym typeface="Open Sans 1"/>
              </a:rPr>
              <a:t>Phù hợp với các ứng dụng web động.</a:t>
            </a:r>
          </a:p>
          <a:p>
            <a:pPr algn="just">
              <a:lnSpc>
                <a:spcPts val="2979"/>
              </a:lnSpc>
            </a:pPr>
          </a:p>
        </p:txBody>
      </p:sp>
      <p:sp>
        <p:nvSpPr>
          <p:cNvPr name="TextBox 64" id="64"/>
          <p:cNvSpPr txBox="true"/>
          <p:nvPr/>
        </p:nvSpPr>
        <p:spPr>
          <a:xfrm rot="0">
            <a:off x="10708940" y="7611912"/>
            <a:ext cx="6866405" cy="1467145"/>
          </a:xfrm>
          <a:prstGeom prst="rect">
            <a:avLst/>
          </a:prstGeom>
        </p:spPr>
        <p:txBody>
          <a:bodyPr anchor="t" rtlCol="false" tIns="0" lIns="0" bIns="0" rIns="0">
            <a:spAutoFit/>
          </a:bodyPr>
          <a:lstStyle/>
          <a:p>
            <a:pPr algn="just" marL="414947" indent="-207474" lvl="1">
              <a:lnSpc>
                <a:spcPts val="2979"/>
              </a:lnSpc>
              <a:buFont typeface="Arial"/>
              <a:buChar char="•"/>
            </a:pPr>
            <a:r>
              <a:rPr lang="en-US" sz="1921">
                <a:solidFill>
                  <a:srgbClr val="000000"/>
                </a:solidFill>
                <a:latin typeface="Open Sans 1"/>
                <a:ea typeface="Open Sans 1"/>
                <a:cs typeface="Open Sans 1"/>
                <a:sym typeface="Open Sans 1"/>
              </a:rPr>
              <a:t>Lưu trữ và quản lý dữ liệu hệ thống.</a:t>
            </a:r>
          </a:p>
          <a:p>
            <a:pPr algn="just" marL="414947" indent="-207474" lvl="1">
              <a:lnSpc>
                <a:spcPts val="2979"/>
              </a:lnSpc>
              <a:buFont typeface="Arial"/>
              <a:buChar char="•"/>
            </a:pPr>
            <a:r>
              <a:rPr lang="en-US" sz="1921">
                <a:solidFill>
                  <a:srgbClr val="000000"/>
                </a:solidFill>
                <a:latin typeface="Open Sans 1"/>
                <a:ea typeface="Open Sans 1"/>
                <a:cs typeface="Open Sans 1"/>
                <a:sym typeface="Open Sans 1"/>
              </a:rPr>
              <a:t>Hỗ trợ truy xuất và thống kê thông tin nhanh chóng.</a:t>
            </a:r>
          </a:p>
          <a:p>
            <a:pPr algn="just" marL="414947" indent="-207474" lvl="1">
              <a:lnSpc>
                <a:spcPts val="2979"/>
              </a:lnSpc>
              <a:buFont typeface="Arial"/>
              <a:buChar char="•"/>
            </a:pPr>
            <a:r>
              <a:rPr lang="en-US" sz="1921">
                <a:solidFill>
                  <a:srgbClr val="000000"/>
                </a:solidFill>
                <a:latin typeface="Open Sans 1"/>
                <a:ea typeface="Open Sans 1"/>
                <a:cs typeface="Open Sans 1"/>
                <a:sym typeface="Open Sans 1"/>
              </a:rPr>
              <a:t>Đảm bảo tính nhất quán và chính xác của dữ liệu.</a:t>
            </a:r>
          </a:p>
          <a:p>
            <a:pPr algn="just">
              <a:lnSpc>
                <a:spcPts val="2979"/>
              </a:lnSpc>
            </a:pPr>
          </a:p>
        </p:txBody>
      </p:sp>
      <p:sp>
        <p:nvSpPr>
          <p:cNvPr name="TextBox 65" id="65"/>
          <p:cNvSpPr txBox="true"/>
          <p:nvPr/>
        </p:nvSpPr>
        <p:spPr>
          <a:xfrm rot="0">
            <a:off x="1113682" y="2897135"/>
            <a:ext cx="5496142" cy="1121616"/>
          </a:xfrm>
          <a:prstGeom prst="rect">
            <a:avLst/>
          </a:prstGeom>
        </p:spPr>
        <p:txBody>
          <a:bodyPr anchor="t" rtlCol="false" tIns="0" lIns="0" bIns="0" rIns="0">
            <a:spAutoFit/>
          </a:bodyPr>
          <a:lstStyle/>
          <a:p>
            <a:pPr algn="just" marL="0" indent="0" lvl="0">
              <a:lnSpc>
                <a:spcPts val="3070"/>
              </a:lnSpc>
            </a:pPr>
            <a:r>
              <a:rPr lang="en-US" sz="1981">
                <a:solidFill>
                  <a:srgbClr val="000000"/>
                </a:solidFill>
                <a:latin typeface="Open Sans 1"/>
                <a:ea typeface="Open Sans 1"/>
                <a:cs typeface="Open Sans 1"/>
                <a:sym typeface="Open Sans 1"/>
              </a:rPr>
              <a:t>MySQL là hệ quản trị cơ sở dữ liệu quan hệ (RDBMS) mã nguồn mở, sử dụng ngôn ngữ SQL để lưu trữ, quản lý và truy xuất dữ liệu.</a:t>
            </a:r>
          </a:p>
        </p:txBody>
      </p:sp>
      <p:grpSp>
        <p:nvGrpSpPr>
          <p:cNvPr name="Group 66" id="66"/>
          <p:cNvGrpSpPr>
            <a:grpSpLocks noChangeAspect="true"/>
          </p:cNvGrpSpPr>
          <p:nvPr/>
        </p:nvGrpSpPr>
        <p:grpSpPr>
          <a:xfrm rot="0">
            <a:off x="8148424" y="1929204"/>
            <a:ext cx="2173071" cy="2173071"/>
            <a:chOff x="0" y="0"/>
            <a:chExt cx="14840029" cy="14840029"/>
          </a:xfrm>
        </p:grpSpPr>
        <p:sp>
          <p:nvSpPr>
            <p:cNvPr name="Freeform 67" id="67"/>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68" id="68"/>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345E4"/>
            </a:solidFill>
          </p:spPr>
        </p:sp>
        <p:sp>
          <p:nvSpPr>
            <p:cNvPr name="Freeform 69" id="69"/>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223" t="0" r="223" b="0"/>
              </a:stretch>
            </a:blipFill>
          </p:spPr>
        </p:sp>
      </p:grpSp>
      <p:grpSp>
        <p:nvGrpSpPr>
          <p:cNvPr name="Group 70" id="70"/>
          <p:cNvGrpSpPr/>
          <p:nvPr/>
        </p:nvGrpSpPr>
        <p:grpSpPr>
          <a:xfrm rot="0">
            <a:off x="8232781" y="2013561"/>
            <a:ext cx="2004357" cy="2004357"/>
            <a:chOff x="0" y="0"/>
            <a:chExt cx="812800" cy="812800"/>
          </a:xfrm>
        </p:grpSpPr>
        <p:sp>
          <p:nvSpPr>
            <p:cNvPr name="Freeform 71" id="7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2" id="72"/>
            <p:cNvSpPr txBox="true"/>
            <p:nvPr/>
          </p:nvSpPr>
          <p:spPr>
            <a:xfrm>
              <a:off x="76200" y="57150"/>
              <a:ext cx="660400" cy="679450"/>
            </a:xfrm>
            <a:prstGeom prst="rect">
              <a:avLst/>
            </a:prstGeom>
          </p:spPr>
          <p:txBody>
            <a:bodyPr anchor="ctr" rtlCol="false" tIns="50800" lIns="50800" bIns="50800" rIns="50800"/>
            <a:lstStyle/>
            <a:p>
              <a:pPr algn="ctr">
                <a:lnSpc>
                  <a:spcPts val="3120"/>
                </a:lnSpc>
              </a:pPr>
            </a:p>
          </p:txBody>
        </p:sp>
      </p:grpSp>
      <p:grpSp>
        <p:nvGrpSpPr>
          <p:cNvPr name="Group 73" id="73"/>
          <p:cNvGrpSpPr>
            <a:grpSpLocks noChangeAspect="true"/>
          </p:cNvGrpSpPr>
          <p:nvPr/>
        </p:nvGrpSpPr>
        <p:grpSpPr>
          <a:xfrm rot="0">
            <a:off x="8207407" y="1988046"/>
            <a:ext cx="2055106" cy="2055106"/>
            <a:chOff x="0" y="0"/>
            <a:chExt cx="14840029" cy="14840029"/>
          </a:xfrm>
        </p:grpSpPr>
        <p:sp>
          <p:nvSpPr>
            <p:cNvPr name="Freeform 74" id="74"/>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75" id="75"/>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4F8FF"/>
            </a:solidFill>
          </p:spPr>
        </p:sp>
        <p:sp>
          <p:nvSpPr>
            <p:cNvPr name="Freeform 76" id="76"/>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8"/>
              <a:stretch>
                <a:fillRect l="-35554" t="0" r="-35554"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62065">
            <a:off x="-2708658" y="4484182"/>
            <a:ext cx="14270748" cy="5838033"/>
          </a:xfrm>
          <a:custGeom>
            <a:avLst/>
            <a:gdLst/>
            <a:ahLst/>
            <a:cxnLst/>
            <a:rect r="r" b="b" t="t" l="l"/>
            <a:pathLst>
              <a:path h="5838033" w="14270748">
                <a:moveTo>
                  <a:pt x="0" y="0"/>
                </a:moveTo>
                <a:lnTo>
                  <a:pt x="14270748" y="0"/>
                </a:lnTo>
                <a:lnTo>
                  <a:pt x="14270748" y="5838033"/>
                </a:lnTo>
                <a:lnTo>
                  <a:pt x="0" y="5838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649" y="9248775"/>
            <a:ext cx="16891302" cy="19050"/>
            <a:chOff x="0" y="0"/>
            <a:chExt cx="22521736" cy="25400"/>
          </a:xfrm>
        </p:grpSpPr>
        <p:sp>
          <p:nvSpPr>
            <p:cNvPr name="Freeform 4" id="4"/>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5" id="5"/>
          <p:cNvGrpSpPr/>
          <p:nvPr/>
        </p:nvGrpSpPr>
        <p:grpSpPr>
          <a:xfrm rot="0">
            <a:off x="1019185" y="1014412"/>
            <a:ext cx="14681892" cy="23812"/>
            <a:chOff x="0" y="0"/>
            <a:chExt cx="19575856" cy="31750"/>
          </a:xfrm>
        </p:grpSpPr>
        <p:sp>
          <p:nvSpPr>
            <p:cNvPr name="Freeform 6" id="6"/>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TextBox 7" id="7"/>
          <p:cNvSpPr txBox="true"/>
          <p:nvPr/>
        </p:nvSpPr>
        <p:spPr>
          <a:xfrm rot="0">
            <a:off x="763324" y="9350588"/>
            <a:ext cx="14982825" cy="40957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8" id="8"/>
          <p:cNvSpPr txBox="true"/>
          <p:nvPr/>
        </p:nvSpPr>
        <p:spPr>
          <a:xfrm rot="0">
            <a:off x="17259300" y="9360113"/>
            <a:ext cx="222515"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7</a:t>
            </a:r>
          </a:p>
        </p:txBody>
      </p:sp>
      <p:sp>
        <p:nvSpPr>
          <p:cNvPr name="TextBox 9" id="9"/>
          <p:cNvSpPr txBox="true"/>
          <p:nvPr/>
        </p:nvSpPr>
        <p:spPr>
          <a:xfrm rot="0">
            <a:off x="0" y="4298632"/>
            <a:ext cx="18288000" cy="1304914"/>
          </a:xfrm>
          <a:prstGeom prst="rect">
            <a:avLst/>
          </a:prstGeom>
        </p:spPr>
        <p:txBody>
          <a:bodyPr anchor="t" rtlCol="false" tIns="0" lIns="0" bIns="0" rIns="0">
            <a:spAutoFit/>
          </a:bodyPr>
          <a:lstStyle/>
          <a:p>
            <a:pPr algn="ctr">
              <a:lnSpc>
                <a:spcPts val="10725"/>
              </a:lnSpc>
            </a:pPr>
            <a:r>
              <a:rPr lang="en-US" b="true" sz="7500" spc="600">
                <a:solidFill>
                  <a:srgbClr val="0345E4"/>
                </a:solidFill>
                <a:latin typeface="Garet Bold"/>
                <a:ea typeface="Garet Bold"/>
                <a:cs typeface="Garet Bold"/>
                <a:sym typeface="Garet Bold"/>
              </a:rPr>
              <a:t>3. HIỆN THỰC HÓA NGHIÊN CỨU</a:t>
            </a:r>
          </a:p>
        </p:txBody>
      </p:sp>
      <p:sp>
        <p:nvSpPr>
          <p:cNvPr name="Freeform 10" id="10"/>
          <p:cNvSpPr/>
          <p:nvPr/>
        </p:nvSpPr>
        <p:spPr>
          <a:xfrm flipH="false" flipV="false" rot="0">
            <a:off x="7029861" y="-1737274"/>
            <a:ext cx="11919735" cy="4876255"/>
          </a:xfrm>
          <a:custGeom>
            <a:avLst/>
            <a:gdLst/>
            <a:ahLst/>
            <a:cxnLst/>
            <a:rect r="r" b="b" t="t" l="l"/>
            <a:pathLst>
              <a:path h="4876255" w="11919735">
                <a:moveTo>
                  <a:pt x="0" y="0"/>
                </a:moveTo>
                <a:lnTo>
                  <a:pt x="11919734" y="0"/>
                </a:lnTo>
                <a:lnTo>
                  <a:pt x="11919734" y="4876255"/>
                </a:lnTo>
                <a:lnTo>
                  <a:pt x="0" y="4876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AutoShape 7" id="7"/>
          <p:cNvSpPr/>
          <p:nvPr/>
        </p:nvSpPr>
        <p:spPr>
          <a:xfrm flipV="true">
            <a:off x="590513" y="4245536"/>
            <a:ext cx="16891302" cy="0"/>
          </a:xfrm>
          <a:prstGeom prst="line">
            <a:avLst/>
          </a:prstGeom>
          <a:ln cap="rnd" w="57150">
            <a:solidFill>
              <a:srgbClr val="FF0000"/>
            </a:solidFill>
            <a:prstDash val="sysDash"/>
            <a:headEnd type="oval" len="lg" w="lg"/>
            <a:tailEnd type="arrow" len="sm" w="med"/>
          </a:ln>
        </p:spPr>
      </p:sp>
      <p:sp>
        <p:nvSpPr>
          <p:cNvPr name="TextBox 8" id="8"/>
          <p:cNvSpPr txBox="true"/>
          <p:nvPr/>
        </p:nvSpPr>
        <p:spPr>
          <a:xfrm rot="0">
            <a:off x="12327924" y="2626354"/>
            <a:ext cx="4791308" cy="347689"/>
          </a:xfrm>
          <a:prstGeom prst="rect">
            <a:avLst/>
          </a:prstGeom>
        </p:spPr>
        <p:txBody>
          <a:bodyPr anchor="t" rtlCol="false" tIns="0" lIns="0" bIns="0" rIns="0">
            <a:spAutoFit/>
          </a:bodyPr>
          <a:lstStyle/>
          <a:p>
            <a:pPr algn="ctr" marL="0" indent="0" lvl="0">
              <a:lnSpc>
                <a:spcPts val="2763"/>
              </a:lnSpc>
            </a:pPr>
            <a:r>
              <a:rPr lang="en-US" b="true" sz="2159">
                <a:solidFill>
                  <a:srgbClr val="000000"/>
                </a:solidFill>
                <a:latin typeface="Montserrat Bold"/>
                <a:ea typeface="Montserrat Bold"/>
                <a:cs typeface="Montserrat Bold"/>
                <a:sym typeface="Montserrat Bold"/>
              </a:rPr>
              <a:t>Hình thức triển khai và vận hành</a:t>
            </a:r>
          </a:p>
        </p:txBody>
      </p:sp>
      <p:sp>
        <p:nvSpPr>
          <p:cNvPr name="AutoShape 9" id="9"/>
          <p:cNvSpPr/>
          <p:nvPr/>
        </p:nvSpPr>
        <p:spPr>
          <a:xfrm flipV="true">
            <a:off x="14717273" y="2974043"/>
            <a:ext cx="6305" cy="654485"/>
          </a:xfrm>
          <a:prstGeom prst="line">
            <a:avLst/>
          </a:prstGeom>
          <a:ln cap="flat" w="38100">
            <a:solidFill>
              <a:srgbClr val="FFBBE6"/>
            </a:solidFill>
            <a:prstDash val="solid"/>
            <a:headEnd type="arrow" len="sm" w="med"/>
            <a:tailEnd type="none" len="sm" w="sm"/>
          </a:ln>
        </p:spPr>
      </p:sp>
      <p:sp>
        <p:nvSpPr>
          <p:cNvPr name="AutoShape 10" id="10"/>
          <p:cNvSpPr/>
          <p:nvPr/>
        </p:nvSpPr>
        <p:spPr>
          <a:xfrm flipH="true" flipV="true">
            <a:off x="9048216" y="3009450"/>
            <a:ext cx="3120" cy="619079"/>
          </a:xfrm>
          <a:prstGeom prst="line">
            <a:avLst/>
          </a:prstGeom>
          <a:ln cap="rnd" w="28575">
            <a:solidFill>
              <a:srgbClr val="FDDB3E"/>
            </a:solidFill>
            <a:prstDash val="solid"/>
            <a:headEnd type="arrow" len="sm" w="med"/>
            <a:tailEnd type="none" len="sm" w="sm"/>
          </a:ln>
        </p:spPr>
      </p:sp>
      <p:sp>
        <p:nvSpPr>
          <p:cNvPr name="AutoShape 11" id="11"/>
          <p:cNvSpPr/>
          <p:nvPr/>
        </p:nvSpPr>
        <p:spPr>
          <a:xfrm flipH="true" flipV="true">
            <a:off x="3433721" y="2939375"/>
            <a:ext cx="2657" cy="641575"/>
          </a:xfrm>
          <a:prstGeom prst="line">
            <a:avLst/>
          </a:prstGeom>
          <a:ln cap="flat" w="28575">
            <a:solidFill>
              <a:srgbClr val="89E2E8"/>
            </a:solidFill>
            <a:prstDash val="solid"/>
            <a:headEnd type="arrow" len="sm" w="med"/>
            <a:tailEnd type="none" len="sm" w="sm"/>
          </a:ln>
        </p:spPr>
      </p:sp>
      <p:sp>
        <p:nvSpPr>
          <p:cNvPr name="TextBox 12" id="12"/>
          <p:cNvSpPr txBox="true"/>
          <p:nvPr/>
        </p:nvSpPr>
        <p:spPr>
          <a:xfrm rot="0">
            <a:off x="763324" y="9350588"/>
            <a:ext cx="14982825" cy="40957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13" id="13"/>
          <p:cNvSpPr txBox="true"/>
          <p:nvPr/>
        </p:nvSpPr>
        <p:spPr>
          <a:xfrm rot="0">
            <a:off x="17259300" y="9360113"/>
            <a:ext cx="222528" cy="45726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8</a:t>
            </a:r>
          </a:p>
        </p:txBody>
      </p:sp>
      <p:sp>
        <p:nvSpPr>
          <p:cNvPr name="TextBox 14" id="14"/>
          <p:cNvSpPr txBox="true"/>
          <p:nvPr/>
        </p:nvSpPr>
        <p:spPr>
          <a:xfrm rot="0">
            <a:off x="1028700" y="615069"/>
            <a:ext cx="13678809"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3. HIỆN THỰC HÓA NGHIÊN CỨU</a:t>
            </a:r>
          </a:p>
        </p:txBody>
      </p:sp>
      <p:sp>
        <p:nvSpPr>
          <p:cNvPr name="TextBox 15" id="15"/>
          <p:cNvSpPr txBox="true"/>
          <p:nvPr/>
        </p:nvSpPr>
        <p:spPr>
          <a:xfrm rot="0">
            <a:off x="1528449" y="1634791"/>
            <a:ext cx="8104369"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3.1 – Mô tả đề tài</a:t>
            </a:r>
          </a:p>
        </p:txBody>
      </p:sp>
      <p:sp>
        <p:nvSpPr>
          <p:cNvPr name="TextBox 16" id="16"/>
          <p:cNvSpPr txBox="true"/>
          <p:nvPr/>
        </p:nvSpPr>
        <p:spPr>
          <a:xfrm rot="0">
            <a:off x="6764443" y="2661761"/>
            <a:ext cx="4567546" cy="347689"/>
          </a:xfrm>
          <a:prstGeom prst="rect">
            <a:avLst/>
          </a:prstGeom>
        </p:spPr>
        <p:txBody>
          <a:bodyPr anchor="t" rtlCol="false" tIns="0" lIns="0" bIns="0" rIns="0">
            <a:spAutoFit/>
          </a:bodyPr>
          <a:lstStyle/>
          <a:p>
            <a:pPr algn="ctr" marL="0" indent="0" lvl="0">
              <a:lnSpc>
                <a:spcPts val="2763"/>
              </a:lnSpc>
            </a:pPr>
            <a:r>
              <a:rPr lang="en-US" b="true" sz="2159">
                <a:solidFill>
                  <a:srgbClr val="000000"/>
                </a:solidFill>
                <a:latin typeface="Montserrat Bold"/>
                <a:ea typeface="Montserrat Bold"/>
                <a:cs typeface="Montserrat Bold"/>
                <a:sym typeface="Montserrat Bold"/>
              </a:rPr>
              <a:t> Nhóm chức năng của hệ thống</a:t>
            </a:r>
          </a:p>
        </p:txBody>
      </p:sp>
      <p:sp>
        <p:nvSpPr>
          <p:cNvPr name="TextBox 17" id="17"/>
          <p:cNvSpPr txBox="true"/>
          <p:nvPr/>
        </p:nvSpPr>
        <p:spPr>
          <a:xfrm rot="0">
            <a:off x="820474" y="2677945"/>
            <a:ext cx="5470602" cy="331504"/>
          </a:xfrm>
          <a:prstGeom prst="rect">
            <a:avLst/>
          </a:prstGeom>
        </p:spPr>
        <p:txBody>
          <a:bodyPr anchor="t" rtlCol="false" tIns="0" lIns="0" bIns="0" rIns="0">
            <a:spAutoFit/>
          </a:bodyPr>
          <a:lstStyle/>
          <a:p>
            <a:pPr algn="ctr" marL="0" indent="0" lvl="0">
              <a:lnSpc>
                <a:spcPts val="2635"/>
              </a:lnSpc>
            </a:pPr>
            <a:r>
              <a:rPr lang="en-US" b="true" sz="2059">
                <a:solidFill>
                  <a:srgbClr val="000000"/>
                </a:solidFill>
                <a:latin typeface="Montserrat Bold"/>
                <a:ea typeface="Montserrat Bold"/>
                <a:cs typeface="Montserrat Bold"/>
                <a:sym typeface="Montserrat Bold"/>
              </a:rPr>
              <a:t>Đối tượng và phạm vi quản lý</a:t>
            </a:r>
          </a:p>
        </p:txBody>
      </p:sp>
      <p:grpSp>
        <p:nvGrpSpPr>
          <p:cNvPr name="Group 18" id="18"/>
          <p:cNvGrpSpPr/>
          <p:nvPr/>
        </p:nvGrpSpPr>
        <p:grpSpPr>
          <a:xfrm rot="0">
            <a:off x="6767563" y="7165059"/>
            <a:ext cx="4741536" cy="1978941"/>
            <a:chOff x="0" y="0"/>
            <a:chExt cx="1766539" cy="737288"/>
          </a:xfrm>
        </p:grpSpPr>
        <p:sp>
          <p:nvSpPr>
            <p:cNvPr name="Freeform 19" id="19"/>
            <p:cNvSpPr/>
            <p:nvPr/>
          </p:nvSpPr>
          <p:spPr>
            <a:xfrm flipH="false" flipV="false" rot="0">
              <a:off x="0" y="0"/>
              <a:ext cx="1766539" cy="737288"/>
            </a:xfrm>
            <a:custGeom>
              <a:avLst/>
              <a:gdLst/>
              <a:ahLst/>
              <a:cxnLst/>
              <a:rect r="r" b="b" t="t" l="l"/>
              <a:pathLst>
                <a:path h="737288" w="1766539">
                  <a:moveTo>
                    <a:pt x="83272" y="0"/>
                  </a:moveTo>
                  <a:lnTo>
                    <a:pt x="1683267" y="0"/>
                  </a:lnTo>
                  <a:cubicBezTo>
                    <a:pt x="1705352" y="0"/>
                    <a:pt x="1726533" y="8773"/>
                    <a:pt x="1742149" y="24390"/>
                  </a:cubicBezTo>
                  <a:cubicBezTo>
                    <a:pt x="1757766" y="40006"/>
                    <a:pt x="1766539" y="61187"/>
                    <a:pt x="1766539" y="83272"/>
                  </a:cubicBezTo>
                  <a:lnTo>
                    <a:pt x="1766539" y="654016"/>
                  </a:lnTo>
                  <a:cubicBezTo>
                    <a:pt x="1766539" y="700005"/>
                    <a:pt x="1729257" y="737288"/>
                    <a:pt x="1683267" y="737288"/>
                  </a:cubicBezTo>
                  <a:lnTo>
                    <a:pt x="83272" y="737288"/>
                  </a:lnTo>
                  <a:cubicBezTo>
                    <a:pt x="37282" y="737288"/>
                    <a:pt x="0" y="700005"/>
                    <a:pt x="0" y="654016"/>
                  </a:cubicBezTo>
                  <a:lnTo>
                    <a:pt x="0" y="83272"/>
                  </a:lnTo>
                  <a:cubicBezTo>
                    <a:pt x="0" y="37282"/>
                    <a:pt x="37282" y="0"/>
                    <a:pt x="83272" y="0"/>
                  </a:cubicBezTo>
                  <a:close/>
                </a:path>
              </a:pathLst>
            </a:custGeom>
            <a:solidFill>
              <a:srgbClr val="0345E4"/>
            </a:solidFill>
          </p:spPr>
        </p:sp>
        <p:sp>
          <p:nvSpPr>
            <p:cNvPr name="TextBox 20" id="20"/>
            <p:cNvSpPr txBox="true"/>
            <p:nvPr/>
          </p:nvSpPr>
          <p:spPr>
            <a:xfrm>
              <a:off x="0" y="-38100"/>
              <a:ext cx="1766539" cy="775388"/>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6897170" y="4502711"/>
            <a:ext cx="4495249" cy="4536984"/>
            <a:chOff x="0" y="0"/>
            <a:chExt cx="1674781" cy="1690329"/>
          </a:xfrm>
        </p:grpSpPr>
        <p:sp>
          <p:nvSpPr>
            <p:cNvPr name="Freeform 22" id="22"/>
            <p:cNvSpPr/>
            <p:nvPr/>
          </p:nvSpPr>
          <p:spPr>
            <a:xfrm flipH="false" flipV="false" rot="0">
              <a:off x="0" y="0"/>
              <a:ext cx="1674781" cy="1690329"/>
            </a:xfrm>
            <a:custGeom>
              <a:avLst/>
              <a:gdLst/>
              <a:ahLst/>
              <a:cxnLst/>
              <a:rect r="r" b="b" t="t" l="l"/>
              <a:pathLst>
                <a:path h="1690329" w="1674781">
                  <a:moveTo>
                    <a:pt x="87834" y="0"/>
                  </a:moveTo>
                  <a:lnTo>
                    <a:pt x="1586946" y="0"/>
                  </a:lnTo>
                  <a:cubicBezTo>
                    <a:pt x="1610241" y="0"/>
                    <a:pt x="1632583" y="9254"/>
                    <a:pt x="1649055" y="25726"/>
                  </a:cubicBezTo>
                  <a:cubicBezTo>
                    <a:pt x="1665527" y="42198"/>
                    <a:pt x="1674781" y="64539"/>
                    <a:pt x="1674781" y="87834"/>
                  </a:cubicBezTo>
                  <a:lnTo>
                    <a:pt x="1674781" y="1602495"/>
                  </a:lnTo>
                  <a:cubicBezTo>
                    <a:pt x="1674781" y="1625790"/>
                    <a:pt x="1665527" y="1648131"/>
                    <a:pt x="1649055" y="1664603"/>
                  </a:cubicBezTo>
                  <a:cubicBezTo>
                    <a:pt x="1632583" y="1681075"/>
                    <a:pt x="1610241" y="1690329"/>
                    <a:pt x="1586946" y="1690329"/>
                  </a:cubicBezTo>
                  <a:lnTo>
                    <a:pt x="87834" y="1690329"/>
                  </a:lnTo>
                  <a:cubicBezTo>
                    <a:pt x="39325" y="1690329"/>
                    <a:pt x="0" y="1651004"/>
                    <a:pt x="0" y="1602495"/>
                  </a:cubicBezTo>
                  <a:lnTo>
                    <a:pt x="0" y="87834"/>
                  </a:lnTo>
                  <a:cubicBezTo>
                    <a:pt x="0" y="64539"/>
                    <a:pt x="9254" y="42198"/>
                    <a:pt x="25726" y="25726"/>
                  </a:cubicBezTo>
                  <a:cubicBezTo>
                    <a:pt x="42198" y="9254"/>
                    <a:pt x="64539" y="0"/>
                    <a:pt x="87834" y="0"/>
                  </a:cubicBezTo>
                  <a:close/>
                </a:path>
              </a:pathLst>
            </a:custGeom>
            <a:solidFill>
              <a:srgbClr val="E8ECEC"/>
            </a:solidFill>
          </p:spPr>
        </p:sp>
        <p:sp>
          <p:nvSpPr>
            <p:cNvPr name="TextBox 23" id="23"/>
            <p:cNvSpPr txBox="true"/>
            <p:nvPr/>
          </p:nvSpPr>
          <p:spPr>
            <a:xfrm>
              <a:off x="0" y="-38100"/>
              <a:ext cx="1674781" cy="1728429"/>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434329" y="3628528"/>
            <a:ext cx="1234015" cy="123401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2433500" y="7165059"/>
            <a:ext cx="4567546" cy="1978941"/>
            <a:chOff x="0" y="0"/>
            <a:chExt cx="1701716" cy="737288"/>
          </a:xfrm>
        </p:grpSpPr>
        <p:sp>
          <p:nvSpPr>
            <p:cNvPr name="Freeform 28" id="28"/>
            <p:cNvSpPr/>
            <p:nvPr/>
          </p:nvSpPr>
          <p:spPr>
            <a:xfrm flipH="false" flipV="false" rot="0">
              <a:off x="0" y="0"/>
              <a:ext cx="1701716" cy="737288"/>
            </a:xfrm>
            <a:custGeom>
              <a:avLst/>
              <a:gdLst/>
              <a:ahLst/>
              <a:cxnLst/>
              <a:rect r="r" b="b" t="t" l="l"/>
              <a:pathLst>
                <a:path h="737288" w="1701716">
                  <a:moveTo>
                    <a:pt x="86444" y="0"/>
                  </a:moveTo>
                  <a:lnTo>
                    <a:pt x="1615272" y="0"/>
                  </a:lnTo>
                  <a:cubicBezTo>
                    <a:pt x="1663014" y="0"/>
                    <a:pt x="1701716" y="38702"/>
                    <a:pt x="1701716" y="86444"/>
                  </a:cubicBezTo>
                  <a:lnTo>
                    <a:pt x="1701716" y="650844"/>
                  </a:lnTo>
                  <a:cubicBezTo>
                    <a:pt x="1701716" y="698585"/>
                    <a:pt x="1663014" y="737288"/>
                    <a:pt x="1615272" y="737288"/>
                  </a:cubicBezTo>
                  <a:lnTo>
                    <a:pt x="86444" y="737288"/>
                  </a:lnTo>
                  <a:cubicBezTo>
                    <a:pt x="38702" y="737288"/>
                    <a:pt x="0" y="698585"/>
                    <a:pt x="0" y="650844"/>
                  </a:cubicBezTo>
                  <a:lnTo>
                    <a:pt x="0" y="86444"/>
                  </a:lnTo>
                  <a:cubicBezTo>
                    <a:pt x="0" y="38702"/>
                    <a:pt x="38702" y="0"/>
                    <a:pt x="86444" y="0"/>
                  </a:cubicBezTo>
                  <a:close/>
                </a:path>
              </a:pathLst>
            </a:custGeom>
            <a:solidFill>
              <a:srgbClr val="0345E4"/>
            </a:solidFill>
          </p:spPr>
        </p:sp>
        <p:sp>
          <p:nvSpPr>
            <p:cNvPr name="TextBox 29" id="29"/>
            <p:cNvSpPr txBox="true"/>
            <p:nvPr/>
          </p:nvSpPr>
          <p:spPr>
            <a:xfrm>
              <a:off x="0" y="-38100"/>
              <a:ext cx="1701716" cy="775388"/>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2548249" y="4502711"/>
            <a:ext cx="4316668" cy="4536984"/>
            <a:chOff x="0" y="0"/>
            <a:chExt cx="1608247" cy="1690329"/>
          </a:xfrm>
        </p:grpSpPr>
        <p:sp>
          <p:nvSpPr>
            <p:cNvPr name="Freeform 31" id="31"/>
            <p:cNvSpPr/>
            <p:nvPr/>
          </p:nvSpPr>
          <p:spPr>
            <a:xfrm flipH="false" flipV="false" rot="0">
              <a:off x="0" y="0"/>
              <a:ext cx="1608247" cy="1690329"/>
            </a:xfrm>
            <a:custGeom>
              <a:avLst/>
              <a:gdLst/>
              <a:ahLst/>
              <a:cxnLst/>
              <a:rect r="r" b="b" t="t" l="l"/>
              <a:pathLst>
                <a:path h="1690329" w="1608247">
                  <a:moveTo>
                    <a:pt x="91468" y="0"/>
                  </a:moveTo>
                  <a:lnTo>
                    <a:pt x="1516779" y="0"/>
                  </a:lnTo>
                  <a:cubicBezTo>
                    <a:pt x="1567296" y="0"/>
                    <a:pt x="1608247" y="40952"/>
                    <a:pt x="1608247" y="91468"/>
                  </a:cubicBezTo>
                  <a:lnTo>
                    <a:pt x="1608247" y="1598861"/>
                  </a:lnTo>
                  <a:cubicBezTo>
                    <a:pt x="1608247" y="1649378"/>
                    <a:pt x="1567296" y="1690329"/>
                    <a:pt x="1516779" y="1690329"/>
                  </a:cubicBezTo>
                  <a:lnTo>
                    <a:pt x="91468" y="1690329"/>
                  </a:lnTo>
                  <a:cubicBezTo>
                    <a:pt x="40952" y="1690329"/>
                    <a:pt x="0" y="1649378"/>
                    <a:pt x="0" y="1598861"/>
                  </a:cubicBezTo>
                  <a:lnTo>
                    <a:pt x="0" y="91468"/>
                  </a:lnTo>
                  <a:cubicBezTo>
                    <a:pt x="0" y="40952"/>
                    <a:pt x="40952" y="0"/>
                    <a:pt x="91468" y="0"/>
                  </a:cubicBezTo>
                  <a:close/>
                </a:path>
              </a:pathLst>
            </a:custGeom>
            <a:solidFill>
              <a:srgbClr val="E8ECEC"/>
            </a:solidFill>
          </p:spPr>
        </p:sp>
        <p:sp>
          <p:nvSpPr>
            <p:cNvPr name="TextBox 32" id="32"/>
            <p:cNvSpPr txBox="true"/>
            <p:nvPr/>
          </p:nvSpPr>
          <p:spPr>
            <a:xfrm>
              <a:off x="0" y="-38100"/>
              <a:ext cx="1608247" cy="1728429"/>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4100265" y="3628528"/>
            <a:ext cx="1234015" cy="1234015"/>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36" id="36"/>
          <p:cNvSpPr/>
          <p:nvPr/>
        </p:nvSpPr>
        <p:spPr>
          <a:xfrm flipH="false" flipV="false" rot="0">
            <a:off x="8659939" y="4050101"/>
            <a:ext cx="781740" cy="390870"/>
          </a:xfrm>
          <a:custGeom>
            <a:avLst/>
            <a:gdLst/>
            <a:ahLst/>
            <a:cxnLst/>
            <a:rect r="r" b="b" t="t" l="l"/>
            <a:pathLst>
              <a:path h="390870" w="781740">
                <a:moveTo>
                  <a:pt x="0" y="0"/>
                </a:moveTo>
                <a:lnTo>
                  <a:pt x="781740" y="0"/>
                </a:lnTo>
                <a:lnTo>
                  <a:pt x="781740" y="390870"/>
                </a:lnTo>
                <a:lnTo>
                  <a:pt x="0" y="390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7" id="37"/>
          <p:cNvGrpSpPr/>
          <p:nvPr/>
        </p:nvGrpSpPr>
        <p:grpSpPr>
          <a:xfrm rot="0">
            <a:off x="1195875" y="7165059"/>
            <a:ext cx="4712536" cy="1978941"/>
            <a:chOff x="0" y="0"/>
            <a:chExt cx="1755734" cy="737288"/>
          </a:xfrm>
        </p:grpSpPr>
        <p:sp>
          <p:nvSpPr>
            <p:cNvPr name="Freeform 38" id="38"/>
            <p:cNvSpPr/>
            <p:nvPr/>
          </p:nvSpPr>
          <p:spPr>
            <a:xfrm flipH="false" flipV="false" rot="0">
              <a:off x="0" y="0"/>
              <a:ext cx="1755734" cy="737288"/>
            </a:xfrm>
            <a:custGeom>
              <a:avLst/>
              <a:gdLst/>
              <a:ahLst/>
              <a:cxnLst/>
              <a:rect r="r" b="b" t="t" l="l"/>
              <a:pathLst>
                <a:path h="737288" w="1755734">
                  <a:moveTo>
                    <a:pt x="83785" y="0"/>
                  </a:moveTo>
                  <a:lnTo>
                    <a:pt x="1671950" y="0"/>
                  </a:lnTo>
                  <a:cubicBezTo>
                    <a:pt x="1694171" y="0"/>
                    <a:pt x="1715482" y="8827"/>
                    <a:pt x="1731195" y="24540"/>
                  </a:cubicBezTo>
                  <a:cubicBezTo>
                    <a:pt x="1746907" y="40253"/>
                    <a:pt x="1755734" y="61564"/>
                    <a:pt x="1755734" y="83785"/>
                  </a:cubicBezTo>
                  <a:lnTo>
                    <a:pt x="1755734" y="653503"/>
                  </a:lnTo>
                  <a:cubicBezTo>
                    <a:pt x="1755734" y="675724"/>
                    <a:pt x="1746907" y="697035"/>
                    <a:pt x="1731195" y="712748"/>
                  </a:cubicBezTo>
                  <a:cubicBezTo>
                    <a:pt x="1715482" y="728460"/>
                    <a:pt x="1694171" y="737288"/>
                    <a:pt x="1671950" y="737288"/>
                  </a:cubicBezTo>
                  <a:lnTo>
                    <a:pt x="83785" y="737288"/>
                  </a:lnTo>
                  <a:cubicBezTo>
                    <a:pt x="61564" y="737288"/>
                    <a:pt x="40253" y="728460"/>
                    <a:pt x="24540" y="712748"/>
                  </a:cubicBezTo>
                  <a:cubicBezTo>
                    <a:pt x="8827" y="697035"/>
                    <a:pt x="0" y="675724"/>
                    <a:pt x="0" y="653503"/>
                  </a:cubicBezTo>
                  <a:lnTo>
                    <a:pt x="0" y="83785"/>
                  </a:lnTo>
                  <a:cubicBezTo>
                    <a:pt x="0" y="61564"/>
                    <a:pt x="8827" y="40253"/>
                    <a:pt x="24540" y="24540"/>
                  </a:cubicBezTo>
                  <a:cubicBezTo>
                    <a:pt x="40253" y="8827"/>
                    <a:pt x="61564" y="0"/>
                    <a:pt x="83785" y="0"/>
                  </a:cubicBezTo>
                  <a:close/>
                </a:path>
              </a:pathLst>
            </a:custGeom>
            <a:solidFill>
              <a:srgbClr val="0345E4"/>
            </a:solidFill>
          </p:spPr>
        </p:sp>
        <p:sp>
          <p:nvSpPr>
            <p:cNvPr name="TextBox 39" id="39"/>
            <p:cNvSpPr txBox="true"/>
            <p:nvPr/>
          </p:nvSpPr>
          <p:spPr>
            <a:xfrm>
              <a:off x="0" y="-38100"/>
              <a:ext cx="1755734" cy="775388"/>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350853" y="4502711"/>
            <a:ext cx="4416084" cy="4536984"/>
            <a:chOff x="0" y="0"/>
            <a:chExt cx="1645286" cy="1690329"/>
          </a:xfrm>
        </p:grpSpPr>
        <p:sp>
          <p:nvSpPr>
            <p:cNvPr name="Freeform 41" id="41"/>
            <p:cNvSpPr/>
            <p:nvPr/>
          </p:nvSpPr>
          <p:spPr>
            <a:xfrm flipH="false" flipV="false" rot="0">
              <a:off x="0" y="0"/>
              <a:ext cx="1645286" cy="1690329"/>
            </a:xfrm>
            <a:custGeom>
              <a:avLst/>
              <a:gdLst/>
              <a:ahLst/>
              <a:cxnLst/>
              <a:rect r="r" b="b" t="t" l="l"/>
              <a:pathLst>
                <a:path h="1690329" w="1645286">
                  <a:moveTo>
                    <a:pt x="89409" y="0"/>
                  </a:moveTo>
                  <a:lnTo>
                    <a:pt x="1555877" y="0"/>
                  </a:lnTo>
                  <a:cubicBezTo>
                    <a:pt x="1605256" y="0"/>
                    <a:pt x="1645286" y="40030"/>
                    <a:pt x="1645286" y="89409"/>
                  </a:cubicBezTo>
                  <a:lnTo>
                    <a:pt x="1645286" y="1600920"/>
                  </a:lnTo>
                  <a:cubicBezTo>
                    <a:pt x="1645286" y="1624633"/>
                    <a:pt x="1635866" y="1647375"/>
                    <a:pt x="1619099" y="1664142"/>
                  </a:cubicBezTo>
                  <a:cubicBezTo>
                    <a:pt x="1602331" y="1680910"/>
                    <a:pt x="1579590" y="1690329"/>
                    <a:pt x="1555877" y="1690329"/>
                  </a:cubicBezTo>
                  <a:lnTo>
                    <a:pt x="89409" y="1690329"/>
                  </a:lnTo>
                  <a:cubicBezTo>
                    <a:pt x="40030" y="1690329"/>
                    <a:pt x="0" y="1650300"/>
                    <a:pt x="0" y="1600920"/>
                  </a:cubicBezTo>
                  <a:lnTo>
                    <a:pt x="0" y="89409"/>
                  </a:lnTo>
                  <a:cubicBezTo>
                    <a:pt x="0" y="65696"/>
                    <a:pt x="9420" y="42955"/>
                    <a:pt x="26187" y="26187"/>
                  </a:cubicBezTo>
                  <a:cubicBezTo>
                    <a:pt x="42955" y="9420"/>
                    <a:pt x="65696" y="0"/>
                    <a:pt x="89409" y="0"/>
                  </a:cubicBezTo>
                  <a:close/>
                </a:path>
              </a:pathLst>
            </a:custGeom>
            <a:solidFill>
              <a:srgbClr val="E8ECEC"/>
            </a:solidFill>
            <a:ln cap="rnd">
              <a:noFill/>
              <a:prstDash val="solid"/>
              <a:round/>
            </a:ln>
          </p:spPr>
        </p:sp>
        <p:sp>
          <p:nvSpPr>
            <p:cNvPr name="TextBox 42" id="42"/>
            <p:cNvSpPr txBox="true"/>
            <p:nvPr/>
          </p:nvSpPr>
          <p:spPr>
            <a:xfrm>
              <a:off x="0" y="-38100"/>
              <a:ext cx="1645286" cy="1728429"/>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2819370" y="3580950"/>
            <a:ext cx="1234015" cy="1234015"/>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45" id="4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46" id="46"/>
          <p:cNvSpPr txBox="true"/>
          <p:nvPr/>
        </p:nvSpPr>
        <p:spPr>
          <a:xfrm rot="0">
            <a:off x="1311685" y="4948315"/>
            <a:ext cx="4350978" cy="4329025"/>
          </a:xfrm>
          <a:prstGeom prst="rect">
            <a:avLst/>
          </a:prstGeom>
        </p:spPr>
        <p:txBody>
          <a:bodyPr anchor="t" rtlCol="false" tIns="0" lIns="0" bIns="0" rIns="0">
            <a:spAutoFit/>
          </a:bodyPr>
          <a:lstStyle/>
          <a:p>
            <a:pPr algn="just" marL="443721" indent="-221861" lvl="1">
              <a:lnSpc>
                <a:spcPts val="3473"/>
              </a:lnSpc>
              <a:buFont typeface="Arial"/>
              <a:buChar char="•"/>
            </a:pPr>
            <a:r>
              <a:rPr lang="en-US" sz="2055">
                <a:solidFill>
                  <a:srgbClr val="000000"/>
                </a:solidFill>
                <a:latin typeface="Open Sans 1"/>
                <a:ea typeface="Open Sans 1"/>
                <a:cs typeface="Open Sans 1"/>
                <a:sym typeface="Open Sans 1"/>
              </a:rPr>
              <a:t>Hệ thống website quản lý việc        mượn – trả thiết bị giảng dạy.</a:t>
            </a:r>
          </a:p>
          <a:p>
            <a:pPr algn="just" marL="443721" indent="-221861" lvl="1">
              <a:lnSpc>
                <a:spcPts val="3473"/>
              </a:lnSpc>
              <a:buFont typeface="Arial"/>
              <a:buChar char="•"/>
            </a:pPr>
            <a:r>
              <a:rPr lang="en-US" sz="2055">
                <a:solidFill>
                  <a:srgbClr val="000000"/>
                </a:solidFill>
                <a:latin typeface="Open Sans 1"/>
                <a:ea typeface="Open Sans 1"/>
                <a:cs typeface="Open Sans 1"/>
                <a:sym typeface="Open Sans 1"/>
              </a:rPr>
              <a:t>Phục vụ các đối tượng sử dụng trong nhà trường.</a:t>
            </a:r>
          </a:p>
          <a:p>
            <a:pPr algn="just" marL="443721" indent="-221861" lvl="1">
              <a:lnSpc>
                <a:spcPts val="3473"/>
              </a:lnSpc>
              <a:buFont typeface="Arial"/>
              <a:buChar char="•"/>
            </a:pPr>
            <a:r>
              <a:rPr lang="en-US" sz="2055">
                <a:solidFill>
                  <a:srgbClr val="000000"/>
                </a:solidFill>
                <a:latin typeface="Open Sans 1"/>
                <a:ea typeface="Open Sans 1"/>
                <a:cs typeface="Open Sans 1"/>
                <a:sym typeface="Open Sans 1"/>
              </a:rPr>
              <a:t>Thống nhất q</a:t>
            </a:r>
            <a:r>
              <a:rPr lang="en-US" sz="2055">
                <a:solidFill>
                  <a:srgbClr val="000000"/>
                </a:solidFill>
                <a:latin typeface="Open Sans 1"/>
                <a:ea typeface="Open Sans 1"/>
                <a:cs typeface="Open Sans 1"/>
                <a:sym typeface="Open Sans 1"/>
              </a:rPr>
              <a:t>uản lý thông tin người dùng, thiết bị và hoạt động mượn – trả.</a:t>
            </a:r>
          </a:p>
          <a:p>
            <a:pPr algn="just" marL="443721" indent="-221861" lvl="1">
              <a:lnSpc>
                <a:spcPts val="3473"/>
              </a:lnSpc>
              <a:buFont typeface="Arial"/>
              <a:buChar char="•"/>
            </a:pPr>
            <a:r>
              <a:rPr lang="en-US" sz="2055">
                <a:solidFill>
                  <a:srgbClr val="000000"/>
                </a:solidFill>
                <a:latin typeface="Open Sans 1"/>
                <a:ea typeface="Open Sans 1"/>
                <a:cs typeface="Open Sans 1"/>
                <a:sym typeface="Open Sans 1"/>
              </a:rPr>
              <a:t>Quản lý tập trung thiết bị giảng dạy tại Trường Đại học Trà Vinh.</a:t>
            </a:r>
          </a:p>
          <a:p>
            <a:pPr algn="just">
              <a:lnSpc>
                <a:spcPts val="3185"/>
              </a:lnSpc>
            </a:pPr>
          </a:p>
        </p:txBody>
      </p:sp>
      <p:sp>
        <p:nvSpPr>
          <p:cNvPr name="TextBox 47" id="47"/>
          <p:cNvSpPr txBox="true"/>
          <p:nvPr/>
        </p:nvSpPr>
        <p:spPr>
          <a:xfrm rot="0">
            <a:off x="12613999" y="4989951"/>
            <a:ext cx="4134135" cy="4258824"/>
          </a:xfrm>
          <a:prstGeom prst="rect">
            <a:avLst/>
          </a:prstGeom>
        </p:spPr>
        <p:txBody>
          <a:bodyPr anchor="t" rtlCol="false" tIns="0" lIns="0" bIns="0" rIns="0">
            <a:spAutoFit/>
          </a:bodyPr>
          <a:lstStyle/>
          <a:p>
            <a:pPr algn="just" marL="443721" indent="-221861" lvl="1">
              <a:lnSpc>
                <a:spcPts val="3432"/>
              </a:lnSpc>
              <a:buFont typeface="Arial"/>
              <a:buChar char="•"/>
            </a:pPr>
            <a:r>
              <a:rPr lang="en-US" sz="2055">
                <a:solidFill>
                  <a:srgbClr val="000000"/>
                </a:solidFill>
                <a:latin typeface="Open Sans 1"/>
                <a:ea typeface="Open Sans 1"/>
                <a:cs typeface="Open Sans 1"/>
                <a:sym typeface="Open Sans 1"/>
              </a:rPr>
              <a:t>Triển khai dưới dạng website.</a:t>
            </a:r>
          </a:p>
          <a:p>
            <a:pPr algn="just" marL="443721" indent="-221861" lvl="1">
              <a:lnSpc>
                <a:spcPts val="3432"/>
              </a:lnSpc>
              <a:buFont typeface="Arial"/>
              <a:buChar char="•"/>
            </a:pPr>
            <a:r>
              <a:rPr lang="en-US" sz="2055">
                <a:solidFill>
                  <a:srgbClr val="000000"/>
                </a:solidFill>
                <a:latin typeface="Open Sans 1"/>
                <a:ea typeface="Open Sans 1"/>
                <a:cs typeface="Open Sans 1"/>
                <a:sym typeface="Open Sans 1"/>
              </a:rPr>
              <a:t>Tr</a:t>
            </a:r>
            <a:r>
              <a:rPr lang="en-US" sz="2055">
                <a:solidFill>
                  <a:srgbClr val="000000"/>
                </a:solidFill>
                <a:latin typeface="Open Sans 1"/>
                <a:ea typeface="Open Sans 1"/>
                <a:cs typeface="Open Sans 1"/>
                <a:sym typeface="Open Sans 1"/>
              </a:rPr>
              <a:t>uy cập và sử dụng qua trình duyệt web.</a:t>
            </a:r>
          </a:p>
          <a:p>
            <a:pPr algn="just" marL="443721" indent="-221861" lvl="1">
              <a:lnSpc>
                <a:spcPts val="3432"/>
              </a:lnSpc>
              <a:buFont typeface="Arial"/>
              <a:buChar char="•"/>
            </a:pPr>
            <a:r>
              <a:rPr lang="en-US" sz="2055">
                <a:solidFill>
                  <a:srgbClr val="000000"/>
                </a:solidFill>
                <a:latin typeface="Open Sans 1"/>
                <a:ea typeface="Open Sans 1"/>
                <a:cs typeface="Open Sans 1"/>
                <a:sym typeface="Open Sans 1"/>
              </a:rPr>
              <a:t>Dữ liệu lưu trữ tập trung trên MySQL.</a:t>
            </a:r>
          </a:p>
          <a:p>
            <a:pPr algn="just" marL="443721" indent="-221861" lvl="1">
              <a:lnSpc>
                <a:spcPts val="3432"/>
              </a:lnSpc>
              <a:buFont typeface="Arial"/>
              <a:buChar char="•"/>
            </a:pPr>
            <a:r>
              <a:rPr lang="en-US" sz="2055">
                <a:solidFill>
                  <a:srgbClr val="000000"/>
                </a:solidFill>
                <a:latin typeface="Open Sans 1"/>
                <a:ea typeface="Open Sans 1"/>
                <a:cs typeface="Open Sans 1"/>
                <a:sym typeface="Open Sans 1"/>
              </a:rPr>
              <a:t>Phân quyền</a:t>
            </a:r>
            <a:r>
              <a:rPr lang="en-US" sz="2055">
                <a:solidFill>
                  <a:srgbClr val="000000"/>
                </a:solidFill>
                <a:latin typeface="Open Sans 1"/>
                <a:ea typeface="Open Sans 1"/>
                <a:cs typeface="Open Sans 1"/>
                <a:sym typeface="Open Sans 1"/>
              </a:rPr>
              <a:t> chức năng theo vai trò</a:t>
            </a:r>
            <a:r>
              <a:rPr lang="en-US" sz="2055">
                <a:solidFill>
                  <a:srgbClr val="000000"/>
                </a:solidFill>
                <a:latin typeface="Open Sans 1"/>
                <a:ea typeface="Open Sans 1"/>
                <a:cs typeface="Open Sans 1"/>
                <a:sym typeface="Open Sans 1"/>
              </a:rPr>
              <a:t> người dùng.</a:t>
            </a:r>
          </a:p>
          <a:p>
            <a:pPr algn="just" marL="443721" indent="-221861" lvl="1">
              <a:lnSpc>
                <a:spcPts val="3432"/>
              </a:lnSpc>
              <a:buFont typeface="Arial"/>
              <a:buChar char="•"/>
            </a:pPr>
            <a:r>
              <a:rPr lang="en-US" sz="2055">
                <a:solidFill>
                  <a:srgbClr val="000000"/>
                </a:solidFill>
                <a:latin typeface="Open Sans 1"/>
                <a:ea typeface="Open Sans 1"/>
                <a:cs typeface="Open Sans 1"/>
                <a:sym typeface="Open Sans 1"/>
              </a:rPr>
              <a:t>Ghi nhận theo dõi trạng thái thiết bị theo thời gian thực.</a:t>
            </a:r>
          </a:p>
          <a:p>
            <a:pPr algn="just" marL="0" indent="0" lvl="0">
              <a:lnSpc>
                <a:spcPts val="3432"/>
              </a:lnSpc>
            </a:pPr>
          </a:p>
        </p:txBody>
      </p:sp>
      <p:sp>
        <p:nvSpPr>
          <p:cNvPr name="Freeform 48" id="48"/>
          <p:cNvSpPr/>
          <p:nvPr/>
        </p:nvSpPr>
        <p:spPr>
          <a:xfrm flipH="false" flipV="false" rot="0">
            <a:off x="14288020" y="3859043"/>
            <a:ext cx="800268" cy="772986"/>
          </a:xfrm>
          <a:custGeom>
            <a:avLst/>
            <a:gdLst/>
            <a:ahLst/>
            <a:cxnLst/>
            <a:rect r="r" b="b" t="t" l="l"/>
            <a:pathLst>
              <a:path h="772986" w="800268">
                <a:moveTo>
                  <a:pt x="0" y="0"/>
                </a:moveTo>
                <a:lnTo>
                  <a:pt x="800268" y="0"/>
                </a:lnTo>
                <a:lnTo>
                  <a:pt x="800268" y="772986"/>
                </a:lnTo>
                <a:lnTo>
                  <a:pt x="0" y="7729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9" id="49"/>
          <p:cNvSpPr txBox="true"/>
          <p:nvPr/>
        </p:nvSpPr>
        <p:spPr>
          <a:xfrm rot="0">
            <a:off x="7009825" y="5059827"/>
            <a:ext cx="4196119" cy="3363850"/>
          </a:xfrm>
          <a:prstGeom prst="rect">
            <a:avLst/>
          </a:prstGeom>
        </p:spPr>
        <p:txBody>
          <a:bodyPr anchor="t" rtlCol="false" tIns="0" lIns="0" bIns="0" rIns="0">
            <a:spAutoFit/>
          </a:bodyPr>
          <a:lstStyle/>
          <a:p>
            <a:pPr algn="just" marL="474978" indent="-237489" lvl="1">
              <a:lnSpc>
                <a:spcPts val="3827"/>
              </a:lnSpc>
              <a:buFont typeface="Arial"/>
              <a:buChar char="•"/>
            </a:pPr>
            <a:r>
              <a:rPr lang="en-US" sz="2199">
                <a:solidFill>
                  <a:srgbClr val="000000"/>
                </a:solidFill>
                <a:latin typeface="Open Sans 1"/>
                <a:ea typeface="Open Sans 1"/>
                <a:cs typeface="Open Sans 1"/>
                <a:sym typeface="Open Sans 1"/>
              </a:rPr>
              <a:t>Nhóm chức năng dành cho sinh viên, g</a:t>
            </a:r>
            <a:r>
              <a:rPr lang="en-US" sz="2199">
                <a:solidFill>
                  <a:srgbClr val="000000"/>
                </a:solidFill>
                <a:latin typeface="Open Sans 1"/>
                <a:ea typeface="Open Sans 1"/>
                <a:cs typeface="Open Sans 1"/>
                <a:sym typeface="Open Sans 1"/>
              </a:rPr>
              <a:t>iảng viên.</a:t>
            </a:r>
          </a:p>
          <a:p>
            <a:pPr algn="just" marL="474978" indent="-237489" lvl="1">
              <a:lnSpc>
                <a:spcPts val="3827"/>
              </a:lnSpc>
              <a:buFont typeface="Arial"/>
              <a:buChar char="•"/>
            </a:pPr>
            <a:r>
              <a:rPr lang="en-US" sz="2199">
                <a:solidFill>
                  <a:srgbClr val="000000"/>
                </a:solidFill>
                <a:latin typeface="Open Sans 1"/>
                <a:ea typeface="Open Sans 1"/>
                <a:cs typeface="Open Sans 1"/>
                <a:sym typeface="Open Sans 1"/>
              </a:rPr>
              <a:t>Nhóm chức năng dành cho các quản trị viên.</a:t>
            </a:r>
          </a:p>
          <a:p>
            <a:pPr algn="just" marL="474978" indent="-237489" lvl="1">
              <a:lnSpc>
                <a:spcPts val="3827"/>
              </a:lnSpc>
              <a:buFont typeface="Arial"/>
              <a:buChar char="•"/>
            </a:pPr>
            <a:r>
              <a:rPr lang="en-US" sz="2199">
                <a:solidFill>
                  <a:srgbClr val="000000"/>
                </a:solidFill>
                <a:latin typeface="Open Sans 1"/>
                <a:ea typeface="Open Sans 1"/>
                <a:cs typeface="Open Sans 1"/>
                <a:sym typeface="Open Sans 1"/>
              </a:rPr>
              <a:t>Nhóm chức năng dành cho Quản trị hệ thống.</a:t>
            </a:r>
          </a:p>
          <a:p>
            <a:pPr algn="just">
              <a:lnSpc>
                <a:spcPts val="3827"/>
              </a:lnSpc>
            </a:pPr>
          </a:p>
        </p:txBody>
      </p:sp>
      <p:sp>
        <p:nvSpPr>
          <p:cNvPr name="Freeform 50" id="50"/>
          <p:cNvSpPr/>
          <p:nvPr/>
        </p:nvSpPr>
        <p:spPr>
          <a:xfrm flipH="false" flipV="false" rot="0">
            <a:off x="2997110" y="3885284"/>
            <a:ext cx="873221" cy="555686"/>
          </a:xfrm>
          <a:custGeom>
            <a:avLst/>
            <a:gdLst/>
            <a:ahLst/>
            <a:cxnLst/>
            <a:rect r="r" b="b" t="t" l="l"/>
            <a:pathLst>
              <a:path h="555686" w="873221">
                <a:moveTo>
                  <a:pt x="0" y="0"/>
                </a:moveTo>
                <a:lnTo>
                  <a:pt x="873221" y="0"/>
                </a:lnTo>
                <a:lnTo>
                  <a:pt x="873221" y="555687"/>
                </a:lnTo>
                <a:lnTo>
                  <a:pt x="0" y="55568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63324" y="29376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4178899" y="2010420"/>
            <a:ext cx="9418845" cy="6733200"/>
          </a:xfrm>
          <a:custGeom>
            <a:avLst/>
            <a:gdLst/>
            <a:ahLst/>
            <a:cxnLst/>
            <a:rect r="r" b="b" t="t" l="l"/>
            <a:pathLst>
              <a:path h="6733200" w="9418845">
                <a:moveTo>
                  <a:pt x="0" y="0"/>
                </a:moveTo>
                <a:lnTo>
                  <a:pt x="9418844" y="0"/>
                </a:lnTo>
                <a:lnTo>
                  <a:pt x="9418844" y="6733201"/>
                </a:lnTo>
                <a:lnTo>
                  <a:pt x="0" y="6733201"/>
                </a:lnTo>
                <a:lnTo>
                  <a:pt x="0" y="0"/>
                </a:lnTo>
                <a:close/>
              </a:path>
            </a:pathLst>
          </a:custGeom>
          <a:blipFill>
            <a:blip r:embed="rId3"/>
            <a:stretch>
              <a:fillRect l="-2993" t="0" r="-3945" b="0"/>
            </a:stretch>
          </a:blipFill>
        </p:spPr>
      </p:sp>
      <p:sp>
        <p:nvSpPr>
          <p:cNvPr name="TextBox 8" id="8"/>
          <p:cNvSpPr txBox="true"/>
          <p:nvPr/>
        </p:nvSpPr>
        <p:spPr>
          <a:xfrm rot="0">
            <a:off x="763324" y="9350588"/>
            <a:ext cx="14982825" cy="40957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9" id="9"/>
          <p:cNvSpPr txBox="true"/>
          <p:nvPr/>
        </p:nvSpPr>
        <p:spPr>
          <a:xfrm rot="0">
            <a:off x="17259300" y="9360113"/>
            <a:ext cx="222528" cy="45726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9</a:t>
            </a:r>
          </a:p>
        </p:txBody>
      </p:sp>
      <p:sp>
        <p:nvSpPr>
          <p:cNvPr name="TextBox 10" id="10"/>
          <p:cNvSpPr txBox="true"/>
          <p:nvPr/>
        </p:nvSpPr>
        <p:spPr>
          <a:xfrm rot="0">
            <a:off x="1085850" y="249309"/>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3. PHƯƠNG PHÁP THỰC HIỆN</a:t>
            </a:r>
          </a:p>
        </p:txBody>
      </p:sp>
      <p:sp>
        <p:nvSpPr>
          <p:cNvPr name="TextBox 11" id="11"/>
          <p:cNvSpPr txBox="true"/>
          <p:nvPr/>
        </p:nvSpPr>
        <p:spPr>
          <a:xfrm rot="0">
            <a:off x="1513104" y="1269032"/>
            <a:ext cx="10941380"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3.2 – Phân tích thiết kế hệ thống</a:t>
            </a:r>
          </a:p>
        </p:txBody>
      </p:sp>
      <p:sp>
        <p:nvSpPr>
          <p:cNvPr name="TextBox 12" id="12"/>
          <p:cNvSpPr txBox="true"/>
          <p:nvPr/>
        </p:nvSpPr>
        <p:spPr>
          <a:xfrm rot="0">
            <a:off x="5351096" y="8740226"/>
            <a:ext cx="6959349" cy="407738"/>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3.1 Sơ đồ Use case hệ thống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63324" y="29376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2945663" y="2014433"/>
            <a:ext cx="12396675" cy="6721030"/>
          </a:xfrm>
          <a:custGeom>
            <a:avLst/>
            <a:gdLst/>
            <a:ahLst/>
            <a:cxnLst/>
            <a:rect r="r" b="b" t="t" l="l"/>
            <a:pathLst>
              <a:path h="6721030" w="12396675">
                <a:moveTo>
                  <a:pt x="0" y="0"/>
                </a:moveTo>
                <a:lnTo>
                  <a:pt x="12396674" y="0"/>
                </a:lnTo>
                <a:lnTo>
                  <a:pt x="12396674" y="6721030"/>
                </a:lnTo>
                <a:lnTo>
                  <a:pt x="0" y="6721030"/>
                </a:lnTo>
                <a:lnTo>
                  <a:pt x="0" y="0"/>
                </a:lnTo>
                <a:close/>
              </a:path>
            </a:pathLst>
          </a:custGeom>
          <a:blipFill>
            <a:blip r:embed="rId3"/>
            <a:stretch>
              <a:fillRect l="0" t="0" r="-24452" b="-23166"/>
            </a:stretch>
          </a:blipFill>
        </p:spPr>
      </p:sp>
      <p:sp>
        <p:nvSpPr>
          <p:cNvPr name="TextBox 8" id="8"/>
          <p:cNvSpPr txBox="true"/>
          <p:nvPr/>
        </p:nvSpPr>
        <p:spPr>
          <a:xfrm rot="0">
            <a:off x="763324" y="9350588"/>
            <a:ext cx="14982825" cy="40957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9" id="9"/>
          <p:cNvSpPr txBox="true"/>
          <p:nvPr/>
        </p:nvSpPr>
        <p:spPr>
          <a:xfrm rot="0">
            <a:off x="17259300" y="9360113"/>
            <a:ext cx="444877" cy="45726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10</a:t>
            </a:r>
          </a:p>
        </p:txBody>
      </p:sp>
      <p:sp>
        <p:nvSpPr>
          <p:cNvPr name="TextBox 10" id="10"/>
          <p:cNvSpPr txBox="true"/>
          <p:nvPr/>
        </p:nvSpPr>
        <p:spPr>
          <a:xfrm rot="0">
            <a:off x="1085850" y="249309"/>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3. PHƯƠNG PHÁP THỰC HIỆN</a:t>
            </a:r>
          </a:p>
        </p:txBody>
      </p:sp>
      <p:sp>
        <p:nvSpPr>
          <p:cNvPr name="TextBox 11" id="11"/>
          <p:cNvSpPr txBox="true"/>
          <p:nvPr/>
        </p:nvSpPr>
        <p:spPr>
          <a:xfrm rot="0">
            <a:off x="1513104" y="1269032"/>
            <a:ext cx="10941380"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3.2 – Phân tích thiết kế hệ thống</a:t>
            </a:r>
          </a:p>
        </p:txBody>
      </p:sp>
      <p:sp>
        <p:nvSpPr>
          <p:cNvPr name="TextBox 12" id="12"/>
          <p:cNvSpPr txBox="true"/>
          <p:nvPr/>
        </p:nvSpPr>
        <p:spPr>
          <a:xfrm rot="0">
            <a:off x="7076360" y="8678313"/>
            <a:ext cx="4135279" cy="407797"/>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3.2 Mô hình dữ liệu ERD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197248"/>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860652" y="1956846"/>
            <a:ext cx="7241540" cy="6748764"/>
          </a:xfrm>
          <a:custGeom>
            <a:avLst/>
            <a:gdLst/>
            <a:ahLst/>
            <a:cxnLst/>
            <a:rect r="r" b="b" t="t" l="l"/>
            <a:pathLst>
              <a:path h="6748764" w="7241540">
                <a:moveTo>
                  <a:pt x="0" y="0"/>
                </a:moveTo>
                <a:lnTo>
                  <a:pt x="7241539" y="0"/>
                </a:lnTo>
                <a:lnTo>
                  <a:pt x="7241539" y="6748764"/>
                </a:lnTo>
                <a:lnTo>
                  <a:pt x="0" y="6748764"/>
                </a:lnTo>
                <a:lnTo>
                  <a:pt x="0" y="0"/>
                </a:lnTo>
                <a:close/>
              </a:path>
            </a:pathLst>
          </a:custGeom>
          <a:blipFill>
            <a:blip r:embed="rId3"/>
            <a:stretch>
              <a:fillRect l="0" t="0" r="0" b="-43948"/>
            </a:stretch>
          </a:blipFill>
          <a:ln w="28575" cap="sq">
            <a:solidFill>
              <a:srgbClr val="004BFF"/>
            </a:solidFill>
            <a:prstDash val="solid"/>
            <a:miter/>
          </a:ln>
        </p:spPr>
      </p:sp>
      <p:sp>
        <p:nvSpPr>
          <p:cNvPr name="Freeform 8" id="8"/>
          <p:cNvSpPr/>
          <p:nvPr/>
        </p:nvSpPr>
        <p:spPr>
          <a:xfrm flipH="false" flipV="false" rot="0">
            <a:off x="10006277" y="1804071"/>
            <a:ext cx="7253023" cy="6845458"/>
          </a:xfrm>
          <a:custGeom>
            <a:avLst/>
            <a:gdLst/>
            <a:ahLst/>
            <a:cxnLst/>
            <a:rect r="r" b="b" t="t" l="l"/>
            <a:pathLst>
              <a:path h="6845458" w="7253023">
                <a:moveTo>
                  <a:pt x="0" y="0"/>
                </a:moveTo>
                <a:lnTo>
                  <a:pt x="7253023" y="0"/>
                </a:lnTo>
                <a:lnTo>
                  <a:pt x="7253023" y="6845458"/>
                </a:lnTo>
                <a:lnTo>
                  <a:pt x="0" y="6845458"/>
                </a:lnTo>
                <a:lnTo>
                  <a:pt x="0" y="0"/>
                </a:lnTo>
                <a:close/>
              </a:path>
            </a:pathLst>
          </a:custGeom>
          <a:blipFill>
            <a:blip r:embed="rId4"/>
            <a:stretch>
              <a:fillRect l="-11092" t="0" r="-11251" b="-36391"/>
            </a:stretch>
          </a:blipFill>
          <a:ln w="28575" cap="sq">
            <a:solidFill>
              <a:srgbClr val="004BFF"/>
            </a:solidFill>
            <a:prstDash val="solid"/>
            <a:miter/>
          </a:ln>
        </p:spPr>
      </p:sp>
      <p:sp>
        <p:nvSpPr>
          <p:cNvPr name="TextBox 9" id="9"/>
          <p:cNvSpPr txBox="true"/>
          <p:nvPr/>
        </p:nvSpPr>
        <p:spPr>
          <a:xfrm rot="0">
            <a:off x="763324" y="9350588"/>
            <a:ext cx="14981158" cy="40963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10" id="10"/>
          <p:cNvSpPr txBox="true"/>
          <p:nvPr/>
        </p:nvSpPr>
        <p:spPr>
          <a:xfrm rot="0">
            <a:off x="17259300" y="9360113"/>
            <a:ext cx="444861"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11</a:t>
            </a:r>
          </a:p>
        </p:txBody>
      </p:sp>
      <p:sp>
        <p:nvSpPr>
          <p:cNvPr name="TextBox 11" id="11"/>
          <p:cNvSpPr txBox="true"/>
          <p:nvPr/>
        </p:nvSpPr>
        <p:spPr>
          <a:xfrm rot="0">
            <a:off x="1019175" y="152796"/>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3. PHƯƠNG PHÁP THỰC HIỆN</a:t>
            </a:r>
          </a:p>
        </p:txBody>
      </p:sp>
      <p:sp>
        <p:nvSpPr>
          <p:cNvPr name="TextBox 12" id="12"/>
          <p:cNvSpPr txBox="true"/>
          <p:nvPr/>
        </p:nvSpPr>
        <p:spPr>
          <a:xfrm rot="0">
            <a:off x="1410182" y="1172519"/>
            <a:ext cx="10529591"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3.3 – Phác thảo các giao diện chính</a:t>
            </a:r>
          </a:p>
        </p:txBody>
      </p:sp>
      <p:sp>
        <p:nvSpPr>
          <p:cNvPr name="TextBox 13" id="13"/>
          <p:cNvSpPr txBox="true"/>
          <p:nvPr/>
        </p:nvSpPr>
        <p:spPr>
          <a:xfrm rot="0">
            <a:off x="1856308" y="8743710"/>
            <a:ext cx="5250227" cy="407738"/>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3.4 Giao diện phác thảo trang chủ</a:t>
            </a:r>
          </a:p>
        </p:txBody>
      </p:sp>
      <p:sp>
        <p:nvSpPr>
          <p:cNvPr name="TextBox 14" id="14"/>
          <p:cNvSpPr txBox="true"/>
          <p:nvPr/>
        </p:nvSpPr>
        <p:spPr>
          <a:xfrm rot="0">
            <a:off x="10743855" y="8736262"/>
            <a:ext cx="5676947" cy="407738"/>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3.5 Giao diện phác thảo trang thiết bị</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92473"/>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368989" y="1808665"/>
            <a:ext cx="7755650" cy="6887420"/>
          </a:xfrm>
          <a:custGeom>
            <a:avLst/>
            <a:gdLst/>
            <a:ahLst/>
            <a:cxnLst/>
            <a:rect r="r" b="b" t="t" l="l"/>
            <a:pathLst>
              <a:path h="6887420" w="7755650">
                <a:moveTo>
                  <a:pt x="0" y="0"/>
                </a:moveTo>
                <a:lnTo>
                  <a:pt x="7755650" y="0"/>
                </a:lnTo>
                <a:lnTo>
                  <a:pt x="7755650" y="6887420"/>
                </a:lnTo>
                <a:lnTo>
                  <a:pt x="0" y="6887420"/>
                </a:lnTo>
                <a:lnTo>
                  <a:pt x="0" y="0"/>
                </a:lnTo>
                <a:close/>
              </a:path>
            </a:pathLst>
          </a:custGeom>
          <a:blipFill>
            <a:blip r:embed="rId3"/>
            <a:stretch>
              <a:fillRect l="0" t="-486" r="0" b="-67269"/>
            </a:stretch>
          </a:blipFill>
          <a:ln w="28575" cap="sq">
            <a:solidFill>
              <a:srgbClr val="004BFF"/>
            </a:solidFill>
            <a:prstDash val="solid"/>
            <a:miter/>
          </a:ln>
        </p:spPr>
      </p:sp>
      <p:sp>
        <p:nvSpPr>
          <p:cNvPr name="Freeform 8" id="8"/>
          <p:cNvSpPr/>
          <p:nvPr/>
        </p:nvSpPr>
        <p:spPr>
          <a:xfrm flipH="false" flipV="false" rot="0">
            <a:off x="8388048" y="2719573"/>
            <a:ext cx="9740848" cy="5976512"/>
          </a:xfrm>
          <a:custGeom>
            <a:avLst/>
            <a:gdLst/>
            <a:ahLst/>
            <a:cxnLst/>
            <a:rect r="r" b="b" t="t" l="l"/>
            <a:pathLst>
              <a:path h="5976512" w="9740848">
                <a:moveTo>
                  <a:pt x="0" y="0"/>
                </a:moveTo>
                <a:lnTo>
                  <a:pt x="9740847" y="0"/>
                </a:lnTo>
                <a:lnTo>
                  <a:pt x="9740847" y="5976512"/>
                </a:lnTo>
                <a:lnTo>
                  <a:pt x="0" y="5976512"/>
                </a:lnTo>
                <a:lnTo>
                  <a:pt x="0" y="0"/>
                </a:lnTo>
                <a:close/>
              </a:path>
            </a:pathLst>
          </a:custGeom>
          <a:blipFill>
            <a:blip r:embed="rId4"/>
            <a:stretch>
              <a:fillRect l="-2764" t="0" r="-2868" b="0"/>
            </a:stretch>
          </a:blipFill>
          <a:ln w="28575" cap="sq">
            <a:solidFill>
              <a:srgbClr val="004BFF"/>
            </a:solidFill>
            <a:prstDash val="solid"/>
            <a:miter/>
          </a:ln>
        </p:spPr>
      </p:sp>
      <p:sp>
        <p:nvSpPr>
          <p:cNvPr name="TextBox 9" id="9"/>
          <p:cNvSpPr txBox="true"/>
          <p:nvPr/>
        </p:nvSpPr>
        <p:spPr>
          <a:xfrm rot="0">
            <a:off x="763324" y="9350588"/>
            <a:ext cx="14981158" cy="40963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10" id="10"/>
          <p:cNvSpPr txBox="true"/>
          <p:nvPr/>
        </p:nvSpPr>
        <p:spPr>
          <a:xfrm rot="0">
            <a:off x="17259300" y="9360113"/>
            <a:ext cx="444861"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12</a:t>
            </a:r>
          </a:p>
        </p:txBody>
      </p:sp>
      <p:sp>
        <p:nvSpPr>
          <p:cNvPr name="TextBox 11" id="11"/>
          <p:cNvSpPr txBox="true"/>
          <p:nvPr/>
        </p:nvSpPr>
        <p:spPr>
          <a:xfrm rot="0">
            <a:off x="1019175" y="48021"/>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3. PHƯƠNG PHÁP THỰC HIỆN</a:t>
            </a:r>
          </a:p>
        </p:txBody>
      </p:sp>
      <p:sp>
        <p:nvSpPr>
          <p:cNvPr name="TextBox 12" id="12"/>
          <p:cNvSpPr txBox="true"/>
          <p:nvPr/>
        </p:nvSpPr>
        <p:spPr>
          <a:xfrm rot="0">
            <a:off x="1428305" y="1067744"/>
            <a:ext cx="10511467"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3.3 – Phác thảo các giao diện chính</a:t>
            </a:r>
          </a:p>
        </p:txBody>
      </p:sp>
      <p:sp>
        <p:nvSpPr>
          <p:cNvPr name="TextBox 13" id="13"/>
          <p:cNvSpPr txBox="true"/>
          <p:nvPr/>
        </p:nvSpPr>
        <p:spPr>
          <a:xfrm rot="0">
            <a:off x="1106248" y="8736203"/>
            <a:ext cx="6142120" cy="407738"/>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3.6 Giao diện phác thảo trang Dashboard</a:t>
            </a:r>
          </a:p>
        </p:txBody>
      </p:sp>
      <p:sp>
        <p:nvSpPr>
          <p:cNvPr name="TextBox 14" id="14"/>
          <p:cNvSpPr txBox="true"/>
          <p:nvPr/>
        </p:nvSpPr>
        <p:spPr>
          <a:xfrm rot="0">
            <a:off x="8388048" y="8792344"/>
            <a:ext cx="9740848" cy="407738"/>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3.7 Giao diện phác thảo trang quản trị hệ thống - người dùng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197248"/>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376962" y="2022077"/>
            <a:ext cx="7856959" cy="6377063"/>
          </a:xfrm>
          <a:custGeom>
            <a:avLst/>
            <a:gdLst/>
            <a:ahLst/>
            <a:cxnLst/>
            <a:rect r="r" b="b" t="t" l="l"/>
            <a:pathLst>
              <a:path h="6377063" w="7856959">
                <a:moveTo>
                  <a:pt x="0" y="0"/>
                </a:moveTo>
                <a:lnTo>
                  <a:pt x="7856959" y="0"/>
                </a:lnTo>
                <a:lnTo>
                  <a:pt x="7856959" y="6377063"/>
                </a:lnTo>
                <a:lnTo>
                  <a:pt x="0" y="6377063"/>
                </a:lnTo>
                <a:lnTo>
                  <a:pt x="0" y="0"/>
                </a:lnTo>
                <a:close/>
              </a:path>
            </a:pathLst>
          </a:custGeom>
          <a:blipFill>
            <a:blip r:embed="rId3"/>
            <a:stretch>
              <a:fillRect l="0" t="-7079" r="0" b="-19992"/>
            </a:stretch>
          </a:blipFill>
          <a:ln w="28575" cap="sq">
            <a:solidFill>
              <a:srgbClr val="004BFF"/>
            </a:solidFill>
            <a:prstDash val="solid"/>
            <a:miter/>
          </a:ln>
        </p:spPr>
      </p:sp>
      <p:sp>
        <p:nvSpPr>
          <p:cNvPr name="Freeform 8" id="8"/>
          <p:cNvSpPr/>
          <p:nvPr/>
        </p:nvSpPr>
        <p:spPr>
          <a:xfrm flipH="false" flipV="false" rot="0">
            <a:off x="8383004" y="2696308"/>
            <a:ext cx="9754127" cy="5673659"/>
          </a:xfrm>
          <a:custGeom>
            <a:avLst/>
            <a:gdLst/>
            <a:ahLst/>
            <a:cxnLst/>
            <a:rect r="r" b="b" t="t" l="l"/>
            <a:pathLst>
              <a:path h="5673659" w="9754127">
                <a:moveTo>
                  <a:pt x="0" y="0"/>
                </a:moveTo>
                <a:lnTo>
                  <a:pt x="9754127" y="0"/>
                </a:lnTo>
                <a:lnTo>
                  <a:pt x="9754127" y="5673659"/>
                </a:lnTo>
                <a:lnTo>
                  <a:pt x="0" y="5673659"/>
                </a:lnTo>
                <a:lnTo>
                  <a:pt x="0" y="0"/>
                </a:lnTo>
                <a:close/>
              </a:path>
            </a:pathLst>
          </a:custGeom>
          <a:blipFill>
            <a:blip r:embed="rId4"/>
            <a:stretch>
              <a:fillRect l="0" t="-7736" r="0" b="0"/>
            </a:stretch>
          </a:blipFill>
          <a:ln w="28575" cap="sq">
            <a:solidFill>
              <a:srgbClr val="004BFF"/>
            </a:solidFill>
            <a:prstDash val="solid"/>
            <a:miter/>
          </a:ln>
        </p:spPr>
      </p:sp>
      <p:sp>
        <p:nvSpPr>
          <p:cNvPr name="TextBox 9" id="9"/>
          <p:cNvSpPr txBox="true"/>
          <p:nvPr/>
        </p:nvSpPr>
        <p:spPr>
          <a:xfrm rot="0">
            <a:off x="763324" y="9350588"/>
            <a:ext cx="14981158" cy="40963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10" id="10"/>
          <p:cNvSpPr txBox="true"/>
          <p:nvPr/>
        </p:nvSpPr>
        <p:spPr>
          <a:xfrm rot="0">
            <a:off x="17259300" y="9360113"/>
            <a:ext cx="444861"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13</a:t>
            </a:r>
          </a:p>
        </p:txBody>
      </p:sp>
      <p:sp>
        <p:nvSpPr>
          <p:cNvPr name="TextBox 11" id="11"/>
          <p:cNvSpPr txBox="true"/>
          <p:nvPr/>
        </p:nvSpPr>
        <p:spPr>
          <a:xfrm rot="0">
            <a:off x="1019175" y="152796"/>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3. PHƯƠNG PHÁP THỰC HIỆN</a:t>
            </a:r>
          </a:p>
        </p:txBody>
      </p:sp>
      <p:sp>
        <p:nvSpPr>
          <p:cNvPr name="TextBox 12" id="12"/>
          <p:cNvSpPr txBox="true"/>
          <p:nvPr/>
        </p:nvSpPr>
        <p:spPr>
          <a:xfrm rot="0">
            <a:off x="1518924" y="1172519"/>
            <a:ext cx="10420849"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3.3 – Phác thảo các giao diện chính</a:t>
            </a:r>
          </a:p>
        </p:txBody>
      </p:sp>
      <p:sp>
        <p:nvSpPr>
          <p:cNvPr name="TextBox 13" id="13"/>
          <p:cNvSpPr txBox="true"/>
          <p:nvPr/>
        </p:nvSpPr>
        <p:spPr>
          <a:xfrm rot="0">
            <a:off x="471714" y="8460249"/>
            <a:ext cx="7762207" cy="358208"/>
          </a:xfrm>
          <a:prstGeom prst="rect">
            <a:avLst/>
          </a:prstGeom>
        </p:spPr>
        <p:txBody>
          <a:bodyPr anchor="t" rtlCol="false" tIns="0" lIns="0" bIns="0" rIns="0">
            <a:spAutoFit/>
          </a:bodyPr>
          <a:lstStyle/>
          <a:p>
            <a:pPr algn="ctr">
              <a:lnSpc>
                <a:spcPts val="2827"/>
              </a:lnSpc>
              <a:spcBef>
                <a:spcPct val="0"/>
              </a:spcBef>
            </a:pPr>
            <a:r>
              <a:rPr lang="en-US" b="true" sz="2019">
                <a:solidFill>
                  <a:srgbClr val="000000"/>
                </a:solidFill>
                <a:latin typeface="Roboto Bold"/>
                <a:ea typeface="Roboto Bold"/>
                <a:cs typeface="Roboto Bold"/>
                <a:sym typeface="Roboto Bold"/>
              </a:rPr>
              <a:t>Hình 3.8 Giao diện phác thảo trang quản trị hệ thống - báo cáo</a:t>
            </a:r>
          </a:p>
        </p:txBody>
      </p:sp>
      <p:sp>
        <p:nvSpPr>
          <p:cNvPr name="TextBox 14" id="14"/>
          <p:cNvSpPr txBox="true"/>
          <p:nvPr/>
        </p:nvSpPr>
        <p:spPr>
          <a:xfrm rot="0">
            <a:off x="8383004" y="8341990"/>
            <a:ext cx="9754127" cy="358208"/>
          </a:xfrm>
          <a:prstGeom prst="rect">
            <a:avLst/>
          </a:prstGeom>
        </p:spPr>
        <p:txBody>
          <a:bodyPr anchor="t" rtlCol="false" tIns="0" lIns="0" bIns="0" rIns="0">
            <a:spAutoFit/>
          </a:bodyPr>
          <a:lstStyle/>
          <a:p>
            <a:pPr algn="ctr">
              <a:lnSpc>
                <a:spcPts val="2827"/>
              </a:lnSpc>
              <a:spcBef>
                <a:spcPct val="0"/>
              </a:spcBef>
            </a:pPr>
            <a:r>
              <a:rPr lang="en-US" b="true" sz="2019">
                <a:solidFill>
                  <a:srgbClr val="000000"/>
                </a:solidFill>
                <a:latin typeface="Roboto Bold"/>
                <a:ea typeface="Roboto Bold"/>
                <a:cs typeface="Roboto Bold"/>
                <a:sym typeface="Roboto Bold"/>
              </a:rPr>
              <a:t>Hình 3.9 Giao diện phác thảo trang quản trị hệ thống - nhật ký hệ thống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62065">
            <a:off x="-2708658" y="4484182"/>
            <a:ext cx="14270748" cy="5838033"/>
          </a:xfrm>
          <a:custGeom>
            <a:avLst/>
            <a:gdLst/>
            <a:ahLst/>
            <a:cxnLst/>
            <a:rect r="r" b="b" t="t" l="l"/>
            <a:pathLst>
              <a:path h="5838033" w="14270748">
                <a:moveTo>
                  <a:pt x="0" y="0"/>
                </a:moveTo>
                <a:lnTo>
                  <a:pt x="14270748" y="0"/>
                </a:lnTo>
                <a:lnTo>
                  <a:pt x="14270748" y="5838033"/>
                </a:lnTo>
                <a:lnTo>
                  <a:pt x="0" y="5838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649" y="9248775"/>
            <a:ext cx="16891302" cy="19050"/>
            <a:chOff x="0" y="0"/>
            <a:chExt cx="22521736" cy="25400"/>
          </a:xfrm>
        </p:grpSpPr>
        <p:sp>
          <p:nvSpPr>
            <p:cNvPr name="Freeform 4" id="4"/>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5" id="5"/>
          <p:cNvGrpSpPr/>
          <p:nvPr/>
        </p:nvGrpSpPr>
        <p:grpSpPr>
          <a:xfrm rot="0">
            <a:off x="1019185" y="1014412"/>
            <a:ext cx="14681892" cy="23812"/>
            <a:chOff x="0" y="0"/>
            <a:chExt cx="19575856" cy="31750"/>
          </a:xfrm>
        </p:grpSpPr>
        <p:sp>
          <p:nvSpPr>
            <p:cNvPr name="Freeform 6" id="6"/>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TextBox 7" id="7"/>
          <p:cNvSpPr txBox="true"/>
          <p:nvPr/>
        </p:nvSpPr>
        <p:spPr>
          <a:xfrm rot="0">
            <a:off x="763324" y="9350588"/>
            <a:ext cx="14981158" cy="40963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8" id="8"/>
          <p:cNvSpPr txBox="true"/>
          <p:nvPr/>
        </p:nvSpPr>
        <p:spPr>
          <a:xfrm rot="0">
            <a:off x="17259300" y="9360113"/>
            <a:ext cx="444861"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14</a:t>
            </a:r>
          </a:p>
        </p:txBody>
      </p:sp>
      <p:sp>
        <p:nvSpPr>
          <p:cNvPr name="TextBox 9" id="9"/>
          <p:cNvSpPr txBox="true"/>
          <p:nvPr/>
        </p:nvSpPr>
        <p:spPr>
          <a:xfrm rot="0">
            <a:off x="0" y="4039382"/>
            <a:ext cx="18288000" cy="1556385"/>
          </a:xfrm>
          <a:prstGeom prst="rect">
            <a:avLst/>
          </a:prstGeom>
        </p:spPr>
        <p:txBody>
          <a:bodyPr anchor="t" rtlCol="false" tIns="0" lIns="0" bIns="0" rIns="0">
            <a:spAutoFit/>
          </a:bodyPr>
          <a:lstStyle/>
          <a:p>
            <a:pPr algn="ctr">
              <a:lnSpc>
                <a:spcPts val="12869"/>
              </a:lnSpc>
            </a:pPr>
            <a:r>
              <a:rPr lang="en-US" b="true" sz="9000" spc="719">
                <a:solidFill>
                  <a:srgbClr val="0345E4"/>
                </a:solidFill>
                <a:latin typeface="Garet Bold"/>
                <a:ea typeface="Garet Bold"/>
                <a:cs typeface="Garet Bold"/>
                <a:sym typeface="Garet Bold"/>
              </a:rPr>
              <a:t>4. KẾT QUẢ THỰC HIỆN </a:t>
            </a:r>
          </a:p>
        </p:txBody>
      </p:sp>
      <p:sp>
        <p:nvSpPr>
          <p:cNvPr name="Freeform 10" id="10"/>
          <p:cNvSpPr/>
          <p:nvPr/>
        </p:nvSpPr>
        <p:spPr>
          <a:xfrm flipH="false" flipV="false" rot="0">
            <a:off x="7029861" y="-1737274"/>
            <a:ext cx="11919735" cy="4876255"/>
          </a:xfrm>
          <a:custGeom>
            <a:avLst/>
            <a:gdLst/>
            <a:ahLst/>
            <a:cxnLst/>
            <a:rect r="r" b="b" t="t" l="l"/>
            <a:pathLst>
              <a:path h="4876255" w="11919735">
                <a:moveTo>
                  <a:pt x="0" y="0"/>
                </a:moveTo>
                <a:lnTo>
                  <a:pt x="11919734" y="0"/>
                </a:lnTo>
                <a:lnTo>
                  <a:pt x="11919734" y="4876255"/>
                </a:lnTo>
                <a:lnTo>
                  <a:pt x="0" y="4876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479165" y="1757917"/>
            <a:ext cx="8200107" cy="6513353"/>
          </a:xfrm>
          <a:custGeom>
            <a:avLst/>
            <a:gdLst/>
            <a:ahLst/>
            <a:cxnLst/>
            <a:rect r="r" b="b" t="t" l="l"/>
            <a:pathLst>
              <a:path h="6513353" w="8200107">
                <a:moveTo>
                  <a:pt x="0" y="0"/>
                </a:moveTo>
                <a:lnTo>
                  <a:pt x="8200107" y="0"/>
                </a:lnTo>
                <a:lnTo>
                  <a:pt x="8200107" y="6513352"/>
                </a:lnTo>
                <a:lnTo>
                  <a:pt x="0" y="6513352"/>
                </a:lnTo>
                <a:lnTo>
                  <a:pt x="0" y="0"/>
                </a:lnTo>
                <a:close/>
              </a:path>
            </a:pathLst>
          </a:custGeom>
          <a:blipFill>
            <a:blip r:embed="rId3"/>
            <a:stretch>
              <a:fillRect l="0" t="0" r="0" b="0"/>
            </a:stretch>
          </a:blipFill>
          <a:ln w="28575" cap="sq">
            <a:solidFill>
              <a:srgbClr val="004BFF"/>
            </a:solidFill>
            <a:prstDash val="solid"/>
            <a:miter/>
          </a:ln>
        </p:spPr>
      </p:sp>
      <p:sp>
        <p:nvSpPr>
          <p:cNvPr name="Freeform 8" id="8"/>
          <p:cNvSpPr/>
          <p:nvPr/>
        </p:nvSpPr>
        <p:spPr>
          <a:xfrm flipH="false" flipV="false" rot="0">
            <a:off x="9468369" y="1757917"/>
            <a:ext cx="8235828" cy="6513353"/>
          </a:xfrm>
          <a:custGeom>
            <a:avLst/>
            <a:gdLst/>
            <a:ahLst/>
            <a:cxnLst/>
            <a:rect r="r" b="b" t="t" l="l"/>
            <a:pathLst>
              <a:path h="6513353" w="8235828">
                <a:moveTo>
                  <a:pt x="0" y="0"/>
                </a:moveTo>
                <a:lnTo>
                  <a:pt x="8235828" y="0"/>
                </a:lnTo>
                <a:lnTo>
                  <a:pt x="8235828" y="6513352"/>
                </a:lnTo>
                <a:lnTo>
                  <a:pt x="0" y="6513352"/>
                </a:lnTo>
                <a:lnTo>
                  <a:pt x="0" y="0"/>
                </a:lnTo>
                <a:close/>
              </a:path>
            </a:pathLst>
          </a:custGeom>
          <a:blipFill>
            <a:blip r:embed="rId4"/>
            <a:stretch>
              <a:fillRect l="-17371" t="0" r="-23852" b="0"/>
            </a:stretch>
          </a:blipFill>
          <a:ln w="28575" cap="sq">
            <a:solidFill>
              <a:srgbClr val="004BFF"/>
            </a:solidFill>
            <a:prstDash val="solid"/>
            <a:miter/>
          </a:ln>
        </p:spPr>
      </p:sp>
      <p:sp>
        <p:nvSpPr>
          <p:cNvPr name="TextBox 9" id="9"/>
          <p:cNvSpPr txBox="true"/>
          <p:nvPr/>
        </p:nvSpPr>
        <p:spPr>
          <a:xfrm rot="0">
            <a:off x="1028700" y="615069"/>
            <a:ext cx="11224595" cy="873186"/>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4. KẾT QUẢ THỰC HIỆN </a:t>
            </a:r>
          </a:p>
        </p:txBody>
      </p:sp>
      <p:sp>
        <p:nvSpPr>
          <p:cNvPr name="TextBox 10" id="10"/>
          <p:cNvSpPr txBox="true"/>
          <p:nvPr/>
        </p:nvSpPr>
        <p:spPr>
          <a:xfrm rot="0">
            <a:off x="763324" y="9350588"/>
            <a:ext cx="14981158" cy="40963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11" id="11"/>
          <p:cNvSpPr txBox="true"/>
          <p:nvPr/>
        </p:nvSpPr>
        <p:spPr>
          <a:xfrm rot="0">
            <a:off x="17259300" y="9360113"/>
            <a:ext cx="444861"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15</a:t>
            </a:r>
          </a:p>
        </p:txBody>
      </p:sp>
      <p:sp>
        <p:nvSpPr>
          <p:cNvPr name="TextBox 12" id="12"/>
          <p:cNvSpPr txBox="true"/>
          <p:nvPr/>
        </p:nvSpPr>
        <p:spPr>
          <a:xfrm rot="0">
            <a:off x="479165" y="8423669"/>
            <a:ext cx="8200107" cy="407738"/>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4.1 Giao diện trang chủ</a:t>
            </a:r>
          </a:p>
        </p:txBody>
      </p:sp>
      <p:sp>
        <p:nvSpPr>
          <p:cNvPr name="TextBox 13" id="13"/>
          <p:cNvSpPr txBox="true"/>
          <p:nvPr/>
        </p:nvSpPr>
        <p:spPr>
          <a:xfrm rot="0">
            <a:off x="9502415" y="8450453"/>
            <a:ext cx="7853839" cy="407738"/>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4.2 Giao diện trang thiết bị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185965" y="2239120"/>
            <a:ext cx="8956335" cy="5956707"/>
          </a:xfrm>
          <a:custGeom>
            <a:avLst/>
            <a:gdLst/>
            <a:ahLst/>
            <a:cxnLst/>
            <a:rect r="r" b="b" t="t" l="l"/>
            <a:pathLst>
              <a:path h="5956707" w="8956335">
                <a:moveTo>
                  <a:pt x="0" y="0"/>
                </a:moveTo>
                <a:lnTo>
                  <a:pt x="8956335" y="0"/>
                </a:lnTo>
                <a:lnTo>
                  <a:pt x="8956335" y="5956707"/>
                </a:lnTo>
                <a:lnTo>
                  <a:pt x="0" y="5956707"/>
                </a:lnTo>
                <a:lnTo>
                  <a:pt x="0" y="0"/>
                </a:lnTo>
                <a:close/>
              </a:path>
            </a:pathLst>
          </a:custGeom>
          <a:blipFill>
            <a:blip r:embed="rId3"/>
            <a:stretch>
              <a:fillRect l="0" t="0" r="0" b="0"/>
            </a:stretch>
          </a:blipFill>
          <a:ln w="28575" cap="sq">
            <a:solidFill>
              <a:srgbClr val="004BFF"/>
            </a:solidFill>
            <a:prstDash val="solid"/>
            <a:miter/>
          </a:ln>
        </p:spPr>
      </p:sp>
      <p:sp>
        <p:nvSpPr>
          <p:cNvPr name="Freeform 8" id="8"/>
          <p:cNvSpPr/>
          <p:nvPr/>
        </p:nvSpPr>
        <p:spPr>
          <a:xfrm flipH="false" flipV="false" rot="0">
            <a:off x="9475519" y="2199704"/>
            <a:ext cx="8516217" cy="5887593"/>
          </a:xfrm>
          <a:custGeom>
            <a:avLst/>
            <a:gdLst/>
            <a:ahLst/>
            <a:cxnLst/>
            <a:rect r="r" b="b" t="t" l="l"/>
            <a:pathLst>
              <a:path h="5887593" w="8516217">
                <a:moveTo>
                  <a:pt x="0" y="0"/>
                </a:moveTo>
                <a:lnTo>
                  <a:pt x="8516216" y="0"/>
                </a:lnTo>
                <a:lnTo>
                  <a:pt x="8516216" y="5887592"/>
                </a:lnTo>
                <a:lnTo>
                  <a:pt x="0" y="5887592"/>
                </a:lnTo>
                <a:lnTo>
                  <a:pt x="0" y="0"/>
                </a:lnTo>
                <a:close/>
              </a:path>
            </a:pathLst>
          </a:custGeom>
          <a:blipFill>
            <a:blip r:embed="rId4"/>
            <a:stretch>
              <a:fillRect l="-5567" t="0" r="-1025" b="-11259"/>
            </a:stretch>
          </a:blipFill>
          <a:ln w="28575" cap="sq">
            <a:solidFill>
              <a:srgbClr val="004BFF"/>
            </a:solidFill>
            <a:prstDash val="solid"/>
            <a:miter/>
          </a:ln>
        </p:spPr>
      </p:sp>
      <p:sp>
        <p:nvSpPr>
          <p:cNvPr name="TextBox 9" id="9"/>
          <p:cNvSpPr txBox="true"/>
          <p:nvPr/>
        </p:nvSpPr>
        <p:spPr>
          <a:xfrm rot="0">
            <a:off x="763324" y="9350588"/>
            <a:ext cx="14981158" cy="40963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10" id="10"/>
          <p:cNvSpPr txBox="true"/>
          <p:nvPr/>
        </p:nvSpPr>
        <p:spPr>
          <a:xfrm rot="0">
            <a:off x="17259300" y="9360113"/>
            <a:ext cx="444861"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16</a:t>
            </a:r>
          </a:p>
        </p:txBody>
      </p:sp>
      <p:sp>
        <p:nvSpPr>
          <p:cNvPr name="TextBox 11" id="11"/>
          <p:cNvSpPr txBox="true"/>
          <p:nvPr/>
        </p:nvSpPr>
        <p:spPr>
          <a:xfrm rot="0">
            <a:off x="1028700" y="615069"/>
            <a:ext cx="11224595" cy="873186"/>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4. KẾT QUẢ THỰC HIỆN </a:t>
            </a:r>
          </a:p>
        </p:txBody>
      </p:sp>
      <p:sp>
        <p:nvSpPr>
          <p:cNvPr name="TextBox 12" id="12"/>
          <p:cNvSpPr txBox="true"/>
          <p:nvPr/>
        </p:nvSpPr>
        <p:spPr>
          <a:xfrm rot="0">
            <a:off x="324373" y="8552265"/>
            <a:ext cx="7853839" cy="817253"/>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4.3 Giao diện trang Dashboard</a:t>
            </a:r>
          </a:p>
          <a:p>
            <a:pPr algn="ctr">
              <a:lnSpc>
                <a:spcPts val="3247"/>
              </a:lnSpc>
              <a:spcBef>
                <a:spcPct val="0"/>
              </a:spcBef>
            </a:pPr>
          </a:p>
        </p:txBody>
      </p:sp>
      <p:sp>
        <p:nvSpPr>
          <p:cNvPr name="TextBox 13" id="13"/>
          <p:cNvSpPr txBox="true"/>
          <p:nvPr/>
        </p:nvSpPr>
        <p:spPr>
          <a:xfrm rot="0">
            <a:off x="9667159" y="8552265"/>
            <a:ext cx="8324576" cy="407738"/>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4.4 Giao diện trang quản trị hệ thống - người dùng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657278" y="1696533"/>
            <a:ext cx="7235490" cy="7003370"/>
          </a:xfrm>
          <a:custGeom>
            <a:avLst/>
            <a:gdLst/>
            <a:ahLst/>
            <a:cxnLst/>
            <a:rect r="r" b="b" t="t" l="l"/>
            <a:pathLst>
              <a:path h="7003370" w="7235490">
                <a:moveTo>
                  <a:pt x="0" y="0"/>
                </a:moveTo>
                <a:lnTo>
                  <a:pt x="7235491" y="0"/>
                </a:lnTo>
                <a:lnTo>
                  <a:pt x="7235491" y="7003370"/>
                </a:lnTo>
                <a:lnTo>
                  <a:pt x="0" y="7003370"/>
                </a:lnTo>
                <a:lnTo>
                  <a:pt x="0" y="0"/>
                </a:lnTo>
                <a:close/>
              </a:path>
            </a:pathLst>
          </a:custGeom>
          <a:blipFill>
            <a:blip r:embed="rId3"/>
            <a:stretch>
              <a:fillRect l="-10893" t="0" r="-10666" b="0"/>
            </a:stretch>
          </a:blipFill>
          <a:ln w="28575" cap="sq">
            <a:solidFill>
              <a:srgbClr val="004BFF"/>
            </a:solidFill>
            <a:prstDash val="solid"/>
            <a:miter/>
          </a:ln>
        </p:spPr>
      </p:sp>
      <p:sp>
        <p:nvSpPr>
          <p:cNvPr name="Freeform 8" id="8"/>
          <p:cNvSpPr/>
          <p:nvPr/>
        </p:nvSpPr>
        <p:spPr>
          <a:xfrm flipH="false" flipV="false" rot="0">
            <a:off x="8201943" y="2014530"/>
            <a:ext cx="9858869" cy="6685373"/>
          </a:xfrm>
          <a:custGeom>
            <a:avLst/>
            <a:gdLst/>
            <a:ahLst/>
            <a:cxnLst/>
            <a:rect r="r" b="b" t="t" l="l"/>
            <a:pathLst>
              <a:path h="6685373" w="9858869">
                <a:moveTo>
                  <a:pt x="0" y="0"/>
                </a:moveTo>
                <a:lnTo>
                  <a:pt x="9858869" y="0"/>
                </a:lnTo>
                <a:lnTo>
                  <a:pt x="9858869" y="6685373"/>
                </a:lnTo>
                <a:lnTo>
                  <a:pt x="0" y="6685373"/>
                </a:lnTo>
                <a:lnTo>
                  <a:pt x="0" y="0"/>
                </a:lnTo>
                <a:close/>
              </a:path>
            </a:pathLst>
          </a:custGeom>
          <a:blipFill>
            <a:blip r:embed="rId4"/>
            <a:stretch>
              <a:fillRect l="-2549" t="0" r="-994" b="-1632"/>
            </a:stretch>
          </a:blipFill>
          <a:ln w="28575" cap="sq">
            <a:solidFill>
              <a:srgbClr val="004BFF"/>
            </a:solidFill>
            <a:prstDash val="solid"/>
            <a:miter/>
          </a:ln>
        </p:spPr>
      </p:sp>
      <p:sp>
        <p:nvSpPr>
          <p:cNvPr name="TextBox 9" id="9"/>
          <p:cNvSpPr txBox="true"/>
          <p:nvPr/>
        </p:nvSpPr>
        <p:spPr>
          <a:xfrm rot="0">
            <a:off x="763324" y="9350588"/>
            <a:ext cx="14981158" cy="40963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10" id="10"/>
          <p:cNvSpPr txBox="true"/>
          <p:nvPr/>
        </p:nvSpPr>
        <p:spPr>
          <a:xfrm rot="0">
            <a:off x="17259300" y="9360113"/>
            <a:ext cx="444861"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17</a:t>
            </a:r>
          </a:p>
        </p:txBody>
      </p:sp>
      <p:sp>
        <p:nvSpPr>
          <p:cNvPr name="TextBox 11" id="11"/>
          <p:cNvSpPr txBox="true"/>
          <p:nvPr/>
        </p:nvSpPr>
        <p:spPr>
          <a:xfrm rot="0">
            <a:off x="1028700" y="615069"/>
            <a:ext cx="11224595" cy="873186"/>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4. KẾT QUẢ THỰC HIỆN </a:t>
            </a:r>
          </a:p>
        </p:txBody>
      </p:sp>
      <p:sp>
        <p:nvSpPr>
          <p:cNvPr name="TextBox 12" id="12"/>
          <p:cNvSpPr txBox="true"/>
          <p:nvPr/>
        </p:nvSpPr>
        <p:spPr>
          <a:xfrm rot="0">
            <a:off x="348104" y="8747528"/>
            <a:ext cx="7853839" cy="817253"/>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4.5 Giao diện trang quản trị hệ thống - báo cáo</a:t>
            </a:r>
          </a:p>
          <a:p>
            <a:pPr algn="ctr">
              <a:lnSpc>
                <a:spcPts val="3247"/>
              </a:lnSpc>
              <a:spcBef>
                <a:spcPct val="0"/>
              </a:spcBef>
            </a:pPr>
          </a:p>
        </p:txBody>
      </p:sp>
      <p:sp>
        <p:nvSpPr>
          <p:cNvPr name="TextBox 13" id="13"/>
          <p:cNvSpPr txBox="true"/>
          <p:nvPr/>
        </p:nvSpPr>
        <p:spPr>
          <a:xfrm rot="0">
            <a:off x="8201943" y="8736262"/>
            <a:ext cx="9789793" cy="407738"/>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4.6 Giao diện trang quản trị hệ thống - nhật ký hệ thống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62065">
            <a:off x="-2708658" y="4484182"/>
            <a:ext cx="14270748" cy="5838033"/>
          </a:xfrm>
          <a:custGeom>
            <a:avLst/>
            <a:gdLst/>
            <a:ahLst/>
            <a:cxnLst/>
            <a:rect r="r" b="b" t="t" l="l"/>
            <a:pathLst>
              <a:path h="5838033" w="14270748">
                <a:moveTo>
                  <a:pt x="0" y="0"/>
                </a:moveTo>
                <a:lnTo>
                  <a:pt x="14270748" y="0"/>
                </a:lnTo>
                <a:lnTo>
                  <a:pt x="14270748" y="5838033"/>
                </a:lnTo>
                <a:lnTo>
                  <a:pt x="0" y="5838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649" y="9248775"/>
            <a:ext cx="16891302" cy="19050"/>
            <a:chOff x="0" y="0"/>
            <a:chExt cx="22521736" cy="25400"/>
          </a:xfrm>
        </p:grpSpPr>
        <p:sp>
          <p:nvSpPr>
            <p:cNvPr name="Freeform 4" id="4"/>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5" id="5"/>
          <p:cNvGrpSpPr/>
          <p:nvPr/>
        </p:nvGrpSpPr>
        <p:grpSpPr>
          <a:xfrm rot="0">
            <a:off x="1019185" y="1014412"/>
            <a:ext cx="14681892" cy="23812"/>
            <a:chOff x="0" y="0"/>
            <a:chExt cx="19575856" cy="31750"/>
          </a:xfrm>
        </p:grpSpPr>
        <p:sp>
          <p:nvSpPr>
            <p:cNvPr name="Freeform 6" id="6"/>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TextBox 7" id="7"/>
          <p:cNvSpPr txBox="true"/>
          <p:nvPr/>
        </p:nvSpPr>
        <p:spPr>
          <a:xfrm rot="0">
            <a:off x="763324" y="9350588"/>
            <a:ext cx="14981158" cy="40963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8" id="8"/>
          <p:cNvSpPr txBox="true"/>
          <p:nvPr/>
        </p:nvSpPr>
        <p:spPr>
          <a:xfrm rot="0">
            <a:off x="17259300" y="9360113"/>
            <a:ext cx="444861"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18</a:t>
            </a:r>
          </a:p>
        </p:txBody>
      </p:sp>
      <p:sp>
        <p:nvSpPr>
          <p:cNvPr name="TextBox 9" id="9"/>
          <p:cNvSpPr txBox="true"/>
          <p:nvPr/>
        </p:nvSpPr>
        <p:spPr>
          <a:xfrm rot="0">
            <a:off x="-1700" y="4256896"/>
            <a:ext cx="18288000" cy="1182485"/>
          </a:xfrm>
          <a:prstGeom prst="rect">
            <a:avLst/>
          </a:prstGeom>
        </p:spPr>
        <p:txBody>
          <a:bodyPr anchor="t" rtlCol="false" tIns="0" lIns="0" bIns="0" rIns="0">
            <a:spAutoFit/>
          </a:bodyPr>
          <a:lstStyle/>
          <a:p>
            <a:pPr algn="ctr">
              <a:lnSpc>
                <a:spcPts val="9724"/>
              </a:lnSpc>
            </a:pPr>
            <a:r>
              <a:rPr lang="en-US" b="true" sz="6800" spc="544">
                <a:solidFill>
                  <a:srgbClr val="0345E4"/>
                </a:solidFill>
                <a:latin typeface="Garet Bold"/>
                <a:ea typeface="Garet Bold"/>
                <a:cs typeface="Garet Bold"/>
                <a:sym typeface="Garet Bold"/>
              </a:rPr>
              <a:t>5. KẾT LUẬN </a:t>
            </a:r>
          </a:p>
        </p:txBody>
      </p:sp>
      <p:sp>
        <p:nvSpPr>
          <p:cNvPr name="Freeform 10" id="10"/>
          <p:cNvSpPr/>
          <p:nvPr/>
        </p:nvSpPr>
        <p:spPr>
          <a:xfrm flipH="false" flipV="false" rot="0">
            <a:off x="7029861" y="-1737274"/>
            <a:ext cx="11919735" cy="4876255"/>
          </a:xfrm>
          <a:custGeom>
            <a:avLst/>
            <a:gdLst/>
            <a:ahLst/>
            <a:cxnLst/>
            <a:rect r="r" b="b" t="t" l="l"/>
            <a:pathLst>
              <a:path h="4876255" w="11919735">
                <a:moveTo>
                  <a:pt x="0" y="0"/>
                </a:moveTo>
                <a:lnTo>
                  <a:pt x="11919734" y="0"/>
                </a:lnTo>
                <a:lnTo>
                  <a:pt x="11919734" y="4876255"/>
                </a:lnTo>
                <a:lnTo>
                  <a:pt x="0" y="4876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142875"/>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grpSp>
        <p:nvGrpSpPr>
          <p:cNvPr name="Group 7" id="7"/>
          <p:cNvGrpSpPr/>
          <p:nvPr/>
        </p:nvGrpSpPr>
        <p:grpSpPr>
          <a:xfrm rot="0">
            <a:off x="7439173" y="1906125"/>
            <a:ext cx="10265024" cy="7029488"/>
            <a:chOff x="0" y="0"/>
            <a:chExt cx="13686699" cy="9372650"/>
          </a:xfrm>
        </p:grpSpPr>
        <p:pic>
          <p:nvPicPr>
            <p:cNvPr name="Picture 8" id="8"/>
            <p:cNvPicPr>
              <a:picLocks noChangeAspect="true"/>
            </p:cNvPicPr>
            <p:nvPr/>
          </p:nvPicPr>
          <p:blipFill>
            <a:blip r:embed="rId3"/>
            <a:srcRect l="0" t="0" r="2217" b="15662"/>
            <a:stretch>
              <a:fillRect/>
            </a:stretch>
          </p:blipFill>
          <p:spPr>
            <a:xfrm flipH="false" flipV="false">
              <a:off x="0" y="0"/>
              <a:ext cx="9093644" cy="6217611"/>
            </a:xfrm>
            <a:prstGeom prst="rect">
              <a:avLst/>
            </a:prstGeom>
          </p:spPr>
        </p:pic>
        <p:pic>
          <p:nvPicPr>
            <p:cNvPr name="Picture 9" id="9"/>
            <p:cNvPicPr>
              <a:picLocks noChangeAspect="true"/>
            </p:cNvPicPr>
            <p:nvPr/>
          </p:nvPicPr>
          <p:blipFill>
            <a:blip r:embed="rId4"/>
            <a:srcRect l="0" t="0" r="0" b="44200"/>
            <a:stretch>
              <a:fillRect/>
            </a:stretch>
          </p:blipFill>
          <p:spPr>
            <a:xfrm flipH="false" flipV="false">
              <a:off x="9186110" y="0"/>
              <a:ext cx="4500589" cy="3062572"/>
            </a:xfrm>
            <a:prstGeom prst="rect">
              <a:avLst/>
            </a:prstGeom>
          </p:spPr>
        </p:pic>
        <p:pic>
          <p:nvPicPr>
            <p:cNvPr name="Picture 10" id="10"/>
            <p:cNvPicPr>
              <a:picLocks noChangeAspect="true"/>
            </p:cNvPicPr>
            <p:nvPr/>
          </p:nvPicPr>
          <p:blipFill>
            <a:blip r:embed="rId5"/>
            <a:srcRect l="10819" t="0" r="10501" b="0"/>
            <a:stretch>
              <a:fillRect/>
            </a:stretch>
          </p:blipFill>
          <p:spPr>
            <a:xfrm flipH="false" flipV="false">
              <a:off x="9186110" y="3155039"/>
              <a:ext cx="4500589" cy="6217611"/>
            </a:xfrm>
            <a:prstGeom prst="rect">
              <a:avLst/>
            </a:prstGeom>
          </p:spPr>
        </p:pic>
        <p:pic>
          <p:nvPicPr>
            <p:cNvPr name="Picture 11" id="11"/>
            <p:cNvPicPr>
              <a:picLocks noChangeAspect="true"/>
            </p:cNvPicPr>
            <p:nvPr/>
          </p:nvPicPr>
          <p:blipFill>
            <a:blip r:embed="rId6"/>
            <a:srcRect l="0" t="0" r="0" b="14355"/>
            <a:stretch>
              <a:fillRect/>
            </a:stretch>
          </p:blipFill>
          <p:spPr>
            <a:xfrm flipH="false" flipV="false">
              <a:off x="4593055" y="6310078"/>
              <a:ext cx="4500589" cy="3062572"/>
            </a:xfrm>
            <a:prstGeom prst="rect">
              <a:avLst/>
            </a:prstGeom>
          </p:spPr>
        </p:pic>
        <p:pic>
          <p:nvPicPr>
            <p:cNvPr name="Picture 12" id="12"/>
            <p:cNvPicPr>
              <a:picLocks noChangeAspect="true"/>
            </p:cNvPicPr>
            <p:nvPr/>
          </p:nvPicPr>
          <p:blipFill>
            <a:blip r:embed="rId7"/>
            <a:srcRect l="0" t="0" r="8086" b="0"/>
            <a:stretch>
              <a:fillRect/>
            </a:stretch>
          </p:blipFill>
          <p:spPr>
            <a:xfrm flipH="false" flipV="false">
              <a:off x="0" y="6310078"/>
              <a:ext cx="4500589" cy="3062572"/>
            </a:xfrm>
            <a:prstGeom prst="rect">
              <a:avLst/>
            </a:prstGeom>
          </p:spPr>
        </p:pic>
      </p:grpSp>
      <p:sp>
        <p:nvSpPr>
          <p:cNvPr name="TextBox 13" id="13"/>
          <p:cNvSpPr txBox="true"/>
          <p:nvPr/>
        </p:nvSpPr>
        <p:spPr>
          <a:xfrm rot="0">
            <a:off x="763324" y="9350588"/>
            <a:ext cx="14981158" cy="40963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14" id="14"/>
          <p:cNvSpPr txBox="true"/>
          <p:nvPr/>
        </p:nvSpPr>
        <p:spPr>
          <a:xfrm rot="0">
            <a:off x="17259300" y="9360113"/>
            <a:ext cx="444861"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19</a:t>
            </a:r>
          </a:p>
        </p:txBody>
      </p:sp>
      <p:sp>
        <p:nvSpPr>
          <p:cNvPr name="TextBox 15" id="15"/>
          <p:cNvSpPr txBox="true"/>
          <p:nvPr/>
        </p:nvSpPr>
        <p:spPr>
          <a:xfrm rot="0">
            <a:off x="1019175" y="98423"/>
            <a:ext cx="11224595" cy="873186"/>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5. KẾT LUẬN</a:t>
            </a:r>
          </a:p>
        </p:txBody>
      </p:sp>
      <p:sp>
        <p:nvSpPr>
          <p:cNvPr name="TextBox 16" id="16"/>
          <p:cNvSpPr txBox="true"/>
          <p:nvPr/>
        </p:nvSpPr>
        <p:spPr>
          <a:xfrm rot="0">
            <a:off x="696649" y="1725150"/>
            <a:ext cx="6161080" cy="7273748"/>
          </a:xfrm>
          <a:prstGeom prst="rect">
            <a:avLst/>
          </a:prstGeom>
        </p:spPr>
        <p:txBody>
          <a:bodyPr anchor="t" rtlCol="false" tIns="0" lIns="0" bIns="0" rIns="0">
            <a:spAutoFit/>
          </a:bodyPr>
          <a:lstStyle/>
          <a:p>
            <a:pPr algn="just" marL="647838" indent="-323919" lvl="1">
              <a:lnSpc>
                <a:spcPts val="6481"/>
              </a:lnSpc>
              <a:buFont typeface="Arial"/>
              <a:buChar char="•"/>
            </a:pPr>
            <a:r>
              <a:rPr lang="en-US" sz="3000" spc="48">
                <a:solidFill>
                  <a:srgbClr val="000000"/>
                </a:solidFill>
                <a:latin typeface="Open Sans 1"/>
                <a:ea typeface="Open Sans 1"/>
                <a:cs typeface="Open Sans 1"/>
                <a:sym typeface="Open Sans 1"/>
              </a:rPr>
              <a:t>Xây dựng và triển khai thành công hệ thống website quản lý mượn – trả thiết bị giảng dạy trên nền tảng web.</a:t>
            </a:r>
          </a:p>
          <a:p>
            <a:pPr algn="just" marL="647838" indent="-323919" lvl="1">
              <a:lnSpc>
                <a:spcPts val="6481"/>
              </a:lnSpc>
              <a:buFont typeface="Arial"/>
              <a:buChar char="•"/>
            </a:pPr>
            <a:r>
              <a:rPr lang="en-US" sz="3000" spc="48">
                <a:solidFill>
                  <a:srgbClr val="000000"/>
                </a:solidFill>
                <a:latin typeface="Open Sans 1"/>
                <a:ea typeface="Open Sans 1"/>
                <a:cs typeface="Open Sans 1"/>
                <a:sym typeface="Open Sans 1"/>
              </a:rPr>
              <a:t>Hệ</a:t>
            </a:r>
            <a:r>
              <a:rPr lang="en-US" sz="3000" spc="48">
                <a:solidFill>
                  <a:srgbClr val="000000"/>
                </a:solidFill>
                <a:latin typeface="Open Sans 1"/>
                <a:ea typeface="Open Sans 1"/>
                <a:cs typeface="Open Sans 1"/>
                <a:sym typeface="Open Sans 1"/>
              </a:rPr>
              <a:t> thống đáp</a:t>
            </a:r>
            <a:r>
              <a:rPr lang="en-US" sz="3000" spc="48">
                <a:solidFill>
                  <a:srgbClr val="000000"/>
                </a:solidFill>
                <a:latin typeface="Open Sans 1"/>
                <a:ea typeface="Open Sans 1"/>
                <a:cs typeface="Open Sans 1"/>
                <a:sym typeface="Open Sans 1"/>
              </a:rPr>
              <a:t> ứng đầy đủ các nghiệp vụ quản lý thực tế, hỗ trợ quản lý tập trung thiết bị, người dùng và quy trình mượn – trả.</a:t>
            </a:r>
          </a:p>
        </p:txBody>
      </p:sp>
      <p:sp>
        <p:nvSpPr>
          <p:cNvPr name="TextBox 17" id="17"/>
          <p:cNvSpPr txBox="true"/>
          <p:nvPr/>
        </p:nvSpPr>
        <p:spPr>
          <a:xfrm rot="0">
            <a:off x="1365336" y="1056566"/>
            <a:ext cx="8104369"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5.1 – Kết quả đạt được</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153280"/>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grpSp>
        <p:nvGrpSpPr>
          <p:cNvPr name="Group 7" id="7"/>
          <p:cNvGrpSpPr/>
          <p:nvPr/>
        </p:nvGrpSpPr>
        <p:grpSpPr>
          <a:xfrm rot="0">
            <a:off x="5044809" y="1971005"/>
            <a:ext cx="4668106" cy="5367924"/>
            <a:chOff x="0" y="0"/>
            <a:chExt cx="1655205" cy="1903344"/>
          </a:xfrm>
        </p:grpSpPr>
        <p:sp>
          <p:nvSpPr>
            <p:cNvPr name="Freeform 8" id="8"/>
            <p:cNvSpPr/>
            <p:nvPr/>
          </p:nvSpPr>
          <p:spPr>
            <a:xfrm flipH="false" flipV="false" rot="0">
              <a:off x="0" y="0"/>
              <a:ext cx="1655205" cy="1903344"/>
            </a:xfrm>
            <a:custGeom>
              <a:avLst/>
              <a:gdLst/>
              <a:ahLst/>
              <a:cxnLst/>
              <a:rect r="r" b="b" t="t" l="l"/>
              <a:pathLst>
                <a:path h="1903344" w="1655205">
                  <a:moveTo>
                    <a:pt x="0" y="0"/>
                  </a:moveTo>
                  <a:lnTo>
                    <a:pt x="1655205" y="0"/>
                  </a:lnTo>
                  <a:lnTo>
                    <a:pt x="1655205" y="1903344"/>
                  </a:lnTo>
                  <a:lnTo>
                    <a:pt x="0" y="1903344"/>
                  </a:lnTo>
                  <a:close/>
                </a:path>
              </a:pathLst>
            </a:custGeom>
            <a:solidFill>
              <a:srgbClr val="FFDFD2"/>
            </a:solidFill>
            <a:ln cap="sq">
              <a:noFill/>
              <a:prstDash val="solid"/>
              <a:miter/>
            </a:ln>
          </p:spPr>
        </p:sp>
        <p:sp>
          <p:nvSpPr>
            <p:cNvPr name="TextBox 9" id="9"/>
            <p:cNvSpPr txBox="true"/>
            <p:nvPr/>
          </p:nvSpPr>
          <p:spPr>
            <a:xfrm>
              <a:off x="0" y="-47625"/>
              <a:ext cx="1655205" cy="1950969"/>
            </a:xfrm>
            <a:prstGeom prst="rect">
              <a:avLst/>
            </a:prstGeom>
          </p:spPr>
          <p:txBody>
            <a:bodyPr anchor="ctr" rtlCol="false" tIns="45188" lIns="45188" bIns="45188" rIns="45188"/>
            <a:lstStyle/>
            <a:p>
              <a:pPr algn="ctr">
                <a:lnSpc>
                  <a:spcPts val="3248"/>
                </a:lnSpc>
              </a:pPr>
            </a:p>
          </p:txBody>
        </p:sp>
      </p:grpSp>
      <p:grpSp>
        <p:nvGrpSpPr>
          <p:cNvPr name="Group 10" id="10"/>
          <p:cNvGrpSpPr/>
          <p:nvPr/>
        </p:nvGrpSpPr>
        <p:grpSpPr>
          <a:xfrm rot="0">
            <a:off x="5053030" y="1971005"/>
            <a:ext cx="4659885" cy="641206"/>
            <a:chOff x="0" y="0"/>
            <a:chExt cx="1652290" cy="227357"/>
          </a:xfrm>
        </p:grpSpPr>
        <p:sp>
          <p:nvSpPr>
            <p:cNvPr name="Freeform 11" id="11"/>
            <p:cNvSpPr/>
            <p:nvPr/>
          </p:nvSpPr>
          <p:spPr>
            <a:xfrm flipH="false" flipV="false" rot="0">
              <a:off x="0" y="0"/>
              <a:ext cx="1652290" cy="227357"/>
            </a:xfrm>
            <a:custGeom>
              <a:avLst/>
              <a:gdLst/>
              <a:ahLst/>
              <a:cxnLst/>
              <a:rect r="r" b="b" t="t" l="l"/>
              <a:pathLst>
                <a:path h="227357" w="1652290">
                  <a:moveTo>
                    <a:pt x="0" y="0"/>
                  </a:moveTo>
                  <a:lnTo>
                    <a:pt x="1652290" y="0"/>
                  </a:lnTo>
                  <a:lnTo>
                    <a:pt x="1652290" y="227357"/>
                  </a:lnTo>
                  <a:lnTo>
                    <a:pt x="0" y="227357"/>
                  </a:lnTo>
                  <a:close/>
                </a:path>
              </a:pathLst>
            </a:custGeom>
            <a:solidFill>
              <a:srgbClr val="E14D10"/>
            </a:solidFill>
            <a:ln cap="sq">
              <a:noFill/>
              <a:prstDash val="solid"/>
              <a:miter/>
            </a:ln>
          </p:spPr>
        </p:sp>
        <p:sp>
          <p:nvSpPr>
            <p:cNvPr name="TextBox 12" id="12"/>
            <p:cNvSpPr txBox="true"/>
            <p:nvPr/>
          </p:nvSpPr>
          <p:spPr>
            <a:xfrm>
              <a:off x="0" y="-47625"/>
              <a:ext cx="1652290" cy="274982"/>
            </a:xfrm>
            <a:prstGeom prst="rect">
              <a:avLst/>
            </a:prstGeom>
          </p:spPr>
          <p:txBody>
            <a:bodyPr anchor="ctr" rtlCol="false" tIns="45188" lIns="45188" bIns="45188" rIns="45188"/>
            <a:lstStyle/>
            <a:p>
              <a:pPr algn="ctr" marL="0" indent="0" lvl="0">
                <a:lnSpc>
                  <a:spcPts val="3248"/>
                </a:lnSpc>
                <a:spcBef>
                  <a:spcPct val="0"/>
                </a:spcBef>
              </a:pPr>
            </a:p>
          </p:txBody>
        </p:sp>
      </p:grpSp>
      <p:grpSp>
        <p:nvGrpSpPr>
          <p:cNvPr name="Group 13" id="13"/>
          <p:cNvGrpSpPr/>
          <p:nvPr/>
        </p:nvGrpSpPr>
        <p:grpSpPr>
          <a:xfrm rot="0">
            <a:off x="379165" y="1971005"/>
            <a:ext cx="4673865" cy="647070"/>
            <a:chOff x="0" y="0"/>
            <a:chExt cx="1657247" cy="229436"/>
          </a:xfrm>
        </p:grpSpPr>
        <p:sp>
          <p:nvSpPr>
            <p:cNvPr name="Freeform 14" id="14"/>
            <p:cNvSpPr/>
            <p:nvPr/>
          </p:nvSpPr>
          <p:spPr>
            <a:xfrm flipH="false" flipV="false" rot="0">
              <a:off x="0" y="0"/>
              <a:ext cx="1657247" cy="229436"/>
            </a:xfrm>
            <a:custGeom>
              <a:avLst/>
              <a:gdLst/>
              <a:ahLst/>
              <a:cxnLst/>
              <a:rect r="r" b="b" t="t" l="l"/>
              <a:pathLst>
                <a:path h="229436" w="1657247">
                  <a:moveTo>
                    <a:pt x="0" y="0"/>
                  </a:moveTo>
                  <a:lnTo>
                    <a:pt x="1657247" y="0"/>
                  </a:lnTo>
                  <a:lnTo>
                    <a:pt x="1657247" y="229436"/>
                  </a:lnTo>
                  <a:lnTo>
                    <a:pt x="0" y="229436"/>
                  </a:lnTo>
                  <a:close/>
                </a:path>
              </a:pathLst>
            </a:custGeom>
            <a:solidFill>
              <a:srgbClr val="00932E"/>
            </a:solidFill>
            <a:ln cap="sq">
              <a:noFill/>
              <a:prstDash val="solid"/>
              <a:miter/>
            </a:ln>
          </p:spPr>
        </p:sp>
        <p:sp>
          <p:nvSpPr>
            <p:cNvPr name="TextBox 15" id="15"/>
            <p:cNvSpPr txBox="true"/>
            <p:nvPr/>
          </p:nvSpPr>
          <p:spPr>
            <a:xfrm>
              <a:off x="0" y="-47625"/>
              <a:ext cx="1657247" cy="277061"/>
            </a:xfrm>
            <a:prstGeom prst="rect">
              <a:avLst/>
            </a:prstGeom>
          </p:spPr>
          <p:txBody>
            <a:bodyPr anchor="ctr" rtlCol="false" tIns="45188" lIns="45188" bIns="45188" rIns="45188"/>
            <a:lstStyle/>
            <a:p>
              <a:pPr algn="ctr" marL="0" indent="0" lvl="0">
                <a:lnSpc>
                  <a:spcPts val="3248"/>
                </a:lnSpc>
                <a:spcBef>
                  <a:spcPct val="0"/>
                </a:spcBef>
              </a:pPr>
            </a:p>
          </p:txBody>
        </p:sp>
      </p:grpSp>
      <p:grpSp>
        <p:nvGrpSpPr>
          <p:cNvPr name="Group 16" id="16"/>
          <p:cNvGrpSpPr/>
          <p:nvPr/>
        </p:nvGrpSpPr>
        <p:grpSpPr>
          <a:xfrm rot="0">
            <a:off x="379165" y="2612211"/>
            <a:ext cx="4665644" cy="4726718"/>
            <a:chOff x="0" y="0"/>
            <a:chExt cx="1654332" cy="1675987"/>
          </a:xfrm>
        </p:grpSpPr>
        <p:sp>
          <p:nvSpPr>
            <p:cNvPr name="Freeform 17" id="17"/>
            <p:cNvSpPr/>
            <p:nvPr/>
          </p:nvSpPr>
          <p:spPr>
            <a:xfrm flipH="false" flipV="false" rot="0">
              <a:off x="0" y="0"/>
              <a:ext cx="1654332" cy="1675987"/>
            </a:xfrm>
            <a:custGeom>
              <a:avLst/>
              <a:gdLst/>
              <a:ahLst/>
              <a:cxnLst/>
              <a:rect r="r" b="b" t="t" l="l"/>
              <a:pathLst>
                <a:path h="1675987" w="1654332">
                  <a:moveTo>
                    <a:pt x="0" y="0"/>
                  </a:moveTo>
                  <a:lnTo>
                    <a:pt x="1654332" y="0"/>
                  </a:lnTo>
                  <a:lnTo>
                    <a:pt x="1654332" y="1675987"/>
                  </a:lnTo>
                  <a:lnTo>
                    <a:pt x="0" y="1675987"/>
                  </a:lnTo>
                  <a:close/>
                </a:path>
              </a:pathLst>
            </a:custGeom>
            <a:solidFill>
              <a:srgbClr val="EBFAFF"/>
            </a:solidFill>
            <a:ln cap="sq">
              <a:noFill/>
              <a:prstDash val="solid"/>
              <a:miter/>
            </a:ln>
          </p:spPr>
        </p:sp>
        <p:sp>
          <p:nvSpPr>
            <p:cNvPr name="TextBox 18" id="18"/>
            <p:cNvSpPr txBox="true"/>
            <p:nvPr/>
          </p:nvSpPr>
          <p:spPr>
            <a:xfrm>
              <a:off x="0" y="-47625"/>
              <a:ext cx="1654332" cy="1723612"/>
            </a:xfrm>
            <a:prstGeom prst="rect">
              <a:avLst/>
            </a:prstGeom>
          </p:spPr>
          <p:txBody>
            <a:bodyPr anchor="ctr" rtlCol="false" tIns="45188" lIns="45188" bIns="45188" rIns="45188"/>
            <a:lstStyle/>
            <a:p>
              <a:pPr algn="ctr">
                <a:lnSpc>
                  <a:spcPts val="3248"/>
                </a:lnSpc>
              </a:pPr>
            </a:p>
          </p:txBody>
        </p:sp>
      </p:grpSp>
      <p:grpSp>
        <p:nvGrpSpPr>
          <p:cNvPr name="Group 19" id="19"/>
          <p:cNvGrpSpPr/>
          <p:nvPr/>
        </p:nvGrpSpPr>
        <p:grpSpPr>
          <a:xfrm rot="0">
            <a:off x="767517" y="2041221"/>
            <a:ext cx="4675320" cy="1011898"/>
            <a:chOff x="0" y="0"/>
            <a:chExt cx="6233760" cy="1349198"/>
          </a:xfrm>
        </p:grpSpPr>
        <p:sp>
          <p:nvSpPr>
            <p:cNvPr name="Freeform 20" id="20"/>
            <p:cNvSpPr/>
            <p:nvPr/>
          </p:nvSpPr>
          <p:spPr>
            <a:xfrm flipH="false" flipV="false" rot="0">
              <a:off x="0" y="0"/>
              <a:ext cx="604179" cy="604179"/>
            </a:xfrm>
            <a:custGeom>
              <a:avLst/>
              <a:gdLst/>
              <a:ahLst/>
              <a:cxnLst/>
              <a:rect r="r" b="b" t="t" l="l"/>
              <a:pathLst>
                <a:path h="604179" w="604179">
                  <a:moveTo>
                    <a:pt x="0" y="0"/>
                  </a:moveTo>
                  <a:lnTo>
                    <a:pt x="604179" y="0"/>
                  </a:lnTo>
                  <a:lnTo>
                    <a:pt x="604179" y="604179"/>
                  </a:lnTo>
                  <a:lnTo>
                    <a:pt x="0" y="6041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882682" y="91670"/>
              <a:ext cx="5351078" cy="420838"/>
            </a:xfrm>
            <a:prstGeom prst="rect">
              <a:avLst/>
            </a:prstGeom>
          </p:spPr>
          <p:txBody>
            <a:bodyPr anchor="t" rtlCol="false" tIns="0" lIns="0" bIns="0" rIns="0">
              <a:spAutoFit/>
            </a:bodyPr>
            <a:lstStyle/>
            <a:p>
              <a:pPr algn="l" marL="0" indent="0" lvl="0">
                <a:lnSpc>
                  <a:spcPts val="2528"/>
                </a:lnSpc>
                <a:spcBef>
                  <a:spcPct val="0"/>
                </a:spcBef>
              </a:pPr>
            </a:p>
          </p:txBody>
        </p:sp>
        <p:sp>
          <p:nvSpPr>
            <p:cNvPr name="TextBox 22" id="22"/>
            <p:cNvSpPr txBox="true"/>
            <p:nvPr/>
          </p:nvSpPr>
          <p:spPr>
            <a:xfrm rot="0">
              <a:off x="882682" y="928360"/>
              <a:ext cx="5351078" cy="420838"/>
            </a:xfrm>
            <a:prstGeom prst="rect">
              <a:avLst/>
            </a:prstGeom>
          </p:spPr>
          <p:txBody>
            <a:bodyPr anchor="t" rtlCol="false" tIns="0" lIns="0" bIns="0" rIns="0">
              <a:spAutoFit/>
            </a:bodyPr>
            <a:lstStyle/>
            <a:p>
              <a:pPr algn="l" marL="0" indent="0" lvl="0">
                <a:lnSpc>
                  <a:spcPts val="2528"/>
                </a:lnSpc>
                <a:spcBef>
                  <a:spcPct val="0"/>
                </a:spcBef>
              </a:pPr>
            </a:p>
          </p:txBody>
        </p:sp>
      </p:grpSp>
      <p:grpSp>
        <p:nvGrpSpPr>
          <p:cNvPr name="Group 23" id="23"/>
          <p:cNvGrpSpPr/>
          <p:nvPr/>
        </p:nvGrpSpPr>
        <p:grpSpPr>
          <a:xfrm rot="0">
            <a:off x="5243823" y="3022265"/>
            <a:ext cx="4270078" cy="2549984"/>
            <a:chOff x="0" y="0"/>
            <a:chExt cx="3028146" cy="1808333"/>
          </a:xfrm>
        </p:grpSpPr>
        <p:sp>
          <p:nvSpPr>
            <p:cNvPr name="Freeform 24" id="24"/>
            <p:cNvSpPr/>
            <p:nvPr/>
          </p:nvSpPr>
          <p:spPr>
            <a:xfrm flipH="false" flipV="false" rot="0">
              <a:off x="0" y="0"/>
              <a:ext cx="3028146" cy="1808333"/>
            </a:xfrm>
            <a:custGeom>
              <a:avLst/>
              <a:gdLst/>
              <a:ahLst/>
              <a:cxnLst/>
              <a:rect r="r" b="b" t="t" l="l"/>
              <a:pathLst>
                <a:path h="1808333" w="3028146">
                  <a:moveTo>
                    <a:pt x="0" y="0"/>
                  </a:moveTo>
                  <a:lnTo>
                    <a:pt x="3028146" y="0"/>
                  </a:lnTo>
                  <a:lnTo>
                    <a:pt x="3028146" y="1808333"/>
                  </a:lnTo>
                  <a:lnTo>
                    <a:pt x="0" y="1808333"/>
                  </a:lnTo>
                  <a:close/>
                </a:path>
              </a:pathLst>
            </a:custGeom>
            <a:solidFill>
              <a:srgbClr val="000000">
                <a:alpha val="0"/>
              </a:srgbClr>
            </a:solidFill>
            <a:ln w="19050" cap="sq">
              <a:solidFill>
                <a:srgbClr val="E11C17"/>
              </a:solidFill>
              <a:prstDash val="dash"/>
              <a:miter/>
            </a:ln>
          </p:spPr>
        </p:sp>
        <p:sp>
          <p:nvSpPr>
            <p:cNvPr name="TextBox 25" id="25"/>
            <p:cNvSpPr txBox="true"/>
            <p:nvPr/>
          </p:nvSpPr>
          <p:spPr>
            <a:xfrm>
              <a:off x="0" y="-123825"/>
              <a:ext cx="3028146" cy="1932158"/>
            </a:xfrm>
            <a:prstGeom prst="rect">
              <a:avLst/>
            </a:prstGeom>
          </p:spPr>
          <p:txBody>
            <a:bodyPr anchor="ctr" rtlCol="false" tIns="45188" lIns="45188" bIns="45188" rIns="45188"/>
            <a:lstStyle/>
            <a:p>
              <a:pPr algn="l" marL="636904" indent="-318452" lvl="1">
                <a:lnSpc>
                  <a:spcPts val="4542"/>
                </a:lnSpc>
                <a:buFont typeface="Arial"/>
                <a:buChar char="•"/>
              </a:pPr>
              <a:r>
                <a:rPr lang="en-US" sz="2949">
                  <a:solidFill>
                    <a:srgbClr val="000000"/>
                  </a:solidFill>
                  <a:latin typeface="Poppins"/>
                  <a:ea typeface="Poppins"/>
                  <a:cs typeface="Poppins"/>
                  <a:sym typeface="Poppins"/>
                </a:rPr>
                <a:t>Tồn động thủ công</a:t>
              </a:r>
            </a:p>
            <a:p>
              <a:pPr algn="l" marL="636904" indent="-318452" lvl="1">
                <a:lnSpc>
                  <a:spcPts val="4542"/>
                </a:lnSpc>
                <a:buFont typeface="Arial"/>
                <a:buChar char="•"/>
              </a:pPr>
              <a:r>
                <a:rPr lang="en-US" sz="2949">
                  <a:solidFill>
                    <a:srgbClr val="000000"/>
                  </a:solidFill>
                  <a:latin typeface="Poppins"/>
                  <a:ea typeface="Poppins"/>
                  <a:cs typeface="Poppins"/>
                  <a:sym typeface="Poppins"/>
                </a:rPr>
                <a:t>Sao lưu</a:t>
              </a:r>
            </a:p>
            <a:p>
              <a:pPr algn="l" marL="636904" indent="-318452" lvl="1">
                <a:lnSpc>
                  <a:spcPts val="4542"/>
                </a:lnSpc>
                <a:buFont typeface="Arial"/>
                <a:buChar char="•"/>
              </a:pPr>
              <a:r>
                <a:rPr lang="en-US" sz="2949">
                  <a:solidFill>
                    <a:srgbClr val="000000"/>
                  </a:solidFill>
                  <a:latin typeface="Poppins"/>
                  <a:ea typeface="Poppins"/>
                  <a:cs typeface="Poppins"/>
                  <a:sym typeface="Poppins"/>
                </a:rPr>
                <a:t>Giới hạn phạm vi</a:t>
              </a:r>
            </a:p>
            <a:p>
              <a:pPr algn="l" marL="636904" indent="-318452" lvl="1">
                <a:lnSpc>
                  <a:spcPts val="4542"/>
                </a:lnSpc>
                <a:buFont typeface="Arial"/>
                <a:buChar char="•"/>
              </a:pPr>
              <a:r>
                <a:rPr lang="en-US" sz="2949">
                  <a:solidFill>
                    <a:srgbClr val="000000"/>
                  </a:solidFill>
                  <a:latin typeface="Poppins"/>
                  <a:ea typeface="Poppins"/>
                  <a:cs typeface="Poppins"/>
                  <a:sym typeface="Poppins"/>
                </a:rPr>
                <a:t>Không có Mobile</a:t>
              </a:r>
            </a:p>
          </p:txBody>
        </p:sp>
      </p:grpSp>
      <p:grpSp>
        <p:nvGrpSpPr>
          <p:cNvPr name="Group 26" id="26"/>
          <p:cNvGrpSpPr/>
          <p:nvPr/>
        </p:nvGrpSpPr>
        <p:grpSpPr>
          <a:xfrm rot="0">
            <a:off x="572243" y="3022265"/>
            <a:ext cx="4287710" cy="2810444"/>
            <a:chOff x="0" y="0"/>
            <a:chExt cx="3040650" cy="1993039"/>
          </a:xfrm>
        </p:grpSpPr>
        <p:sp>
          <p:nvSpPr>
            <p:cNvPr name="Freeform 27" id="27"/>
            <p:cNvSpPr/>
            <p:nvPr/>
          </p:nvSpPr>
          <p:spPr>
            <a:xfrm flipH="false" flipV="false" rot="0">
              <a:off x="0" y="0"/>
              <a:ext cx="3040650" cy="1993039"/>
            </a:xfrm>
            <a:custGeom>
              <a:avLst/>
              <a:gdLst/>
              <a:ahLst/>
              <a:cxnLst/>
              <a:rect r="r" b="b" t="t" l="l"/>
              <a:pathLst>
                <a:path h="1993039" w="3040650">
                  <a:moveTo>
                    <a:pt x="0" y="0"/>
                  </a:moveTo>
                  <a:lnTo>
                    <a:pt x="3040650" y="0"/>
                  </a:lnTo>
                  <a:lnTo>
                    <a:pt x="3040650" y="1993039"/>
                  </a:lnTo>
                  <a:lnTo>
                    <a:pt x="0" y="1993039"/>
                  </a:lnTo>
                  <a:close/>
                </a:path>
              </a:pathLst>
            </a:custGeom>
            <a:solidFill>
              <a:srgbClr val="000000">
                <a:alpha val="0"/>
              </a:srgbClr>
            </a:solidFill>
            <a:ln w="19050" cap="sq">
              <a:solidFill>
                <a:srgbClr val="0D7978"/>
              </a:solidFill>
              <a:prstDash val="dash"/>
              <a:miter/>
            </a:ln>
          </p:spPr>
        </p:sp>
        <p:sp>
          <p:nvSpPr>
            <p:cNvPr name="TextBox 28" id="28"/>
            <p:cNvSpPr txBox="true"/>
            <p:nvPr/>
          </p:nvSpPr>
          <p:spPr>
            <a:xfrm>
              <a:off x="0" y="-180975"/>
              <a:ext cx="3040650" cy="2174014"/>
            </a:xfrm>
            <a:prstGeom prst="rect">
              <a:avLst/>
            </a:prstGeom>
          </p:spPr>
          <p:txBody>
            <a:bodyPr anchor="ctr" rtlCol="false" tIns="45188" lIns="45188" bIns="45188" rIns="45188"/>
            <a:lstStyle/>
            <a:p>
              <a:pPr algn="l" marL="636757" indent="-318379" lvl="1">
                <a:lnSpc>
                  <a:spcPts val="5190"/>
                </a:lnSpc>
                <a:buFont typeface="Arial"/>
                <a:buChar char="•"/>
              </a:pPr>
              <a:r>
                <a:rPr lang="en-US" sz="2949">
                  <a:solidFill>
                    <a:srgbClr val="000000"/>
                  </a:solidFill>
                  <a:latin typeface="Poppins"/>
                  <a:ea typeface="Poppins"/>
                  <a:cs typeface="Poppins"/>
                  <a:sym typeface="Poppins"/>
                </a:rPr>
                <a:t>Giao diện</a:t>
              </a:r>
            </a:p>
            <a:p>
              <a:pPr algn="l" marL="636757" indent="-318379" lvl="1">
                <a:lnSpc>
                  <a:spcPts val="5190"/>
                </a:lnSpc>
                <a:buFont typeface="Arial"/>
                <a:buChar char="•"/>
              </a:pPr>
              <a:r>
                <a:rPr lang="en-US" sz="2949">
                  <a:solidFill>
                    <a:srgbClr val="000000"/>
                  </a:solidFill>
                  <a:latin typeface="Poppins"/>
                  <a:ea typeface="Poppins"/>
                  <a:cs typeface="Poppins"/>
                  <a:sym typeface="Poppins"/>
                </a:rPr>
                <a:t>Luồng người dùng</a:t>
              </a:r>
            </a:p>
            <a:p>
              <a:pPr algn="l" marL="636757" indent="-318379" lvl="1">
                <a:lnSpc>
                  <a:spcPts val="5190"/>
                </a:lnSpc>
                <a:buFont typeface="Arial"/>
                <a:buChar char="•"/>
              </a:pPr>
              <a:r>
                <a:rPr lang="en-US" sz="2949">
                  <a:solidFill>
                    <a:srgbClr val="000000"/>
                  </a:solidFill>
                  <a:latin typeface="Poppins"/>
                  <a:ea typeface="Poppins"/>
                  <a:cs typeface="Poppins"/>
                  <a:sym typeface="Poppins"/>
                </a:rPr>
                <a:t>CSDL</a:t>
              </a:r>
            </a:p>
            <a:p>
              <a:pPr algn="l" marL="636757" indent="-318379" lvl="1">
                <a:lnSpc>
                  <a:spcPts val="5190"/>
                </a:lnSpc>
                <a:buFont typeface="Arial"/>
                <a:buChar char="•"/>
              </a:pPr>
              <a:r>
                <a:rPr lang="en-US" sz="2949">
                  <a:solidFill>
                    <a:srgbClr val="000000"/>
                  </a:solidFill>
                  <a:latin typeface="Poppins"/>
                  <a:ea typeface="Poppins"/>
                  <a:cs typeface="Poppins"/>
                  <a:sym typeface="Poppins"/>
                </a:rPr>
                <a:t>Công nghệ</a:t>
              </a:r>
            </a:p>
          </p:txBody>
        </p:sp>
      </p:grpSp>
      <p:sp>
        <p:nvSpPr>
          <p:cNvPr name="Freeform 29" id="29"/>
          <p:cNvSpPr/>
          <p:nvPr/>
        </p:nvSpPr>
        <p:spPr>
          <a:xfrm flipH="false" flipV="false" rot="0">
            <a:off x="5486664" y="2065559"/>
            <a:ext cx="444210" cy="444210"/>
          </a:xfrm>
          <a:custGeom>
            <a:avLst/>
            <a:gdLst/>
            <a:ahLst/>
            <a:cxnLst/>
            <a:rect r="r" b="b" t="t" l="l"/>
            <a:pathLst>
              <a:path h="444210" w="444210">
                <a:moveTo>
                  <a:pt x="0" y="0"/>
                </a:moveTo>
                <a:lnTo>
                  <a:pt x="444210" y="0"/>
                </a:lnTo>
                <a:lnTo>
                  <a:pt x="444210" y="444211"/>
                </a:lnTo>
                <a:lnTo>
                  <a:pt x="0" y="4442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30" id="30"/>
          <p:cNvSpPr/>
          <p:nvPr/>
        </p:nvSpPr>
        <p:spPr>
          <a:xfrm>
            <a:off x="9974731" y="8177290"/>
            <a:ext cx="7973788" cy="0"/>
          </a:xfrm>
          <a:prstGeom prst="line">
            <a:avLst/>
          </a:prstGeom>
          <a:ln cap="flat" w="38100">
            <a:solidFill>
              <a:srgbClr val="00D3D3"/>
            </a:solidFill>
            <a:prstDash val="sysDash"/>
            <a:headEnd type="oval" len="lg" w="lg"/>
            <a:tailEnd type="arrow" len="sm" w="med"/>
          </a:ln>
        </p:spPr>
      </p:sp>
      <p:grpSp>
        <p:nvGrpSpPr>
          <p:cNvPr name="Group 31" id="31"/>
          <p:cNvGrpSpPr/>
          <p:nvPr/>
        </p:nvGrpSpPr>
        <p:grpSpPr>
          <a:xfrm rot="0">
            <a:off x="10420570" y="7749367"/>
            <a:ext cx="850194" cy="850194"/>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33" id="33"/>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sp>
        <p:nvSpPr>
          <p:cNvPr name="AutoShape 34" id="34"/>
          <p:cNvSpPr/>
          <p:nvPr/>
        </p:nvSpPr>
        <p:spPr>
          <a:xfrm flipH="true">
            <a:off x="12946727" y="5793113"/>
            <a:ext cx="3523" cy="1956254"/>
          </a:xfrm>
          <a:prstGeom prst="line">
            <a:avLst/>
          </a:prstGeom>
          <a:ln cap="rnd" w="38100">
            <a:solidFill>
              <a:srgbClr val="08B962"/>
            </a:solidFill>
            <a:prstDash val="sysDot"/>
            <a:headEnd type="arrow" len="sm" w="med"/>
            <a:tailEnd type="none" len="sm" w="sm"/>
          </a:ln>
        </p:spPr>
      </p:sp>
      <p:sp>
        <p:nvSpPr>
          <p:cNvPr name="AutoShape 35" id="35"/>
          <p:cNvSpPr/>
          <p:nvPr/>
        </p:nvSpPr>
        <p:spPr>
          <a:xfrm flipH="true">
            <a:off x="15055493" y="4711817"/>
            <a:ext cx="5316" cy="3037550"/>
          </a:xfrm>
          <a:prstGeom prst="line">
            <a:avLst/>
          </a:prstGeom>
          <a:ln cap="rnd" w="38100">
            <a:solidFill>
              <a:srgbClr val="8C52FF"/>
            </a:solidFill>
            <a:prstDash val="sysDot"/>
            <a:headEnd type="arrow" len="sm" w="med"/>
            <a:tailEnd type="none" len="sm" w="sm"/>
          </a:ln>
        </p:spPr>
      </p:sp>
      <p:sp>
        <p:nvSpPr>
          <p:cNvPr name="AutoShape 36" id="36"/>
          <p:cNvSpPr/>
          <p:nvPr/>
        </p:nvSpPr>
        <p:spPr>
          <a:xfrm flipH="true">
            <a:off x="10845667" y="6849755"/>
            <a:ext cx="3523" cy="899612"/>
          </a:xfrm>
          <a:prstGeom prst="line">
            <a:avLst/>
          </a:prstGeom>
          <a:ln cap="rnd" w="38100">
            <a:solidFill>
              <a:srgbClr val="FF0000"/>
            </a:solidFill>
            <a:prstDash val="sysDot"/>
            <a:headEnd type="arrow" len="sm" w="med"/>
            <a:tailEnd type="none" len="sm" w="sm"/>
          </a:ln>
        </p:spPr>
      </p:sp>
      <p:grpSp>
        <p:nvGrpSpPr>
          <p:cNvPr name="Group 37" id="37"/>
          <p:cNvGrpSpPr/>
          <p:nvPr/>
        </p:nvGrpSpPr>
        <p:grpSpPr>
          <a:xfrm rot="0">
            <a:off x="9938492" y="5028356"/>
            <a:ext cx="1821398" cy="1821398"/>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0000"/>
            </a:solidFill>
          </p:spPr>
        </p:sp>
        <p:sp>
          <p:nvSpPr>
            <p:cNvPr name="TextBox 39" id="39"/>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grpSp>
        <p:nvGrpSpPr>
          <p:cNvPr name="Group 40" id="40"/>
          <p:cNvGrpSpPr/>
          <p:nvPr/>
        </p:nvGrpSpPr>
        <p:grpSpPr>
          <a:xfrm rot="0">
            <a:off x="12039551" y="3971715"/>
            <a:ext cx="1821398" cy="1821398"/>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B962"/>
            </a:solidFill>
          </p:spPr>
        </p:sp>
        <p:sp>
          <p:nvSpPr>
            <p:cNvPr name="TextBox 42" id="42"/>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grpSp>
        <p:nvGrpSpPr>
          <p:cNvPr name="Group 43" id="43"/>
          <p:cNvGrpSpPr/>
          <p:nvPr/>
        </p:nvGrpSpPr>
        <p:grpSpPr>
          <a:xfrm rot="0">
            <a:off x="14150110" y="2890419"/>
            <a:ext cx="1821398" cy="1821398"/>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sp>
        <p:sp>
          <p:nvSpPr>
            <p:cNvPr name="TextBox 45" id="45"/>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sp>
        <p:nvSpPr>
          <p:cNvPr name="AutoShape 46" id="46"/>
          <p:cNvSpPr/>
          <p:nvPr/>
        </p:nvSpPr>
        <p:spPr>
          <a:xfrm flipH="true">
            <a:off x="17154411" y="3508837"/>
            <a:ext cx="20946" cy="4240529"/>
          </a:xfrm>
          <a:prstGeom prst="line">
            <a:avLst/>
          </a:prstGeom>
          <a:ln cap="rnd" w="38100">
            <a:solidFill>
              <a:srgbClr val="FBC318"/>
            </a:solidFill>
            <a:prstDash val="sysDot"/>
            <a:headEnd type="arrow" len="sm" w="med"/>
            <a:tailEnd type="none" len="sm" w="sm"/>
          </a:ln>
        </p:spPr>
      </p:sp>
      <p:grpSp>
        <p:nvGrpSpPr>
          <p:cNvPr name="Group 47" id="47"/>
          <p:cNvGrpSpPr/>
          <p:nvPr/>
        </p:nvGrpSpPr>
        <p:grpSpPr>
          <a:xfrm rot="0">
            <a:off x="16264657" y="1687439"/>
            <a:ext cx="1821398" cy="1821398"/>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49" id="49"/>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grpSp>
        <p:nvGrpSpPr>
          <p:cNvPr name="Group 50" id="50"/>
          <p:cNvGrpSpPr/>
          <p:nvPr/>
        </p:nvGrpSpPr>
        <p:grpSpPr>
          <a:xfrm rot="0">
            <a:off x="12521630" y="7749367"/>
            <a:ext cx="850194" cy="850194"/>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52" id="52"/>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grpSp>
        <p:nvGrpSpPr>
          <p:cNvPr name="Group 53" id="53"/>
          <p:cNvGrpSpPr/>
          <p:nvPr/>
        </p:nvGrpSpPr>
        <p:grpSpPr>
          <a:xfrm rot="0">
            <a:off x="14630396" y="7749367"/>
            <a:ext cx="850194" cy="850194"/>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55" id="55"/>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grpSp>
        <p:nvGrpSpPr>
          <p:cNvPr name="Group 56" id="56"/>
          <p:cNvGrpSpPr/>
          <p:nvPr/>
        </p:nvGrpSpPr>
        <p:grpSpPr>
          <a:xfrm rot="0">
            <a:off x="16729314" y="7749367"/>
            <a:ext cx="850194" cy="850194"/>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58" id="58"/>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sp>
        <p:nvSpPr>
          <p:cNvPr name="Freeform 59" id="59"/>
          <p:cNvSpPr/>
          <p:nvPr/>
        </p:nvSpPr>
        <p:spPr>
          <a:xfrm flipH="false" flipV="false" rot="0">
            <a:off x="10561926" y="7891720"/>
            <a:ext cx="567484" cy="539626"/>
          </a:xfrm>
          <a:custGeom>
            <a:avLst/>
            <a:gdLst/>
            <a:ahLst/>
            <a:cxnLst/>
            <a:rect r="r" b="b" t="t" l="l"/>
            <a:pathLst>
              <a:path h="539626" w="567484">
                <a:moveTo>
                  <a:pt x="0" y="0"/>
                </a:moveTo>
                <a:lnTo>
                  <a:pt x="567483" y="0"/>
                </a:lnTo>
                <a:lnTo>
                  <a:pt x="567483" y="539626"/>
                </a:lnTo>
                <a:lnTo>
                  <a:pt x="0" y="5396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0" id="60"/>
          <p:cNvSpPr/>
          <p:nvPr/>
        </p:nvSpPr>
        <p:spPr>
          <a:xfrm flipH="false" flipV="false" rot="0">
            <a:off x="12760214" y="7826324"/>
            <a:ext cx="373027" cy="658585"/>
          </a:xfrm>
          <a:custGeom>
            <a:avLst/>
            <a:gdLst/>
            <a:ahLst/>
            <a:cxnLst/>
            <a:rect r="r" b="b" t="t" l="l"/>
            <a:pathLst>
              <a:path h="658585" w="373027">
                <a:moveTo>
                  <a:pt x="0" y="0"/>
                </a:moveTo>
                <a:lnTo>
                  <a:pt x="373027" y="0"/>
                </a:lnTo>
                <a:lnTo>
                  <a:pt x="373027" y="658585"/>
                </a:lnTo>
                <a:lnTo>
                  <a:pt x="0" y="658585"/>
                </a:lnTo>
                <a:lnTo>
                  <a:pt x="0" y="0"/>
                </a:lnTo>
                <a:close/>
              </a:path>
            </a:pathLst>
          </a:custGeom>
          <a:blipFill>
            <a:blip r:embed="rId9"/>
            <a:stretch>
              <a:fillRect l="0" t="0" r="0" b="0"/>
            </a:stretch>
          </a:blipFill>
        </p:spPr>
      </p:sp>
      <p:sp>
        <p:nvSpPr>
          <p:cNvPr name="Freeform 61" id="61"/>
          <p:cNvSpPr/>
          <p:nvPr/>
        </p:nvSpPr>
        <p:spPr>
          <a:xfrm flipH="false" flipV="false" rot="0">
            <a:off x="14771999" y="7862479"/>
            <a:ext cx="635524" cy="623969"/>
          </a:xfrm>
          <a:custGeom>
            <a:avLst/>
            <a:gdLst/>
            <a:ahLst/>
            <a:cxnLst/>
            <a:rect r="r" b="b" t="t" l="l"/>
            <a:pathLst>
              <a:path h="623969" w="635524">
                <a:moveTo>
                  <a:pt x="0" y="0"/>
                </a:moveTo>
                <a:lnTo>
                  <a:pt x="635524" y="0"/>
                </a:lnTo>
                <a:lnTo>
                  <a:pt x="635524" y="623969"/>
                </a:lnTo>
                <a:lnTo>
                  <a:pt x="0" y="6239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62" id="62"/>
          <p:cNvSpPr/>
          <p:nvPr/>
        </p:nvSpPr>
        <p:spPr>
          <a:xfrm flipH="false" flipV="false" rot="0">
            <a:off x="16894937" y="7916173"/>
            <a:ext cx="518947" cy="515173"/>
          </a:xfrm>
          <a:custGeom>
            <a:avLst/>
            <a:gdLst/>
            <a:ahLst/>
            <a:cxnLst/>
            <a:rect r="r" b="b" t="t" l="l"/>
            <a:pathLst>
              <a:path h="515173" w="518947">
                <a:moveTo>
                  <a:pt x="0" y="0"/>
                </a:moveTo>
                <a:lnTo>
                  <a:pt x="518947" y="0"/>
                </a:lnTo>
                <a:lnTo>
                  <a:pt x="518947" y="515173"/>
                </a:lnTo>
                <a:lnTo>
                  <a:pt x="0" y="51517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63" id="63"/>
          <p:cNvSpPr txBox="true"/>
          <p:nvPr/>
        </p:nvSpPr>
        <p:spPr>
          <a:xfrm rot="0">
            <a:off x="763324" y="9350588"/>
            <a:ext cx="14981158" cy="40963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64" id="64"/>
          <p:cNvSpPr txBox="true"/>
          <p:nvPr/>
        </p:nvSpPr>
        <p:spPr>
          <a:xfrm rot="0">
            <a:off x="17259300" y="9360113"/>
            <a:ext cx="444861"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20</a:t>
            </a:r>
          </a:p>
        </p:txBody>
      </p:sp>
      <p:sp>
        <p:nvSpPr>
          <p:cNvPr name="TextBox 65" id="65"/>
          <p:cNvSpPr txBox="true"/>
          <p:nvPr/>
        </p:nvSpPr>
        <p:spPr>
          <a:xfrm rot="0">
            <a:off x="1019175" y="108828"/>
            <a:ext cx="11224595" cy="873186"/>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5. PHƯƠNG PHÁP THỰC HIỆN</a:t>
            </a:r>
          </a:p>
        </p:txBody>
      </p:sp>
      <p:sp>
        <p:nvSpPr>
          <p:cNvPr name="TextBox 66" id="66"/>
          <p:cNvSpPr txBox="true"/>
          <p:nvPr/>
        </p:nvSpPr>
        <p:spPr>
          <a:xfrm rot="0">
            <a:off x="6251913" y="2101998"/>
            <a:ext cx="2342418" cy="385083"/>
          </a:xfrm>
          <a:prstGeom prst="rect">
            <a:avLst/>
          </a:prstGeom>
        </p:spPr>
        <p:txBody>
          <a:bodyPr anchor="t" rtlCol="false" tIns="0" lIns="0" bIns="0" rIns="0">
            <a:spAutoFit/>
          </a:bodyPr>
          <a:lstStyle/>
          <a:p>
            <a:pPr algn="ctr">
              <a:lnSpc>
                <a:spcPts val="3032"/>
              </a:lnSpc>
            </a:pPr>
            <a:r>
              <a:rPr lang="en-US" b="true" sz="2526">
                <a:solidFill>
                  <a:srgbClr val="FFFFFF"/>
                </a:solidFill>
                <a:latin typeface="Body Grotesque Bold"/>
                <a:ea typeface="Body Grotesque Bold"/>
                <a:cs typeface="Body Grotesque Bold"/>
                <a:sym typeface="Body Grotesque Bold"/>
              </a:rPr>
              <a:t>NHƯỢC ĐIỂM</a:t>
            </a:r>
          </a:p>
        </p:txBody>
      </p:sp>
      <p:sp>
        <p:nvSpPr>
          <p:cNvPr name="TextBox 67" id="67"/>
          <p:cNvSpPr txBox="true"/>
          <p:nvPr/>
        </p:nvSpPr>
        <p:spPr>
          <a:xfrm rot="0">
            <a:off x="1287438" y="2116076"/>
            <a:ext cx="2934887" cy="385083"/>
          </a:xfrm>
          <a:prstGeom prst="rect">
            <a:avLst/>
          </a:prstGeom>
        </p:spPr>
        <p:txBody>
          <a:bodyPr anchor="t" rtlCol="false" tIns="0" lIns="0" bIns="0" rIns="0">
            <a:spAutoFit/>
          </a:bodyPr>
          <a:lstStyle/>
          <a:p>
            <a:pPr algn="ctr" marL="0" indent="0" lvl="0">
              <a:lnSpc>
                <a:spcPts val="3032"/>
              </a:lnSpc>
              <a:spcBef>
                <a:spcPct val="0"/>
              </a:spcBef>
            </a:pPr>
            <a:r>
              <a:rPr lang="en-US" b="true" sz="2526">
                <a:solidFill>
                  <a:srgbClr val="FFFFFF"/>
                </a:solidFill>
                <a:latin typeface="Body Grotesque Bold"/>
                <a:ea typeface="Body Grotesque Bold"/>
                <a:cs typeface="Body Grotesque Bold"/>
                <a:sym typeface="Body Grotesque Bold"/>
              </a:rPr>
              <a:t>ƯU ĐIỂM</a:t>
            </a:r>
          </a:p>
        </p:txBody>
      </p:sp>
      <p:sp>
        <p:nvSpPr>
          <p:cNvPr name="TextBox 68" id="68"/>
          <p:cNvSpPr txBox="true"/>
          <p:nvPr/>
        </p:nvSpPr>
        <p:spPr>
          <a:xfrm rot="0">
            <a:off x="10025347" y="5227612"/>
            <a:ext cx="1640641" cy="1346687"/>
          </a:xfrm>
          <a:prstGeom prst="rect">
            <a:avLst/>
          </a:prstGeom>
        </p:spPr>
        <p:txBody>
          <a:bodyPr anchor="t" rtlCol="false" tIns="0" lIns="0" bIns="0" rIns="0">
            <a:spAutoFit/>
          </a:bodyPr>
          <a:lstStyle/>
          <a:p>
            <a:pPr algn="ctr">
              <a:lnSpc>
                <a:spcPts val="2727"/>
              </a:lnSpc>
            </a:pPr>
            <a:r>
              <a:rPr lang="en-US" b="true" sz="1673" spc="301">
                <a:solidFill>
                  <a:srgbClr val="FFFFFF"/>
                </a:solidFill>
                <a:latin typeface="Open Sans 1 Bold"/>
                <a:ea typeface="Open Sans 1 Bold"/>
                <a:cs typeface="Open Sans 1 Bold"/>
                <a:sym typeface="Open Sans 1 Bold"/>
              </a:rPr>
              <a:t>Mở </a:t>
            </a:r>
            <a:r>
              <a:rPr lang="en-US" b="true" sz="1673" spc="301">
                <a:solidFill>
                  <a:srgbClr val="FFFFFF"/>
                </a:solidFill>
                <a:latin typeface="Open Sans 1 Bold"/>
                <a:ea typeface="Open Sans 1 Bold"/>
                <a:cs typeface="Open Sans 1 Bold"/>
                <a:sym typeface="Open Sans 1 Bold"/>
              </a:rPr>
              <a:t>rộng thiết bị và thô</a:t>
            </a:r>
            <a:r>
              <a:rPr lang="en-US" b="true" sz="1673" spc="301">
                <a:solidFill>
                  <a:srgbClr val="FFFFFF"/>
                </a:solidFill>
                <a:latin typeface="Open Sans 1 Bold"/>
                <a:ea typeface="Open Sans 1 Bold"/>
                <a:cs typeface="Open Sans 1 Bold"/>
                <a:sym typeface="Open Sans 1 Bold"/>
              </a:rPr>
              <a:t>ng báo tự động</a:t>
            </a:r>
          </a:p>
        </p:txBody>
      </p:sp>
      <p:sp>
        <p:nvSpPr>
          <p:cNvPr name="TextBox 69" id="69"/>
          <p:cNvSpPr txBox="true"/>
          <p:nvPr/>
        </p:nvSpPr>
        <p:spPr>
          <a:xfrm rot="0">
            <a:off x="12039551" y="4337928"/>
            <a:ext cx="1738183" cy="952111"/>
          </a:xfrm>
          <a:prstGeom prst="rect">
            <a:avLst/>
          </a:prstGeom>
        </p:spPr>
        <p:txBody>
          <a:bodyPr anchor="t" rtlCol="false" tIns="0" lIns="0" bIns="0" rIns="0">
            <a:spAutoFit/>
          </a:bodyPr>
          <a:lstStyle/>
          <a:p>
            <a:pPr algn="ctr">
              <a:lnSpc>
                <a:spcPts val="2564"/>
              </a:lnSpc>
            </a:pPr>
            <a:r>
              <a:rPr lang="en-US" b="true" sz="1573" spc="283">
                <a:solidFill>
                  <a:srgbClr val="FFFFFF"/>
                </a:solidFill>
                <a:latin typeface="Open Sans 1 Bold"/>
                <a:ea typeface="Open Sans 1 Bold"/>
                <a:cs typeface="Open Sans 1 Bold"/>
                <a:sym typeface="Open Sans 1 Bold"/>
              </a:rPr>
              <a:t> Phát triển App</a:t>
            </a:r>
            <a:r>
              <a:rPr lang="en-US" b="true" sz="1573" spc="283">
                <a:solidFill>
                  <a:srgbClr val="FFFFFF"/>
                </a:solidFill>
                <a:latin typeface="Open Sans 1 Bold"/>
                <a:ea typeface="Open Sans 1 Bold"/>
                <a:cs typeface="Open Sans 1 Bold"/>
                <a:sym typeface="Open Sans 1 Bold"/>
              </a:rPr>
              <a:t> tối ưu trải nghiệm</a:t>
            </a:r>
          </a:p>
        </p:txBody>
      </p:sp>
      <p:sp>
        <p:nvSpPr>
          <p:cNvPr name="TextBox 70" id="70"/>
          <p:cNvSpPr txBox="true"/>
          <p:nvPr/>
        </p:nvSpPr>
        <p:spPr>
          <a:xfrm rot="0">
            <a:off x="14225194" y="3216807"/>
            <a:ext cx="1671231" cy="1275902"/>
          </a:xfrm>
          <a:prstGeom prst="rect">
            <a:avLst/>
          </a:prstGeom>
        </p:spPr>
        <p:txBody>
          <a:bodyPr anchor="t" rtlCol="false" tIns="0" lIns="0" bIns="0" rIns="0">
            <a:spAutoFit/>
          </a:bodyPr>
          <a:lstStyle/>
          <a:p>
            <a:pPr algn="ctr">
              <a:lnSpc>
                <a:spcPts val="2564"/>
              </a:lnSpc>
            </a:pPr>
            <a:r>
              <a:rPr lang="en-US" b="true" sz="1573" spc="283">
                <a:solidFill>
                  <a:srgbClr val="FFFFFF"/>
                </a:solidFill>
                <a:latin typeface="Open Sans 1 Bold"/>
                <a:ea typeface="Open Sans 1 Bold"/>
                <a:cs typeface="Open Sans 1 Bold"/>
                <a:sym typeface="Open Sans 1 Bold"/>
              </a:rPr>
              <a:t>Tăng</a:t>
            </a:r>
            <a:r>
              <a:rPr lang="en-US" b="true" sz="1573" spc="283">
                <a:solidFill>
                  <a:srgbClr val="FFFFFF"/>
                </a:solidFill>
                <a:latin typeface="Open Sans 1 Bold"/>
                <a:ea typeface="Open Sans 1 Bold"/>
                <a:cs typeface="Open Sans 1 Bold"/>
                <a:sym typeface="Open Sans 1 Bold"/>
              </a:rPr>
              <a:t> cường bảo mật và sao lưu </a:t>
            </a:r>
          </a:p>
          <a:p>
            <a:pPr algn="ctr">
              <a:lnSpc>
                <a:spcPts val="2564"/>
              </a:lnSpc>
            </a:pPr>
            <a:r>
              <a:rPr lang="en-US" b="true" sz="1573" spc="283">
                <a:solidFill>
                  <a:srgbClr val="FFFFFF"/>
                </a:solidFill>
                <a:latin typeface="Open Sans 1 Bold"/>
                <a:ea typeface="Open Sans 1 Bold"/>
                <a:cs typeface="Open Sans 1 Bold"/>
                <a:sym typeface="Open Sans 1 Bold"/>
              </a:rPr>
              <a:t>dữ liệu</a:t>
            </a:r>
          </a:p>
        </p:txBody>
      </p:sp>
      <p:sp>
        <p:nvSpPr>
          <p:cNvPr name="TextBox 71" id="71"/>
          <p:cNvSpPr txBox="true"/>
          <p:nvPr/>
        </p:nvSpPr>
        <p:spPr>
          <a:xfrm rot="0">
            <a:off x="16339837" y="2049401"/>
            <a:ext cx="1671039" cy="952111"/>
          </a:xfrm>
          <a:prstGeom prst="rect">
            <a:avLst/>
          </a:prstGeom>
        </p:spPr>
        <p:txBody>
          <a:bodyPr anchor="t" rtlCol="false" tIns="0" lIns="0" bIns="0" rIns="0">
            <a:spAutoFit/>
          </a:bodyPr>
          <a:lstStyle/>
          <a:p>
            <a:pPr algn="ctr">
              <a:lnSpc>
                <a:spcPts val="2564"/>
              </a:lnSpc>
            </a:pPr>
            <a:r>
              <a:rPr lang="en-US" b="true" sz="1573" spc="283">
                <a:solidFill>
                  <a:srgbClr val="FFFFFF"/>
                </a:solidFill>
                <a:latin typeface="Open Sans 1 Bold"/>
                <a:ea typeface="Open Sans 1 Bold"/>
                <a:cs typeface="Open Sans 1 Bold"/>
                <a:sym typeface="Open Sans 1 Bold"/>
              </a:rPr>
              <a:t>Ứng dụng mã QR và</a:t>
            </a:r>
            <a:r>
              <a:rPr lang="en-US" b="true" sz="1573" spc="283">
                <a:solidFill>
                  <a:srgbClr val="FFFFFF"/>
                </a:solidFill>
                <a:latin typeface="Open Sans 1 Bold"/>
                <a:ea typeface="Open Sans 1 Bold"/>
                <a:cs typeface="Open Sans 1 Bold"/>
                <a:sym typeface="Open Sans 1 Bold"/>
              </a:rPr>
              <a:t> tự động hóa</a:t>
            </a:r>
          </a:p>
        </p:txBody>
      </p:sp>
      <p:sp>
        <p:nvSpPr>
          <p:cNvPr name="TextBox 72" id="72"/>
          <p:cNvSpPr txBox="true"/>
          <p:nvPr/>
        </p:nvSpPr>
        <p:spPr>
          <a:xfrm rot="0">
            <a:off x="11714632" y="8762837"/>
            <a:ext cx="4606065" cy="472212"/>
          </a:xfrm>
          <a:prstGeom prst="rect">
            <a:avLst/>
          </a:prstGeom>
        </p:spPr>
        <p:txBody>
          <a:bodyPr anchor="t" rtlCol="false" tIns="0" lIns="0" bIns="0" rIns="0">
            <a:spAutoFit/>
          </a:bodyPr>
          <a:lstStyle/>
          <a:p>
            <a:pPr algn="ctr">
              <a:lnSpc>
                <a:spcPts val="3897"/>
              </a:lnSpc>
            </a:pPr>
            <a:r>
              <a:rPr lang="en-US" b="true" sz="2783" spc="347">
                <a:solidFill>
                  <a:srgbClr val="000000"/>
                </a:solidFill>
                <a:latin typeface="Body Grotesque Bold"/>
                <a:ea typeface="Body Grotesque Bold"/>
                <a:cs typeface="Body Grotesque Bold"/>
                <a:sym typeface="Body Grotesque Bold"/>
              </a:rPr>
              <a:t>HƯỚNG PHÁT TRIỂN</a:t>
            </a:r>
          </a:p>
        </p:txBody>
      </p:sp>
      <p:sp>
        <p:nvSpPr>
          <p:cNvPr name="TextBox 73" id="73"/>
          <p:cNvSpPr txBox="true"/>
          <p:nvPr/>
        </p:nvSpPr>
        <p:spPr>
          <a:xfrm rot="0">
            <a:off x="1365336" y="1056566"/>
            <a:ext cx="11631710"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5.2 – Ưu nhược điểm và hướng phát triển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62065">
            <a:off x="-2708658" y="4484182"/>
            <a:ext cx="14270748" cy="5838033"/>
          </a:xfrm>
          <a:custGeom>
            <a:avLst/>
            <a:gdLst/>
            <a:ahLst/>
            <a:cxnLst/>
            <a:rect r="r" b="b" t="t" l="l"/>
            <a:pathLst>
              <a:path h="5838033" w="14270748">
                <a:moveTo>
                  <a:pt x="0" y="0"/>
                </a:moveTo>
                <a:lnTo>
                  <a:pt x="14270748" y="0"/>
                </a:lnTo>
                <a:lnTo>
                  <a:pt x="14270748" y="5838033"/>
                </a:lnTo>
                <a:lnTo>
                  <a:pt x="0" y="5838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649" y="9248775"/>
            <a:ext cx="16891302" cy="19050"/>
            <a:chOff x="0" y="0"/>
            <a:chExt cx="22521736" cy="25400"/>
          </a:xfrm>
        </p:grpSpPr>
        <p:sp>
          <p:nvSpPr>
            <p:cNvPr name="Freeform 4" id="4"/>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5" id="5"/>
          <p:cNvGrpSpPr/>
          <p:nvPr/>
        </p:nvGrpSpPr>
        <p:grpSpPr>
          <a:xfrm rot="0">
            <a:off x="1019185" y="1014412"/>
            <a:ext cx="14681892" cy="23812"/>
            <a:chOff x="0" y="0"/>
            <a:chExt cx="19575856" cy="31750"/>
          </a:xfrm>
        </p:grpSpPr>
        <p:sp>
          <p:nvSpPr>
            <p:cNvPr name="Freeform 6" id="6"/>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TextBox 7" id="7"/>
          <p:cNvSpPr txBox="true"/>
          <p:nvPr/>
        </p:nvSpPr>
        <p:spPr>
          <a:xfrm rot="0">
            <a:off x="763324" y="9350588"/>
            <a:ext cx="14981158" cy="409635"/>
          </a:xfrm>
          <a:prstGeom prst="rect">
            <a:avLst/>
          </a:prstGeom>
        </p:spPr>
        <p:txBody>
          <a:bodyPr anchor="t" rtlCol="false" tIns="0" lIns="0" bIns="0" rIns="0">
            <a:spAutoFit/>
          </a:bodyPr>
          <a:lstStyle/>
          <a:p>
            <a:pPr algn="l">
              <a:lnSpc>
                <a:spcPts val="3120"/>
              </a:lnSpc>
            </a:pPr>
            <a:r>
              <a:rPr lang="en-US" b="true" sz="2600" spc="72">
                <a:solidFill>
                  <a:srgbClr val="0345E4"/>
                </a:solidFill>
                <a:latin typeface="Arimo Bold"/>
                <a:ea typeface="Arimo Bold"/>
                <a:cs typeface="Arimo Bold"/>
                <a:sym typeface="Arimo Bold"/>
              </a:rPr>
              <a:t>XÂY DỰNG HỆ </a:t>
            </a:r>
            <a:r>
              <a:rPr lang="en-US" b="true" sz="2600" spc="72">
                <a:solidFill>
                  <a:srgbClr val="0345E4"/>
                </a:solidFill>
                <a:latin typeface="Arimo Bold"/>
                <a:ea typeface="Arimo Bold"/>
                <a:cs typeface="Arimo Bold"/>
                <a:sym typeface="Arimo Bold"/>
              </a:rPr>
              <a:t>THỐNG MƯỢN TRẢ THIẾT BỊ GIẢNG DẠY TẠI TRƯỜNG ĐẠI HỌC TRÀ VINH</a:t>
            </a:r>
          </a:p>
        </p:txBody>
      </p:sp>
      <p:sp>
        <p:nvSpPr>
          <p:cNvPr name="TextBox 8" id="8"/>
          <p:cNvSpPr txBox="true"/>
          <p:nvPr/>
        </p:nvSpPr>
        <p:spPr>
          <a:xfrm rot="0">
            <a:off x="17259300" y="9360113"/>
            <a:ext cx="444861"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21</a:t>
            </a:r>
          </a:p>
        </p:txBody>
      </p:sp>
      <p:sp>
        <p:nvSpPr>
          <p:cNvPr name="TextBox 9" id="9"/>
          <p:cNvSpPr txBox="true"/>
          <p:nvPr/>
        </p:nvSpPr>
        <p:spPr>
          <a:xfrm rot="0">
            <a:off x="-1700" y="4256896"/>
            <a:ext cx="18288000" cy="1182485"/>
          </a:xfrm>
          <a:prstGeom prst="rect">
            <a:avLst/>
          </a:prstGeom>
        </p:spPr>
        <p:txBody>
          <a:bodyPr anchor="t" rtlCol="false" tIns="0" lIns="0" bIns="0" rIns="0">
            <a:spAutoFit/>
          </a:bodyPr>
          <a:lstStyle/>
          <a:p>
            <a:pPr algn="ctr">
              <a:lnSpc>
                <a:spcPts val="9724"/>
              </a:lnSpc>
            </a:pPr>
            <a:r>
              <a:rPr lang="en-US" b="true" sz="6800" spc="544">
                <a:solidFill>
                  <a:srgbClr val="0345E4"/>
                </a:solidFill>
                <a:latin typeface="Garet Bold"/>
                <a:ea typeface="Garet Bold"/>
                <a:cs typeface="Garet Bold"/>
                <a:sym typeface="Garet Bold"/>
              </a:rPr>
              <a:t>5. DEMO DỰ ÁN </a:t>
            </a:r>
          </a:p>
        </p:txBody>
      </p:sp>
      <p:sp>
        <p:nvSpPr>
          <p:cNvPr name="Freeform 10" id="10"/>
          <p:cNvSpPr/>
          <p:nvPr/>
        </p:nvSpPr>
        <p:spPr>
          <a:xfrm flipH="false" flipV="false" rot="0">
            <a:off x="7029861" y="-1737274"/>
            <a:ext cx="11919735" cy="4876255"/>
          </a:xfrm>
          <a:custGeom>
            <a:avLst/>
            <a:gdLst/>
            <a:ahLst/>
            <a:cxnLst/>
            <a:rect r="r" b="b" t="t" l="l"/>
            <a:pathLst>
              <a:path h="4876255" w="11919735">
                <a:moveTo>
                  <a:pt x="0" y="0"/>
                </a:moveTo>
                <a:lnTo>
                  <a:pt x="11919734" y="0"/>
                </a:lnTo>
                <a:lnTo>
                  <a:pt x="11919734" y="4876255"/>
                </a:lnTo>
                <a:lnTo>
                  <a:pt x="0" y="4876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0477373">
            <a:off x="-9519995" y="-4401546"/>
            <a:ext cx="20100950" cy="8223116"/>
          </a:xfrm>
          <a:custGeom>
            <a:avLst/>
            <a:gdLst/>
            <a:ahLst/>
            <a:cxnLst/>
            <a:rect r="r" b="b" t="t" l="l"/>
            <a:pathLst>
              <a:path h="8223116" w="20100950">
                <a:moveTo>
                  <a:pt x="0" y="8223116"/>
                </a:moveTo>
                <a:lnTo>
                  <a:pt x="20100950" y="8223116"/>
                </a:lnTo>
                <a:lnTo>
                  <a:pt x="20100950" y="0"/>
                </a:lnTo>
                <a:lnTo>
                  <a:pt x="0" y="0"/>
                </a:lnTo>
                <a:lnTo>
                  <a:pt x="0" y="82231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1049093">
            <a:off x="8078769" y="6218724"/>
            <a:ext cx="24988019" cy="10222371"/>
          </a:xfrm>
          <a:custGeom>
            <a:avLst/>
            <a:gdLst/>
            <a:ahLst/>
            <a:cxnLst/>
            <a:rect r="r" b="b" t="t" l="l"/>
            <a:pathLst>
              <a:path h="10222371" w="24988019">
                <a:moveTo>
                  <a:pt x="0" y="10222372"/>
                </a:moveTo>
                <a:lnTo>
                  <a:pt x="24988019" y="10222372"/>
                </a:lnTo>
                <a:lnTo>
                  <a:pt x="24988019" y="0"/>
                </a:lnTo>
                <a:lnTo>
                  <a:pt x="0" y="0"/>
                </a:lnTo>
                <a:lnTo>
                  <a:pt x="0" y="1022237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0" y="3590559"/>
            <a:ext cx="18288000" cy="2473133"/>
          </a:xfrm>
          <a:prstGeom prst="rect">
            <a:avLst/>
          </a:prstGeom>
        </p:spPr>
        <p:txBody>
          <a:bodyPr anchor="t" rtlCol="false" tIns="0" lIns="0" bIns="0" rIns="0">
            <a:spAutoFit/>
          </a:bodyPr>
          <a:lstStyle/>
          <a:p>
            <a:pPr algn="ctr">
              <a:lnSpc>
                <a:spcPts val="10093"/>
              </a:lnSpc>
            </a:pPr>
            <a:r>
              <a:rPr lang="en-US" b="true" sz="6388" spc="849">
                <a:solidFill>
                  <a:srgbClr val="004BFF"/>
                </a:solidFill>
                <a:latin typeface="Open Sans 1 Bold"/>
                <a:ea typeface="Open Sans 1 Bold"/>
                <a:cs typeface="Open Sans 1 Bold"/>
                <a:sym typeface="Open Sans 1 Bold"/>
              </a:rPr>
              <a:t>  XIN CHÂN THÀNH CẢM ƠN QUÝ  </a:t>
            </a:r>
          </a:p>
          <a:p>
            <a:pPr algn="ctr">
              <a:lnSpc>
                <a:spcPts val="10093"/>
              </a:lnSpc>
            </a:pPr>
            <a:r>
              <a:rPr lang="en-US" b="true" sz="6388" spc="849">
                <a:solidFill>
                  <a:srgbClr val="004BFF"/>
                </a:solidFill>
                <a:latin typeface="Open Sans 1 Bold"/>
                <a:ea typeface="Open Sans 1 Bold"/>
                <a:cs typeface="Open Sans 1 Bold"/>
                <a:sym typeface="Open Sans 1 Bold"/>
              </a:rPr>
              <a:t>THẦY CÔ VÀ CÁC BẠN </a:t>
            </a:r>
            <a:r>
              <a:rPr lang="en-US" b="true" sz="6388" spc="849">
                <a:solidFill>
                  <a:srgbClr val="004BFF"/>
                </a:solidFill>
                <a:latin typeface="Open Sans 1 Bold"/>
                <a:ea typeface="Open Sans 1 Bold"/>
                <a:cs typeface="Open Sans 1 Bold"/>
                <a:sym typeface="Open Sans 1 Bold"/>
              </a:rPr>
              <a:t>ĐÃ THEO DÕI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DAG9sgk4cdw</dc:identifier>
  <dcterms:modified xsi:type="dcterms:W3CDTF">2011-08-01T06:04:30Z</dcterms:modified>
  <cp:revision>1</cp:revision>
  <dc:title>BAOCAO_WEB_MNM</dc:title>
</cp:coreProperties>
</file>